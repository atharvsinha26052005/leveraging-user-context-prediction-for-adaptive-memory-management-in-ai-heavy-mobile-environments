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1463040"/>
            <a:ext cx="94183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3200" b="1">
                <a:solidFill>
                  <a:srgbClr val="222222"/>
                </a:solidFill>
                <a:latin typeface="Times New Roman"/>
              </a:defRPr>
            </a:pPr>
            <a:r>
              <a:t>Leveraging User Context Prediction for</a:t>
            </a:r>
            <a:br/>
            <a:r>
              <a:t>Adaptive Memory Management in</a:t>
            </a:r>
            <a:br/>
            <a:r>
              <a:t>AI-Heavy Mobile Environments</a:t>
            </a:r>
          </a:p>
        </p:txBody>
      </p:sp>
      <p:sp>
        <p:nvSpPr>
          <p:cNvPr id="3" name="Rectangle 2"/>
          <p:cNvSpPr/>
          <p:nvPr/>
        </p:nvSpPr>
        <p:spPr>
          <a:xfrm>
            <a:off x="2743200" y="2926080"/>
            <a:ext cx="6675120" cy="25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0" y="3200400"/>
            <a:ext cx="6675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1700">
                <a:solidFill>
                  <a:srgbClr val="222222"/>
                </a:solidFill>
                <a:latin typeface="Times New Roman"/>
              </a:defRPr>
            </a:pPr>
            <a:r>
              <a:t>Capstone Project — Project-I Review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0" y="3931920"/>
            <a:ext cx="66751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1500">
                <a:solidFill>
                  <a:srgbClr val="222222"/>
                </a:solidFill>
                <a:latin typeface="Times New Roman"/>
              </a:defRPr>
            </a:pPr>
            <a:r>
              <a:t>Presented By:</a:t>
            </a:r>
          </a:p>
          <a:p>
            <a:pPr algn="ctr">
              <a:spcAft>
                <a:spcPts val="400"/>
              </a:spcAft>
              <a:defRPr sz="1500">
                <a:solidFill>
                  <a:srgbClr val="222222"/>
                </a:solidFill>
                <a:latin typeface="Times New Roman"/>
              </a:defRPr>
            </a:pPr>
            <a:r>
              <a:t>[Student Name 1] — [Roll No.]</a:t>
            </a:r>
          </a:p>
          <a:p>
            <a:pPr algn="ctr">
              <a:spcAft>
                <a:spcPts val="400"/>
              </a:spcAft>
              <a:defRPr sz="1500">
                <a:solidFill>
                  <a:srgbClr val="222222"/>
                </a:solidFill>
                <a:latin typeface="Times New Roman"/>
              </a:defRPr>
            </a:pPr>
            <a:r>
              <a:t>[Student Name 2] — [Roll No.]</a:t>
            </a:r>
          </a:p>
          <a:p>
            <a:pPr algn="ctr">
              <a:spcAft>
                <a:spcPts val="400"/>
              </a:spcAft>
              <a:defRPr sz="1500">
                <a:solidFill>
                  <a:srgbClr val="222222"/>
                </a:solidFill>
                <a:latin typeface="Times New Roman"/>
              </a:defRPr>
            </a:pPr>
            <a:r>
              <a:t>[Student Name 3] — [Roll No.]</a:t>
            </a:r>
          </a:p>
          <a:p>
            <a:pPr algn="ctr">
              <a:spcAft>
                <a:spcPts val="400"/>
              </a:spcAft>
              <a:defRPr sz="1500">
                <a:solidFill>
                  <a:srgbClr val="222222"/>
                </a:solidFill>
                <a:latin typeface="Times New Roman"/>
              </a:defRPr>
            </a:pPr>
          </a:p>
          <a:p>
            <a:pPr algn="ctr">
              <a:spcAft>
                <a:spcPts val="400"/>
              </a:spcAft>
              <a:defRPr sz="1500">
                <a:solidFill>
                  <a:srgbClr val="222222"/>
                </a:solidFill>
                <a:latin typeface="Times New Roman"/>
              </a:defRPr>
            </a:pPr>
            <a:r>
              <a:t>Guide: [Prof. Name], [Department]</a:t>
            </a:r>
          </a:p>
          <a:p>
            <a:pPr algn="ctr">
              <a:spcAft>
                <a:spcPts val="400"/>
              </a:spcAft>
              <a:defRPr sz="1500">
                <a:solidFill>
                  <a:srgbClr val="222222"/>
                </a:solidFill>
                <a:latin typeface="Times New Roman"/>
              </a:defRPr>
            </a:pPr>
            <a:r>
              <a:t>[University Name], [City]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0" y="603504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1300" i="1">
                <a:solidFill>
                  <a:srgbClr val="AAAAAA"/>
                </a:solidFill>
                <a:latin typeface="Times New Roman"/>
              </a:defRPr>
            </a:pPr>
            <a:r>
              <a:t>August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38560" y="6400800"/>
            <a:ext cx="640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AAAAAA"/>
                </a:solidFill>
                <a:latin typeface="Times New Roman"/>
              </a:defRPr>
            </a:pPr>
            <a: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00000"/>
                </a:solidFill>
                <a:latin typeface="Times New Roman"/>
              </a:defRPr>
            </a:pPr>
            <a:r>
              <a:t>1. The Problem — Why Current Phones Struggle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914400"/>
            <a:ext cx="10972800" cy="1905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0972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500">
                <a:solidFill>
                  <a:srgbClr val="222222"/>
                </a:solidFill>
                <a:latin typeface="Times New Roman"/>
              </a:defRPr>
            </a:pPr>
            <a:r>
              <a:t>Modern phones have 4–8 GB RAM but run AI-heavy apps (camera AI, translation, LLMs) alongside regular apps.</a:t>
            </a:r>
          </a:p>
          <a:p>
            <a:pPr>
              <a:spcAft>
                <a:spcPts val="400"/>
              </a:spcAft>
              <a:defRPr sz="1500">
                <a:solidFill>
                  <a:srgbClr val="222222"/>
                </a:solidFill>
                <a:latin typeface="Times New Roman"/>
              </a:defRPr>
            </a:pPr>
            <a:r>
              <a:t>Current memory management is reactive — it only acts AFTER memory is already full, not BEFORE.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2011680"/>
            <a:ext cx="521208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2011680"/>
            <a:ext cx="5212080" cy="320040"/>
          </a:xfrm>
          <a:prstGeom prst="rect">
            <a:avLst/>
          </a:prstGeom>
          <a:solidFill>
            <a:srgbClr val="DDDDDD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1" y="2039112"/>
            <a:ext cx="5065776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00000"/>
                </a:solidFill>
                <a:latin typeface="Times New Roman"/>
              </a:defRPr>
            </a:pPr>
            <a:r>
              <a:t>How Android Does It Now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8" y="2377440"/>
            <a:ext cx="4992624" cy="1664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b="1" sz="1200">
                <a:solidFill>
                  <a:srgbClr val="222222"/>
                </a:solidFill>
                <a:latin typeface="Times New Roman"/>
              </a:rPr>
              <a:t>LRU (Least Recently Used): </a:t>
            </a:r>
            <a:r>
              <a:rPr sz="1200">
                <a:solidFill>
                  <a:srgbClr val="555555"/>
                </a:solidFill>
                <a:latin typeface="Times New Roman"/>
              </a:rPr>
              <a:t>removes whichever app you haven't touched the longest — even if you're about to use it in 2 minutes</a:t>
            </a:r>
          </a:p>
          <a:p>
            <a:pPr>
              <a:spcAft>
                <a:spcPts val="300"/>
              </a:spcAft>
            </a:pPr>
            <a:r>
              <a:rPr b="1" sz="1200">
                <a:solidFill>
                  <a:srgbClr val="222222"/>
                </a:solidFill>
                <a:latin typeface="Times New Roman"/>
              </a:rPr>
              <a:t>LMKD (Low Memory Killer): </a:t>
            </a:r>
            <a:r>
              <a:rPr sz="1200">
                <a:solidFill>
                  <a:srgbClr val="555555"/>
                </a:solidFill>
                <a:latin typeface="Times New Roman"/>
              </a:rPr>
              <a:t>kills apps only when RAM is critically low — by then it's already too late, you see the lag</a:t>
            </a:r>
          </a:p>
          <a:p>
            <a:pPr>
              <a:spcAft>
                <a:spcPts val="300"/>
              </a:spcAft>
            </a:pPr>
            <a:r>
              <a:rPr b="1" sz="1200">
                <a:solidFill>
                  <a:srgbClr val="222222"/>
                </a:solidFill>
                <a:latin typeface="Times New Roman"/>
              </a:rPr>
              <a:t>App Standby Buckets: </a:t>
            </a:r>
            <a:r>
              <a:rPr sz="1200">
                <a:solidFill>
                  <a:srgbClr val="555555"/>
                </a:solidFill>
                <a:latin typeface="Times New Roman"/>
              </a:rPr>
              <a:t>groups apps as active/rare but updates only once per hour — too slow to react</a:t>
            </a:r>
          </a:p>
        </p:txBody>
      </p:sp>
      <p:sp>
        <p:nvSpPr>
          <p:cNvPr id="9" name="Rectangle 8"/>
          <p:cNvSpPr/>
          <p:nvPr/>
        </p:nvSpPr>
        <p:spPr>
          <a:xfrm>
            <a:off x="6035040" y="2011680"/>
            <a:ext cx="557784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035040" y="2011680"/>
            <a:ext cx="5577840" cy="320040"/>
          </a:xfrm>
          <a:prstGeom prst="rect">
            <a:avLst/>
          </a:prstGeom>
          <a:solidFill>
            <a:srgbClr val="DDDDDD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108192" y="2039112"/>
            <a:ext cx="5431536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00000"/>
                </a:solidFill>
                <a:latin typeface="Times New Roman"/>
              </a:defRPr>
            </a:pPr>
            <a:r>
              <a:t>What Goes Wrong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44768" y="2377440"/>
            <a:ext cx="5358383" cy="1664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b="1" sz="1200">
                <a:solidFill>
                  <a:srgbClr val="222222"/>
                </a:solidFill>
                <a:latin typeface="Times New Roman"/>
              </a:rPr>
              <a:t>Cold Start: </a:t>
            </a:r>
            <a:r>
              <a:rPr sz="1200">
                <a:solidFill>
                  <a:srgbClr val="555555"/>
                </a:solidFill>
                <a:latin typeface="Times New Roman"/>
              </a:rPr>
              <a:t>app was removed → must reload from disk → 1–3 seconds of waiting</a:t>
            </a:r>
          </a:p>
          <a:p>
            <a:pPr>
              <a:spcAft>
                <a:spcPts val="300"/>
              </a:spcAft>
            </a:pPr>
            <a:r>
              <a:rPr b="1" sz="1200">
                <a:solidFill>
                  <a:srgbClr val="222222"/>
                </a:solidFill>
                <a:latin typeface="Times New Roman"/>
              </a:rPr>
              <a:t>AI App Cold Start: </a:t>
            </a:r>
            <a:r>
              <a:rPr sz="1200">
                <a:solidFill>
                  <a:srgbClr val="555555"/>
                </a:solidFill>
                <a:latin typeface="Times New Roman"/>
              </a:rPr>
              <a:t>even worse → 3–6 seconds because AI models are 300 MB – 4 GB each</a:t>
            </a:r>
          </a:p>
          <a:p>
            <a:pPr>
              <a:spcAft>
                <a:spcPts val="300"/>
              </a:spcAft>
            </a:pPr>
            <a:r>
              <a:rPr b="1" sz="1200">
                <a:solidFill>
                  <a:srgbClr val="222222"/>
                </a:solidFill>
                <a:latin typeface="Times New Roman"/>
              </a:rPr>
              <a:t>Memory Thrashing: </a:t>
            </a:r>
            <a:r>
              <a:rPr sz="1200">
                <a:solidFill>
                  <a:srgbClr val="555555"/>
                </a:solidFill>
                <a:latin typeface="Times New Roman"/>
              </a:rPr>
              <a:t>phone keeps removing and reloading the same apps in a loop</a:t>
            </a:r>
          </a:p>
          <a:p>
            <a:pPr>
              <a:spcAft>
                <a:spcPts val="300"/>
              </a:spcAft>
            </a:pPr>
            <a:r>
              <a:rPr b="1" sz="1200">
                <a:solidFill>
                  <a:srgbClr val="222222"/>
                </a:solidFill>
                <a:latin typeface="Times New Roman"/>
              </a:rPr>
              <a:t>Battery Drain: </a:t>
            </a:r>
            <a:r>
              <a:rPr sz="1200">
                <a:solidFill>
                  <a:srgbClr val="555555"/>
                </a:solidFill>
                <a:latin typeface="Times New Roman"/>
              </a:rPr>
              <a:t>8–15% extra battery wasted on redundant disk reads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4389120"/>
            <a:ext cx="1097280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40080" y="4389120"/>
            <a:ext cx="10972800" cy="320040"/>
          </a:xfrm>
          <a:prstGeom prst="rect">
            <a:avLst/>
          </a:prstGeom>
          <a:solidFill>
            <a:srgbClr val="DDDDDD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13231" y="4416552"/>
            <a:ext cx="10826496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00000"/>
                </a:solidFill>
                <a:latin typeface="Times New Roman"/>
              </a:defRPr>
            </a:pPr>
            <a:r>
              <a:t>The Opportunity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9808" y="4754880"/>
            <a:ext cx="10753344" cy="12070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300">
                <a:solidFill>
                  <a:srgbClr val="222222"/>
                </a:solidFill>
                <a:latin typeface="Times New Roman"/>
              </a:defRPr>
            </a:pPr>
            <a:r>
              <a:t>Users switch apps ~65 times/day. Each switch is a chance for the phone to make a wrong eviction decision.</a:t>
            </a:r>
          </a:p>
          <a:p>
            <a:pPr>
              <a:spcAft>
                <a:spcPts val="300"/>
              </a:spcAft>
              <a:defRPr sz="1300">
                <a:solidFill>
                  <a:srgbClr val="222222"/>
                </a:solidFill>
                <a:latin typeface="Times New Roman"/>
              </a:defRPr>
            </a:pPr>
            <a:r>
              <a:t>On-device AI market is $46.7B by 2027 — AI apps are getting bigger and more common, making this worse.</a:t>
            </a:r>
          </a:p>
          <a:p>
            <a:pPr>
              <a:spcAft>
                <a:spcPts val="300"/>
              </a:spcAft>
              <a:defRPr sz="1300">
                <a:solidFill>
                  <a:srgbClr val="222222"/>
                </a:solidFill>
                <a:latin typeface="Times New Roman"/>
              </a:defRPr>
            </a:pPr>
          </a:p>
          <a:p>
            <a:pPr>
              <a:spcAft>
                <a:spcPts val="300"/>
              </a:spcAft>
            </a:pPr>
            <a:r>
              <a:rPr b="1" sz="1300">
                <a:solidFill>
                  <a:srgbClr val="222222"/>
                </a:solidFill>
                <a:latin typeface="Times New Roman"/>
              </a:rPr>
              <a:t>Our Idea: </a:t>
            </a:r>
            <a:r>
              <a:rPr sz="1300">
                <a:solidFill>
                  <a:srgbClr val="555555"/>
                </a:solidFill>
                <a:latin typeface="Times New Roman"/>
              </a:rPr>
              <a:t>What if the phone could PREDICT which app you'll open next, and keep it ready in memory?</a:t>
            </a:r>
          </a:p>
          <a:p>
            <a:pPr>
              <a:spcAft>
                <a:spcPts val="300"/>
              </a:spcAft>
            </a:pPr>
            <a:r>
              <a:rPr b="1" sz="1300">
                <a:solidFill>
                  <a:srgbClr val="222222"/>
                </a:solidFill>
                <a:latin typeface="Times New Roman"/>
              </a:rPr>
              <a:t>How: </a:t>
            </a:r>
            <a:r>
              <a:rPr sz="1300">
                <a:solidFill>
                  <a:srgbClr val="555555"/>
                </a:solidFill>
                <a:latin typeface="Times New Roman"/>
              </a:rPr>
              <a:t>Use an ML model (XGBoost) that looks at time of day, which apps you used recently, battery, RAM — 19 signals total — and predicts the next app with 70–80% accuracy. Feed this prediction INTO the eviction scoring formula.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338560" y="6400800"/>
            <a:ext cx="640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AAAAAA"/>
                </a:solidFill>
                <a:latin typeface="Times New Roman"/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00000"/>
                </a:solidFill>
                <a:latin typeface="Times New Roman"/>
              </a:defRPr>
            </a:pPr>
            <a:r>
              <a:t>2. What Others Have Done — And What's Missing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914400"/>
            <a:ext cx="10972800" cy="1905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40080" y="1188720"/>
            <a:ext cx="5303520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188720"/>
            <a:ext cx="5303520" cy="320040"/>
          </a:xfrm>
          <a:prstGeom prst="rect">
            <a:avLst/>
          </a:prstGeom>
          <a:solidFill>
            <a:srgbClr val="DDDDDD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1" y="1216152"/>
            <a:ext cx="5157216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00000"/>
                </a:solidFill>
                <a:latin typeface="Times New Roman"/>
              </a:defRPr>
            </a:pPr>
            <a:r>
              <a:t>App Prediction Research (Papers 1–5)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8" y="1554480"/>
            <a:ext cx="5084064" cy="1938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b="1" sz="1100">
                <a:solidFill>
                  <a:srgbClr val="222222"/>
                </a:solidFill>
                <a:latin typeface="Times New Roman"/>
              </a:rPr>
              <a:t>Shin et al. (2012): </a:t>
            </a:r>
            <a:r>
              <a:rPr sz="1100">
                <a:solidFill>
                  <a:srgbClr val="555555"/>
                </a:solidFill>
                <a:latin typeface="Times New Roman"/>
              </a:rPr>
              <a:t>predicted next app using Naive Bayes — 72% accuracy, but never used it for memory management</a:t>
            </a:r>
          </a:p>
          <a:p>
            <a:pPr>
              <a:spcAft>
                <a:spcPts val="300"/>
              </a:spcAft>
            </a:pPr>
            <a:r>
              <a:rPr b="1" sz="1100">
                <a:solidFill>
                  <a:srgbClr val="222222"/>
                </a:solidFill>
                <a:latin typeface="Times New Roman"/>
              </a:rPr>
              <a:t>Xu et al. (2024): </a:t>
            </a:r>
            <a:r>
              <a:rPr sz="1100">
                <a:solidFill>
                  <a:srgbClr val="555555"/>
                </a:solidFill>
                <a:latin typeface="Times New Roman"/>
              </a:rPr>
              <a:t>Graph Neural Networks — 78% accuracy, but needs GPU → too heavy for real-time mobile use</a:t>
            </a:r>
          </a:p>
          <a:p>
            <a:pPr>
              <a:spcAft>
                <a:spcPts val="300"/>
              </a:spcAft>
            </a:pPr>
            <a:r>
              <a:rPr b="1" sz="1100">
                <a:solidFill>
                  <a:srgbClr val="222222"/>
                </a:solidFill>
                <a:latin typeface="Times New Roman"/>
              </a:rPr>
              <a:t>Zhao et al. (2023): </a:t>
            </a:r>
            <a:r>
              <a:rPr sz="1100">
                <a:solidFill>
                  <a:srgbClr val="555555"/>
                </a:solidFill>
                <a:latin typeface="Times New Roman"/>
              </a:rPr>
              <a:t>LSTM with context — 74%, but deep learning overhead makes it slow (~15ms per prediction)</a:t>
            </a:r>
          </a:p>
          <a:p>
            <a:pPr>
              <a:spcAft>
                <a:spcPts val="300"/>
              </a:spcAft>
            </a:pPr>
            <a:r>
              <a:rPr b="1" sz="1100">
                <a:solidFill>
                  <a:srgbClr val="222222"/>
                </a:solidFill>
                <a:latin typeface="Times New Roman"/>
              </a:rPr>
              <a:t>Pan et al. (2023): </a:t>
            </a:r>
            <a:r>
              <a:rPr sz="1100">
                <a:solidFill>
                  <a:srgbClr val="555555"/>
                </a:solidFill>
                <a:latin typeface="Times New Roman"/>
              </a:rPr>
              <a:t>multi-task learning — good accuracy but impossible to train on-device</a:t>
            </a:r>
          </a:p>
          <a:p>
            <a:pPr>
              <a:spcAft>
                <a:spcPts val="300"/>
              </a:spcAft>
              <a:defRPr sz="1100">
                <a:solidFill>
                  <a:srgbClr val="222222"/>
                </a:solidFill>
                <a:latin typeface="Times New Roman"/>
              </a:defRPr>
            </a:pPr>
          </a:p>
          <a:p>
            <a:pPr>
              <a:spcAft>
                <a:spcPts val="300"/>
              </a:spcAft>
            </a:pPr>
            <a:r>
              <a:rPr b="1" sz="1100">
                <a:solidFill>
                  <a:srgbClr val="222222"/>
                </a:solidFill>
                <a:latin typeface="Times New Roman"/>
              </a:rPr>
              <a:t>Gap: </a:t>
            </a:r>
            <a:r>
              <a:rPr sz="1100">
                <a:solidFill>
                  <a:srgbClr val="555555"/>
                </a:solidFill>
                <a:latin typeface="Times New Roman"/>
              </a:rPr>
              <a:t>Good prediction exists, but nobody connected it to memory management decisions</a:t>
            </a:r>
          </a:p>
        </p:txBody>
      </p:sp>
      <p:sp>
        <p:nvSpPr>
          <p:cNvPr id="8" name="Rectangle 7"/>
          <p:cNvSpPr/>
          <p:nvPr/>
        </p:nvSpPr>
        <p:spPr>
          <a:xfrm>
            <a:off x="6126480" y="1188720"/>
            <a:ext cx="5394960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126480" y="1188720"/>
            <a:ext cx="5394960" cy="320040"/>
          </a:xfrm>
          <a:prstGeom prst="rect">
            <a:avLst/>
          </a:prstGeom>
          <a:solidFill>
            <a:srgbClr val="DDDDDD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199632" y="1216152"/>
            <a:ext cx="5248656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00000"/>
                </a:solidFill>
                <a:latin typeface="Times New Roman"/>
              </a:defRPr>
            </a:pPr>
            <a:r>
              <a:t>Memory Management Research (Papers 6–10)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36208" y="1554480"/>
            <a:ext cx="5175504" cy="1938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b="1" sz="1100">
                <a:solidFill>
                  <a:srgbClr val="222222"/>
                </a:solidFill>
                <a:latin typeface="Times New Roman"/>
              </a:rPr>
              <a:t>Android LMKD (2024): </a:t>
            </a:r>
            <a:r>
              <a:rPr sz="1100">
                <a:solidFill>
                  <a:srgbClr val="555555"/>
                </a:solidFill>
                <a:latin typeface="Times New Roman"/>
              </a:rPr>
              <a:t>PSI + priority scores — reactive only, no prediction at all</a:t>
            </a:r>
          </a:p>
          <a:p>
            <a:pPr>
              <a:spcAft>
                <a:spcPts val="300"/>
              </a:spcAft>
            </a:pPr>
            <a:r>
              <a:rPr b="1" sz="1100">
                <a:solidFill>
                  <a:srgbClr val="222222"/>
                </a:solidFill>
                <a:latin typeface="Times New Roman"/>
              </a:rPr>
              <a:t>Samsung SWAM (2023): </a:t>
            </a:r>
            <a:r>
              <a:rPr sz="1100">
                <a:solidFill>
                  <a:srgbClr val="555555"/>
                </a:solidFill>
                <a:latin typeface="Times New Roman"/>
              </a:rPr>
              <a:t>improved OOM killer — but uses static costs, no ML</a:t>
            </a:r>
          </a:p>
          <a:p>
            <a:pPr>
              <a:spcAft>
                <a:spcPts val="300"/>
              </a:spcAft>
            </a:pPr>
            <a:r>
              <a:rPr b="1" sz="1100">
                <a:solidFill>
                  <a:srgbClr val="222222"/>
                </a:solidFill>
                <a:latin typeface="Times New Roman"/>
              </a:rPr>
              <a:t>Chen et al. (2024): </a:t>
            </a:r>
            <a:r>
              <a:rPr sz="1100">
                <a:solidFill>
                  <a:srgbClr val="555555"/>
                </a:solidFill>
                <a:latin typeface="Times New Roman"/>
              </a:rPr>
              <a:t>frequency-based caching — 22% fewer cold starts, but ignores context</a:t>
            </a:r>
          </a:p>
          <a:p>
            <a:pPr>
              <a:spcAft>
                <a:spcPts val="300"/>
              </a:spcAft>
            </a:pPr>
            <a:r>
              <a:rPr b="1" sz="1100">
                <a:solidFill>
                  <a:srgbClr val="222222"/>
                </a:solidFill>
                <a:latin typeface="Times New Roman"/>
              </a:rPr>
              <a:t>Park et al. (2023): </a:t>
            </a:r>
            <a:r>
              <a:rPr sz="1100">
                <a:solidFill>
                  <a:srgbClr val="555555"/>
                </a:solidFill>
                <a:latin typeface="Times New Roman"/>
              </a:rPr>
              <a:t>RL-based approach — needs online interaction, fragile in practice</a:t>
            </a:r>
          </a:p>
          <a:p>
            <a:pPr>
              <a:spcAft>
                <a:spcPts val="300"/>
              </a:spcAft>
              <a:defRPr sz="1100">
                <a:solidFill>
                  <a:srgbClr val="222222"/>
                </a:solidFill>
                <a:latin typeface="Times New Roman"/>
              </a:defRPr>
            </a:pPr>
          </a:p>
          <a:p>
            <a:pPr>
              <a:spcAft>
                <a:spcPts val="300"/>
              </a:spcAft>
            </a:pPr>
            <a:r>
              <a:rPr b="1" sz="1100">
                <a:solidFill>
                  <a:srgbClr val="222222"/>
                </a:solidFill>
                <a:latin typeface="Times New Roman"/>
              </a:rPr>
              <a:t>Gap: </a:t>
            </a:r>
            <a:r>
              <a:rPr sz="1100">
                <a:solidFill>
                  <a:srgbClr val="555555"/>
                </a:solidFill>
                <a:latin typeface="Times New Roman"/>
              </a:rPr>
              <a:t>Memory research is stuck on reactive or simple frequency-based approaches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3840480"/>
            <a:ext cx="530352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40080" y="3840480"/>
            <a:ext cx="5303520" cy="320040"/>
          </a:xfrm>
          <a:prstGeom prst="rect">
            <a:avLst/>
          </a:prstGeom>
          <a:solidFill>
            <a:srgbClr val="DDDDDD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13231" y="3867912"/>
            <a:ext cx="5157216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00000"/>
                </a:solidFill>
                <a:latin typeface="Times New Roman"/>
              </a:defRPr>
            </a:pPr>
            <a:r>
              <a:t>ML for Systems (Papers 11–14)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9808" y="4206240"/>
            <a:ext cx="5084064" cy="18470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b="1" sz="1100">
                <a:solidFill>
                  <a:srgbClr val="222222"/>
                </a:solidFill>
                <a:latin typeface="Times New Roman"/>
              </a:rPr>
              <a:t>XGBoost (2016): </a:t>
            </a:r>
            <a:r>
              <a:rPr sz="1100">
                <a:solidFill>
                  <a:srgbClr val="555555"/>
                </a:solidFill>
                <a:latin typeface="Times New Roman"/>
              </a:rPr>
              <a:t>fast, interpretable, no GPU — our chosen model framework</a:t>
            </a:r>
          </a:p>
          <a:p>
            <a:pPr>
              <a:spcAft>
                <a:spcPts val="300"/>
              </a:spcAft>
            </a:pPr>
            <a:r>
              <a:rPr b="1" sz="1100">
                <a:solidFill>
                  <a:srgbClr val="222222"/>
                </a:solidFill>
                <a:latin typeface="Times New Roman"/>
              </a:rPr>
              <a:t>Ipek et al. (2008): </a:t>
            </a:r>
            <a:r>
              <a:rPr sz="1100">
                <a:solidFill>
                  <a:srgbClr val="555555"/>
                </a:solidFill>
                <a:latin typeface="Times New Roman"/>
              </a:rPr>
              <a:t>RL for DRAM scheduling — hardware-level, not app-level</a:t>
            </a:r>
          </a:p>
          <a:p>
            <a:pPr>
              <a:spcAft>
                <a:spcPts val="300"/>
              </a:spcAft>
            </a:pPr>
            <a:r>
              <a:rPr b="1" sz="1100">
                <a:solidFill>
                  <a:srgbClr val="222222"/>
                </a:solidFill>
                <a:latin typeface="Times New Roman"/>
              </a:rPr>
              <a:t>Hashemi et al. (2018): </a:t>
            </a:r>
            <a:r>
              <a:rPr sz="1100">
                <a:solidFill>
                  <a:srgbClr val="555555"/>
                </a:solidFill>
                <a:latin typeface="Times New Roman"/>
              </a:rPr>
              <a:t>LSTM for CPU cache prefetching — hardware L1/L2 only</a:t>
            </a:r>
          </a:p>
          <a:p>
            <a:pPr>
              <a:spcAft>
                <a:spcPts val="300"/>
              </a:spcAft>
              <a:defRPr sz="1100">
                <a:solidFill>
                  <a:srgbClr val="222222"/>
                </a:solidFill>
                <a:latin typeface="Times New Roman"/>
              </a:defRPr>
            </a:pPr>
          </a:p>
          <a:p>
            <a:pPr>
              <a:spcAft>
                <a:spcPts val="300"/>
              </a:spcAft>
            </a:pPr>
            <a:r>
              <a:rPr b="1" sz="1100">
                <a:solidFill>
                  <a:srgbClr val="222222"/>
                </a:solidFill>
                <a:latin typeface="Times New Roman"/>
              </a:rPr>
              <a:t>Gap: </a:t>
            </a:r>
            <a:r>
              <a:rPr sz="1100">
                <a:solidFill>
                  <a:srgbClr val="555555"/>
                </a:solidFill>
                <a:latin typeface="Times New Roman"/>
              </a:rPr>
              <a:t>ML is used for hardware caches but NOT for app-level process cache in mobile OS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126480" y="3840480"/>
            <a:ext cx="539496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126480" y="3840480"/>
            <a:ext cx="5394960" cy="320040"/>
          </a:xfrm>
          <a:prstGeom prst="rect">
            <a:avLst/>
          </a:prstGeom>
          <a:solidFill>
            <a:srgbClr val="DDDDDD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199632" y="3867912"/>
            <a:ext cx="5248656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00000"/>
                </a:solidFill>
                <a:latin typeface="Times New Roman"/>
              </a:defRPr>
            </a:pPr>
            <a:r>
              <a:t>On-Device AI (Papers 15–18)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36208" y="4206240"/>
            <a:ext cx="5175504" cy="18470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b="1" sz="1100">
                <a:solidFill>
                  <a:srgbClr val="222222"/>
                </a:solidFill>
                <a:latin typeface="Times New Roman"/>
              </a:rPr>
              <a:t>MCUNet (2020): </a:t>
            </a:r>
            <a:r>
              <a:rPr sz="1100">
                <a:solidFill>
                  <a:srgbClr val="555555"/>
                </a:solidFill>
                <a:latin typeface="Times New Roman"/>
              </a:rPr>
              <a:t>tiny ML for IoT — focuses on model architecture, not OS memory</a:t>
            </a:r>
          </a:p>
          <a:p>
            <a:pPr>
              <a:spcAft>
                <a:spcPts val="300"/>
              </a:spcAft>
            </a:pPr>
            <a:r>
              <a:rPr b="1" sz="1100">
                <a:solidFill>
                  <a:srgbClr val="222222"/>
                </a:solidFill>
                <a:latin typeface="Times New Roman"/>
              </a:rPr>
              <a:t>He et al. (2025): </a:t>
            </a:r>
            <a:r>
              <a:rPr sz="1100">
                <a:solidFill>
                  <a:srgbClr val="555555"/>
                </a:solidFill>
                <a:latin typeface="Times New Roman"/>
              </a:rPr>
              <a:t>LLM memory optimization — single model only, not multi-app</a:t>
            </a:r>
          </a:p>
          <a:p>
            <a:pPr>
              <a:spcAft>
                <a:spcPts val="300"/>
              </a:spcAft>
            </a:pPr>
            <a:r>
              <a:rPr b="1" sz="1100">
                <a:solidFill>
                  <a:srgbClr val="222222"/>
                </a:solidFill>
                <a:latin typeface="Times New Roman"/>
              </a:rPr>
              <a:t>Dhakal et al. (2025): </a:t>
            </a:r>
            <a:r>
              <a:rPr sz="1100">
                <a:solidFill>
                  <a:srgbClr val="555555"/>
                </a:solidFill>
                <a:latin typeface="Times New Roman"/>
              </a:rPr>
              <a:t>elastic LLM serving — complementary but single workload</a:t>
            </a:r>
          </a:p>
          <a:p>
            <a:pPr>
              <a:spcAft>
                <a:spcPts val="300"/>
              </a:spcAft>
              <a:defRPr sz="1100">
                <a:solidFill>
                  <a:srgbClr val="222222"/>
                </a:solidFill>
                <a:latin typeface="Times New Roman"/>
              </a:defRPr>
            </a:pPr>
          </a:p>
          <a:p>
            <a:pPr>
              <a:spcAft>
                <a:spcPts val="300"/>
              </a:spcAft>
            </a:pPr>
            <a:r>
              <a:rPr b="1" sz="1100">
                <a:solidFill>
                  <a:srgbClr val="222222"/>
                </a:solidFill>
                <a:latin typeface="Times New Roman"/>
              </a:rPr>
              <a:t>THE GAP: </a:t>
            </a:r>
            <a:r>
              <a:rPr sz="1100">
                <a:solidFill>
                  <a:srgbClr val="555555"/>
                </a:solidFill>
                <a:latin typeface="Times New Roman"/>
              </a:rPr>
              <a:t>Nobody combines ML prediction confidence as a factor in cache eviction + preload gating + thrashing detection — all together for AI-heavy mobile environments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338560" y="6400800"/>
            <a:ext cx="640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AAAAAA"/>
                </a:solidFill>
                <a:latin typeface="Times New Roman"/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00000"/>
                </a:solidFill>
                <a:latin typeface="Times New Roman"/>
              </a:defRPr>
            </a:pPr>
            <a:r>
              <a:t>3. Our Approach — Predict, Decide, Act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914400"/>
            <a:ext cx="10972800" cy="1905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0972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500">
                <a:solidFill>
                  <a:srgbClr val="222222"/>
                </a:solidFill>
                <a:latin typeface="Times New Roman"/>
              </a:defRPr>
            </a:pPr>
            <a:r>
              <a:t>Every time the user switches apps, our system runs a 5-stage pipeline in under 5 milliseconds:</a:t>
            </a:r>
          </a:p>
        </p:txBody>
      </p:sp>
      <p:pic>
        <p:nvPicPr>
          <p:cNvPr id="5" name="Picture 4" descr="pipeline_diagram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0"/>
            <a:ext cx="10972800" cy="6124353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1338560" y="6400800"/>
            <a:ext cx="640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AAAAAA"/>
                </a:solidFill>
                <a:latin typeface="Times New Roman"/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00000"/>
                </a:solidFill>
                <a:latin typeface="Times New Roman"/>
              </a:defRPr>
            </a:pPr>
            <a:r>
              <a:t>4. How We Decide What to Keep — The Scoring Formula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914400"/>
            <a:ext cx="10972800" cy="1905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0972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500">
                <a:solidFill>
                  <a:srgbClr val="222222"/>
                </a:solidFill>
                <a:latin typeface="Times New Roman"/>
              </a:defRPr>
            </a:pPr>
            <a:r>
              <a:t>Every cached app gets a "keep score". Higher score = keep in memory. Lowest score = evict first.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645920"/>
            <a:ext cx="10972800" cy="594360"/>
          </a:xfrm>
          <a:prstGeom prst="rect">
            <a:avLst/>
          </a:prstGeom>
          <a:solidFill>
            <a:srgbClr val="F5F5F5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69164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500">
                <a:solidFill>
                  <a:srgbClr val="222222"/>
                </a:solidFill>
                <a:latin typeface="Times New Roman"/>
              </a:defRPr>
            </a:pPr>
            <a:r>
              <a:t>S(a, t) = 0.25 × Recency  +  0.20 × Frequency  +  0.25 × Prediction  +  0.15 × Importance  +  0.15 × Context  −  0.30 × MemoryPressure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2468880"/>
            <a:ext cx="5486400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2468880"/>
            <a:ext cx="5486400" cy="320040"/>
          </a:xfrm>
          <a:prstGeom prst="rect">
            <a:avLst/>
          </a:prstGeom>
          <a:solidFill>
            <a:srgbClr val="DDDDDD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13231" y="2496312"/>
            <a:ext cx="5340096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00000"/>
                </a:solidFill>
                <a:latin typeface="Times New Roman"/>
              </a:defRPr>
            </a:pPr>
            <a:r>
              <a:t>What Each Factor Means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2834640"/>
            <a:ext cx="5266944" cy="23042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b="1" sz="1100">
                <a:solidFill>
                  <a:srgbClr val="222222"/>
                </a:solidFill>
                <a:latin typeface="Times New Roman"/>
              </a:rPr>
              <a:t>Recency (R) — weight 0.25</a:t>
            </a:r>
            <a:r>
              <a:rPr sz="1100">
                <a:solidFill>
                  <a:srgbClr val="555555"/>
                </a:solidFill>
                <a:latin typeface="Times New Roman"/>
              </a:rPr>
              <a:t/>
            </a:r>
          </a:p>
          <a:p>
            <a:pPr>
              <a:spcAft>
                <a:spcPts val="300"/>
              </a:spcAft>
            </a:pPr>
            <a:r>
              <a:rPr b="1" sz="1100">
                <a:solidFill>
                  <a:srgbClr val="222222"/>
                </a:solidFill>
                <a:latin typeface="Times New Roman"/>
              </a:rPr>
              <a:t>  </a:t>
            </a:r>
            <a:r>
              <a:rPr sz="1100">
                <a:solidFill>
                  <a:srgbClr val="555555"/>
                </a:solidFill>
                <a:latin typeface="Times New Roman"/>
              </a:rPr>
              <a:t>Did you use this app recently? Uses exponential decay: more recent = higher score</a:t>
            </a:r>
          </a:p>
          <a:p>
            <a:pPr>
              <a:spcAft>
                <a:spcPts val="300"/>
              </a:spcAft>
            </a:pPr>
            <a:r>
              <a:rPr b="1" sz="1100">
                <a:solidFill>
                  <a:srgbClr val="222222"/>
                </a:solidFill>
                <a:latin typeface="Times New Roman"/>
              </a:rPr>
              <a:t>Frequency (F) — weight 0.20</a:t>
            </a:r>
            <a:r>
              <a:rPr sz="1100">
                <a:solidFill>
                  <a:srgbClr val="555555"/>
                </a:solidFill>
                <a:latin typeface="Times New Roman"/>
              </a:rPr>
              <a:t/>
            </a:r>
          </a:p>
          <a:p>
            <a:pPr>
              <a:spcAft>
                <a:spcPts val="300"/>
              </a:spcAft>
            </a:pPr>
            <a:r>
              <a:rPr b="1" sz="1100">
                <a:solidFill>
                  <a:srgbClr val="222222"/>
                </a:solidFill>
                <a:latin typeface="Times New Roman"/>
              </a:rPr>
              <a:t>  </a:t>
            </a:r>
            <a:r>
              <a:rPr sz="1100">
                <a:solidFill>
                  <a:srgbClr val="555555"/>
                </a:solidFill>
                <a:latin typeface="Times New Roman"/>
              </a:rPr>
              <a:t>How often do you use this app? Normalized count vs. most-used app</a:t>
            </a:r>
          </a:p>
          <a:p>
            <a:pPr>
              <a:spcAft>
                <a:spcPts val="300"/>
              </a:spcAft>
            </a:pPr>
            <a:r>
              <a:rPr b="1" sz="1100">
                <a:solidFill>
                  <a:srgbClr val="222222"/>
                </a:solidFill>
                <a:latin typeface="Times New Roman"/>
              </a:rPr>
              <a:t>Prediction (P) — weight 0.25  ← OUR KEY INNOVATION</a:t>
            </a:r>
            <a:r>
              <a:rPr sz="1100">
                <a:solidFill>
                  <a:srgbClr val="555555"/>
                </a:solidFill>
                <a:latin typeface="Times New Roman"/>
              </a:rPr>
              <a:t/>
            </a:r>
          </a:p>
          <a:p>
            <a:pPr>
              <a:spcAft>
                <a:spcPts val="300"/>
              </a:spcAft>
            </a:pPr>
            <a:r>
              <a:rPr b="1" sz="1100">
                <a:solidFill>
                  <a:srgbClr val="222222"/>
                </a:solidFill>
                <a:latin typeface="Times New Roman"/>
              </a:rPr>
              <a:t>  </a:t>
            </a:r>
            <a:r>
              <a:rPr sz="1100">
                <a:solidFill>
                  <a:srgbClr val="555555"/>
                </a:solidFill>
                <a:latin typeface="Times New Roman"/>
              </a:rPr>
              <a:t>Does the ML model think you'll use this next? This makes eviction FORWARD-LOOKING, not just backward-looking</a:t>
            </a:r>
          </a:p>
          <a:p>
            <a:pPr>
              <a:spcAft>
                <a:spcPts val="300"/>
              </a:spcAft>
            </a:pPr>
            <a:r>
              <a:rPr b="1" sz="1100">
                <a:solidFill>
                  <a:srgbClr val="222222"/>
                </a:solidFill>
                <a:latin typeface="Times New Roman"/>
              </a:rPr>
              <a:t>Importance (I) — weight 0.15</a:t>
            </a:r>
            <a:r>
              <a:rPr sz="1100">
                <a:solidFill>
                  <a:srgbClr val="555555"/>
                </a:solidFill>
                <a:latin typeface="Times New Roman"/>
              </a:rPr>
              <a:t/>
            </a:r>
          </a:p>
          <a:p>
            <a:pPr>
              <a:spcAft>
                <a:spcPts val="300"/>
              </a:spcAft>
            </a:pPr>
            <a:r>
              <a:rPr b="1" sz="1100">
                <a:solidFill>
                  <a:srgbClr val="222222"/>
                </a:solidFill>
                <a:latin typeface="Times New Roman"/>
              </a:rPr>
              <a:t>  </a:t>
            </a:r>
            <a:r>
              <a:rPr sz="1100">
                <a:solidFill>
                  <a:srgbClr val="555555"/>
                </a:solidFill>
                <a:latin typeface="Times New Roman"/>
              </a:rPr>
              <a:t>Category-based: WhatsApp/calls = 0.9, games = 0.3, camera AI = 0.85</a:t>
            </a:r>
          </a:p>
          <a:p>
            <a:pPr>
              <a:spcAft>
                <a:spcPts val="300"/>
              </a:spcAft>
            </a:pPr>
            <a:r>
              <a:rPr b="1" sz="1100">
                <a:solidFill>
                  <a:srgbClr val="222222"/>
                </a:solidFill>
                <a:latin typeface="Times New Roman"/>
              </a:rPr>
              <a:t>Context (C) — weight 0.15</a:t>
            </a:r>
            <a:r>
              <a:rPr sz="1100">
                <a:solidFill>
                  <a:srgbClr val="555555"/>
                </a:solidFill>
                <a:latin typeface="Times New Roman"/>
              </a:rPr>
              <a:t/>
            </a:r>
          </a:p>
          <a:p>
            <a:pPr>
              <a:spcAft>
                <a:spcPts val="300"/>
              </a:spcAft>
            </a:pPr>
            <a:r>
              <a:rPr b="1" sz="1100">
                <a:solidFill>
                  <a:srgbClr val="222222"/>
                </a:solidFill>
                <a:latin typeface="Times New Roman"/>
              </a:rPr>
              <a:t>  </a:t>
            </a:r>
            <a:r>
              <a:rPr sz="1100">
                <a:solidFill>
                  <a:srgbClr val="555555"/>
                </a:solidFill>
                <a:latin typeface="Times New Roman"/>
              </a:rPr>
              <a:t>Does this app fit the current situation? Maps during commute hours = high</a:t>
            </a:r>
          </a:p>
          <a:p>
            <a:pPr>
              <a:spcAft>
                <a:spcPts val="300"/>
              </a:spcAft>
            </a:pPr>
            <a:r>
              <a:rPr b="1" sz="1100">
                <a:solidFill>
                  <a:srgbClr val="222222"/>
                </a:solidFill>
                <a:latin typeface="Times New Roman"/>
              </a:rPr>
              <a:t>Memory Pressure (M) — penalty 0.30</a:t>
            </a:r>
            <a:r>
              <a:rPr sz="1100">
                <a:solidFill>
                  <a:srgbClr val="555555"/>
                </a:solidFill>
                <a:latin typeface="Times New Roman"/>
              </a:rPr>
              <a:t/>
            </a:r>
          </a:p>
          <a:p>
            <a:pPr>
              <a:spcAft>
                <a:spcPts val="300"/>
              </a:spcAft>
            </a:pPr>
            <a:r>
              <a:rPr b="1" sz="1100">
                <a:solidFill>
                  <a:srgbClr val="222222"/>
                </a:solidFill>
                <a:latin typeface="Times New Roman"/>
              </a:rPr>
              <a:t>  </a:t>
            </a:r>
            <a:r>
              <a:rPr sz="1100">
                <a:solidFill>
                  <a:srgbClr val="555555"/>
                </a:solidFill>
                <a:latin typeface="Times New Roman"/>
              </a:rPr>
              <a:t>When RAM is &gt;70% full, this penalty increases — forces more aggressive eviction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09360" y="2468880"/>
            <a:ext cx="530352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309360" y="2468880"/>
            <a:ext cx="5303520" cy="320040"/>
          </a:xfrm>
          <a:prstGeom prst="rect">
            <a:avLst/>
          </a:prstGeom>
          <a:solidFill>
            <a:srgbClr val="DDDDDD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82512" y="2496312"/>
            <a:ext cx="5157216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00000"/>
                </a:solidFill>
                <a:latin typeface="Times New Roman"/>
              </a:defRPr>
            </a:pPr>
            <a:r>
              <a:t>5-Gate Preload Safety Check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19088" y="2834640"/>
            <a:ext cx="5084064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200">
                <a:solidFill>
                  <a:srgbClr val="222222"/>
                </a:solidFill>
                <a:latin typeface="Times New Roman"/>
              </a:defRPr>
            </a:pPr>
            <a:r>
              <a:t>ALL 5 must be true before pre-loading a predicted app:</a:t>
            </a:r>
          </a:p>
          <a:p>
            <a:pPr>
              <a:spcAft>
                <a:spcPts val="300"/>
              </a:spcAft>
            </a:pPr>
            <a:r>
              <a:rPr b="1" sz="1200">
                <a:solidFill>
                  <a:srgbClr val="222222"/>
                </a:solidFill>
                <a:latin typeface="Times New Roman"/>
              </a:rPr>
              <a:t>  1. </a:t>
            </a:r>
            <a:r>
              <a:rPr sz="1200">
                <a:solidFill>
                  <a:srgbClr val="555555"/>
                </a:solidFill>
                <a:latin typeface="Times New Roman"/>
              </a:rPr>
              <a:t>ML confidence &gt; 60% (we're fairly sure)</a:t>
            </a:r>
          </a:p>
          <a:p>
            <a:pPr>
              <a:spcAft>
                <a:spcPts val="300"/>
              </a:spcAft>
            </a:pPr>
            <a:r>
              <a:rPr b="1" sz="1200">
                <a:solidFill>
                  <a:srgbClr val="222222"/>
                </a:solidFill>
                <a:latin typeface="Times New Roman"/>
              </a:rPr>
              <a:t>  2. </a:t>
            </a:r>
            <a:r>
              <a:rPr sz="1200">
                <a:solidFill>
                  <a:srgbClr val="555555"/>
                </a:solidFill>
                <a:latin typeface="Times New Roman"/>
              </a:rPr>
              <a:t>Enough free RAM (with 500 MB safety headroom)</a:t>
            </a:r>
          </a:p>
          <a:p>
            <a:pPr>
              <a:spcAft>
                <a:spcPts val="300"/>
              </a:spcAft>
            </a:pPr>
            <a:r>
              <a:rPr b="1" sz="1200">
                <a:solidFill>
                  <a:srgbClr val="222222"/>
                </a:solidFill>
                <a:latin typeface="Times New Roman"/>
              </a:rPr>
              <a:t>  3. </a:t>
            </a:r>
            <a:r>
              <a:rPr sz="1200">
                <a:solidFill>
                  <a:srgbClr val="555555"/>
                </a:solidFill>
                <a:latin typeface="Times New Roman"/>
              </a:rPr>
              <a:t>Battery &gt; 20% (don't waste power when low)</a:t>
            </a:r>
          </a:p>
          <a:p>
            <a:pPr>
              <a:spcAft>
                <a:spcPts val="300"/>
              </a:spcAft>
            </a:pPr>
            <a:r>
              <a:rPr b="1" sz="1200">
                <a:solidFill>
                  <a:srgbClr val="222222"/>
                </a:solidFill>
                <a:latin typeface="Times New Roman"/>
              </a:rPr>
              <a:t>  4. </a:t>
            </a:r>
            <a:r>
              <a:rPr sz="1200">
                <a:solidFill>
                  <a:srgbClr val="555555"/>
                </a:solidFill>
                <a:latin typeface="Times New Roman"/>
              </a:rPr>
              <a:t>Thrashing score &lt; 0.7 (system is stable)</a:t>
            </a:r>
          </a:p>
          <a:p>
            <a:pPr>
              <a:spcAft>
                <a:spcPts val="300"/>
              </a:spcAft>
            </a:pPr>
            <a:r>
              <a:rPr b="1" sz="1200">
                <a:solidFill>
                  <a:srgbClr val="222222"/>
                </a:solidFill>
                <a:latin typeface="Times New Roman"/>
              </a:rPr>
              <a:t>  5. </a:t>
            </a:r>
            <a:r>
              <a:rPr sz="1200">
                <a:solidFill>
                  <a:srgbClr val="555555"/>
                </a:solidFill>
                <a:latin typeface="Times New Roman"/>
              </a:rPr>
              <a:t>App not already in memory (no point reloading)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09360" y="3840480"/>
            <a:ext cx="530352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09360" y="3840480"/>
            <a:ext cx="5303520" cy="320040"/>
          </a:xfrm>
          <a:prstGeom prst="rect">
            <a:avLst/>
          </a:prstGeom>
          <a:solidFill>
            <a:srgbClr val="DDDDDD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82512" y="3867912"/>
            <a:ext cx="5157216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00000"/>
                </a:solidFill>
                <a:latin typeface="Times New Roman"/>
              </a:defRPr>
            </a:pPr>
            <a:r>
              <a:t>Thrashing Detection &amp; Safe Mode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19088" y="4206240"/>
            <a:ext cx="5084064" cy="9326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200">
                <a:solidFill>
                  <a:srgbClr val="222222"/>
                </a:solidFill>
                <a:latin typeface="Times New Roman"/>
              </a:defRPr>
            </a:pPr>
            <a:r>
              <a:t>The system watches for a BAD pattern: removing an app and immediately needing it back.</a:t>
            </a:r>
          </a:p>
          <a:p>
            <a:pPr>
              <a:spcAft>
                <a:spcPts val="300"/>
              </a:spcAft>
            </a:pPr>
            <a:r>
              <a:rPr b="1" sz="1200">
                <a:solidFill>
                  <a:srgbClr val="222222"/>
                </a:solidFill>
                <a:latin typeface="Times New Roman"/>
              </a:rPr>
              <a:t>How: </a:t>
            </a:r>
            <a:r>
              <a:rPr sz="1200">
                <a:solidFill>
                  <a:srgbClr val="555555"/>
                </a:solidFill>
                <a:latin typeface="Times New Roman"/>
              </a:rPr>
              <a:t>monitors evictions and reloads in a sliding 120-second window</a:t>
            </a:r>
          </a:p>
          <a:p>
            <a:pPr>
              <a:spcAft>
                <a:spcPts val="300"/>
              </a:spcAft>
            </a:pPr>
            <a:r>
              <a:rPr b="1" sz="1200">
                <a:solidFill>
                  <a:srgbClr val="222222"/>
                </a:solidFill>
                <a:latin typeface="Times New Roman"/>
              </a:rPr>
              <a:t>Score &gt; 0.7: </a:t>
            </a:r>
            <a:r>
              <a:rPr sz="1200">
                <a:solidFill>
                  <a:srgbClr val="555555"/>
                </a:solidFill>
                <a:latin typeface="Times New Roman"/>
              </a:rPr>
              <a:t>enters Safe Mode → stops preloading, tightens eviction thresholds</a:t>
            </a:r>
          </a:p>
          <a:p>
            <a:pPr>
              <a:spcAft>
                <a:spcPts val="300"/>
              </a:spcAft>
            </a:pPr>
            <a:r>
              <a:rPr b="1" sz="1200">
                <a:solidFill>
                  <a:srgbClr val="222222"/>
                </a:solidFill>
                <a:latin typeface="Times New Roman"/>
              </a:rPr>
              <a:t>Score &lt; 0.3 for 60s: </a:t>
            </a:r>
            <a:r>
              <a:rPr sz="1200">
                <a:solidFill>
                  <a:srgbClr val="555555"/>
                </a:solidFill>
                <a:latin typeface="Times New Roman"/>
              </a:rPr>
              <a:t>exits Safe Mode → back to normal operation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338560" y="6400800"/>
            <a:ext cx="640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AAAAAA"/>
                </a:solidFill>
                <a:latin typeface="Times New Roman"/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00000"/>
                </a:solidFill>
                <a:latin typeface="Times New Roman"/>
              </a:defRPr>
            </a:pPr>
            <a:r>
              <a:t>5. Why We Chose XGBoost (Not Deep Learning)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914400"/>
            <a:ext cx="10972800" cy="1905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80" y="1188720"/>
          <a:ext cx="10972800" cy="20848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  <a:gridCol w="2743200"/>
              </a:tblGrid>
              <a:tr h="347472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000000"/>
                          </a:solidFill>
                          <a:latin typeface="Times New Roman"/>
                        </a:defRPr>
                      </a:pPr>
                    </a:p>
                  </a:txBody>
                  <a:tcP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000000"/>
                          </a:solidFill>
                          <a:latin typeface="Times New Roman"/>
                        </a:defRPr>
                      </a:pPr>
                      <a:r>
                        <a:t>Markov Chain (Baseline)</a:t>
                      </a:r>
                    </a:p>
                  </a:txBody>
                  <a:tcP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000000"/>
                          </a:solidFill>
                          <a:latin typeface="Times New Roman"/>
                        </a:defRPr>
                      </a:pPr>
                      <a:r>
                        <a:t>XGBoost (Our Choice)</a:t>
                      </a:r>
                    </a:p>
                  </a:txBody>
                  <a:tcP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000000"/>
                          </a:solidFill>
                          <a:latin typeface="Times New Roman"/>
                        </a:defRPr>
                      </a:pPr>
                      <a:r>
                        <a:t>LSTM (Rejected)</a:t>
                      </a:r>
                    </a:p>
                  </a:txBody>
                  <a:tcPr>
                    <a:solidFill>
                      <a:srgbClr val="DDDDDD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22222"/>
                          </a:solidFill>
                          <a:latin typeface="Times New Roman"/>
                        </a:defRPr>
                      </a:pPr>
                      <a:r>
                        <a:t>Speed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22222"/>
                          </a:solidFill>
                          <a:latin typeface="Times New Roman"/>
                        </a:defRPr>
                      </a:pPr>
                      <a:r>
                        <a:t>Instant (&lt;1 ms)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22222"/>
                          </a:solidFill>
                          <a:latin typeface="Times New Roman"/>
                        </a:defRPr>
                      </a:pPr>
                      <a:r>
                        <a:t>Very fast (~2 ms)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22222"/>
                          </a:solidFill>
                          <a:latin typeface="Times New Roman"/>
                        </a:defRPr>
                      </a:pPr>
                      <a:r>
                        <a:t>Slow (~15 ms)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22222"/>
                          </a:solidFill>
                          <a:latin typeface="Times New Roman"/>
                        </a:defRPr>
                      </a:pPr>
                      <a:r>
                        <a:t>What it knows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22222"/>
                          </a:solidFill>
                          <a:latin typeface="Times New Roman"/>
                        </a:defRPr>
                      </a:pPr>
                      <a:r>
                        <a:t>Only current app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22222"/>
                          </a:solidFill>
                          <a:latin typeface="Times New Roman"/>
                        </a:defRPr>
                      </a:pPr>
                      <a:r>
                        <a:t>19 signals (time, battery, history...)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22222"/>
                          </a:solidFill>
                          <a:latin typeface="Times New Roman"/>
                        </a:defRPr>
                      </a:pPr>
                      <a:r>
                        <a:t>Same as XGBoost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22222"/>
                          </a:solidFill>
                          <a:latin typeface="Times New Roman"/>
                        </a:defRPr>
                      </a:pPr>
                      <a:r>
                        <a:t>Can we explain it?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22222"/>
                          </a:solidFill>
                          <a:latin typeface="Times New Roman"/>
                        </a:defRPr>
                      </a:pPr>
                      <a:r>
                        <a:t>Yes (transition matrix)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22222"/>
                          </a:solidFill>
                          <a:latin typeface="Times New Roman"/>
                        </a:defRPr>
                      </a:pPr>
                      <a:r>
                        <a:t>Yes (feature importance, SHAP)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22222"/>
                          </a:solidFill>
                          <a:latin typeface="Times New Roman"/>
                        </a:defRPr>
                      </a:pPr>
                      <a:r>
                        <a:t>No (black box)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22222"/>
                          </a:solidFill>
                          <a:latin typeface="Times New Roman"/>
                        </a:defRPr>
                      </a:pPr>
                      <a:r>
                        <a:t>Needs GPU?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22222"/>
                          </a:solidFill>
                          <a:latin typeface="Times New Roman"/>
                        </a:defRPr>
                      </a:pPr>
                      <a:r>
                        <a:t>No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22222"/>
                          </a:solidFill>
                          <a:latin typeface="Times New Roman"/>
                        </a:defRPr>
                      </a:pPr>
                      <a:r>
                        <a:t>No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22222"/>
                          </a:solidFill>
                          <a:latin typeface="Times New Roman"/>
                        </a:defRPr>
                      </a:pPr>
                      <a:r>
                        <a:t>Yes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22222"/>
                          </a:solidFill>
                          <a:latin typeface="Times New Roman"/>
                        </a:defRPr>
                      </a:pPr>
                      <a:r>
                        <a:t>Accuracy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22222"/>
                          </a:solidFill>
                          <a:latin typeface="Times New Roman"/>
                        </a:defRPr>
                      </a:pPr>
                      <a:r>
                        <a:t>55–65%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22222"/>
                          </a:solidFill>
                          <a:latin typeface="Times New Roman"/>
                        </a:defRPr>
                      </a:pPr>
                      <a:r>
                        <a:t>70–80%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22222"/>
                          </a:solidFill>
                          <a:latin typeface="Times New Roman"/>
                        </a:defRPr>
                      </a:pPr>
                      <a:r>
                        <a:t>72–82%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40080" y="3657600"/>
            <a:ext cx="53035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500" b="1">
                <a:solidFill>
                  <a:srgbClr val="222222"/>
                </a:solidFill>
                <a:latin typeface="Times New Roman"/>
              </a:defRPr>
            </a:pPr>
            <a:r>
              <a:t>Why NOT LSTM / Deep Learning?</a:t>
            </a:r>
          </a:p>
          <a:p>
            <a:pPr>
              <a:spcAft>
                <a:spcPts val="400"/>
              </a:spcAft>
              <a:defRPr sz="1300">
                <a:solidFill>
                  <a:srgbClr val="222222"/>
                </a:solidFill>
                <a:latin typeface="Times New Roman"/>
              </a:defRPr>
            </a:pPr>
            <a:r>
              <a:t>• Only 2% more accurate than XGBoost</a:t>
            </a:r>
          </a:p>
          <a:p>
            <a:pPr>
              <a:spcAft>
                <a:spcPts val="400"/>
              </a:spcAft>
              <a:defRPr sz="1300">
                <a:solidFill>
                  <a:srgbClr val="222222"/>
                </a:solidFill>
                <a:latin typeface="Times New Roman"/>
              </a:defRPr>
            </a:pPr>
            <a:r>
              <a:t>• But 7× slower (15ms vs 2ms per prediction)</a:t>
            </a:r>
          </a:p>
          <a:p>
            <a:pPr>
              <a:spcAft>
                <a:spcPts val="400"/>
              </a:spcAft>
              <a:defRPr sz="1300">
                <a:solidFill>
                  <a:srgbClr val="222222"/>
                </a:solidFill>
                <a:latin typeface="Times New Roman"/>
              </a:defRPr>
            </a:pPr>
            <a:r>
              <a:t>• Requires GPU → drains battery, conflicts with user's AI tasks</a:t>
            </a:r>
          </a:p>
          <a:p>
            <a:pPr>
              <a:spcAft>
                <a:spcPts val="400"/>
              </a:spcAft>
              <a:defRPr sz="1300">
                <a:solidFill>
                  <a:srgbClr val="222222"/>
                </a:solidFill>
                <a:latin typeface="Times New Roman"/>
              </a:defRPr>
            </a:pPr>
            <a:r>
              <a:t>• Black box → can't explain WHY it predicted something (bad for patent)</a:t>
            </a:r>
          </a:p>
          <a:p>
            <a:pPr>
              <a:spcAft>
                <a:spcPts val="400"/>
              </a:spcAft>
              <a:defRPr sz="1300">
                <a:solidFill>
                  <a:srgbClr val="222222"/>
                </a:solidFill>
                <a:latin typeface="Times New Roman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222222"/>
                </a:solidFill>
                <a:latin typeface="Times New Roman"/>
              </a:defRPr>
            </a:pPr>
            <a:r>
              <a:t>Why NOT just Markov Chain?</a:t>
            </a:r>
          </a:p>
          <a:p>
            <a:pPr>
              <a:spcAft>
                <a:spcPts val="400"/>
              </a:spcAft>
              <a:defRPr sz="1300">
                <a:solidFill>
                  <a:srgbClr val="222222"/>
                </a:solidFill>
                <a:latin typeface="Times New Roman"/>
              </a:defRPr>
            </a:pPr>
            <a:r>
              <a:t>• Ignores everything except current app</a:t>
            </a:r>
          </a:p>
          <a:p>
            <a:pPr>
              <a:spcAft>
                <a:spcPts val="400"/>
              </a:spcAft>
              <a:defRPr sz="1300">
                <a:solidFill>
                  <a:srgbClr val="222222"/>
                </a:solidFill>
                <a:latin typeface="Times New Roman"/>
              </a:defRPr>
            </a:pPr>
            <a:r>
              <a:t>• Doesn't know it's 8 AM (commute) or 10 PM (Netflix time)</a:t>
            </a:r>
          </a:p>
          <a:p>
            <a:pPr>
              <a:spcAft>
                <a:spcPts val="400"/>
              </a:spcAft>
              <a:defRPr sz="1300">
                <a:solidFill>
                  <a:srgbClr val="222222"/>
                </a:solidFill>
                <a:latin typeface="Times New Roman"/>
              </a:defRPr>
            </a:pPr>
            <a:r>
              <a:t>• 55–65% accuracy is not good enough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26480" y="3657600"/>
            <a:ext cx="54864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 b="1">
                <a:solidFill>
                  <a:srgbClr val="222222"/>
                </a:solidFill>
                <a:latin typeface="Times New Roman"/>
              </a:defRPr>
            </a:pPr>
            <a:r>
              <a:t>Our 19 Features (12 raw + 7 derived)</a:t>
            </a:r>
          </a:p>
          <a:p>
            <a:pPr>
              <a:spcAft>
                <a:spcPts val="400"/>
              </a:spcAft>
              <a:defRPr sz="1200">
                <a:solidFill>
                  <a:srgbClr val="222222"/>
                </a:solidFill>
                <a:latin typeface="Times New Roman"/>
              </a:defRPr>
            </a:pPr>
          </a:p>
          <a:p>
            <a:pPr>
              <a:spcAft>
                <a:spcPts val="400"/>
              </a:spcAft>
              <a:defRPr sz="1200">
                <a:solidFill>
                  <a:srgbClr val="222222"/>
                </a:solidFill>
                <a:latin typeface="Times New Roman"/>
              </a:defRPr>
            </a:pPr>
            <a:r>
              <a:t>Raw: current_app, prev_app_1, prev_app_2, prev_app_3,</a:t>
            </a:r>
          </a:p>
          <a:p>
            <a:pPr>
              <a:spcAft>
                <a:spcPts val="400"/>
              </a:spcAft>
              <a:defRPr sz="1200">
                <a:solidFill>
                  <a:srgbClr val="222222"/>
                </a:solidFill>
                <a:latin typeface="Times New Roman"/>
              </a:defRPr>
            </a:pPr>
            <a:r>
              <a:t>hour_of_day, day_of_week, battery_level, is_charging,</a:t>
            </a:r>
          </a:p>
          <a:p>
            <a:pPr>
              <a:spcAft>
                <a:spcPts val="400"/>
              </a:spcAft>
              <a:defRPr sz="1200">
                <a:solidFill>
                  <a:srgbClr val="222222"/>
                </a:solidFill>
                <a:latin typeface="Times New Roman"/>
              </a:defRPr>
            </a:pPr>
            <a:r>
              <a:t>ram_free_mb, network_type, ai_task_active, app_category</a:t>
            </a:r>
          </a:p>
          <a:p>
            <a:pPr>
              <a:spcAft>
                <a:spcPts val="400"/>
              </a:spcAft>
              <a:defRPr sz="1200">
                <a:solidFill>
                  <a:srgbClr val="222222"/>
                </a:solidFill>
                <a:latin typeface="Times New Roman"/>
              </a:defRPr>
            </a:pPr>
          </a:p>
          <a:p>
            <a:pPr>
              <a:spcAft>
                <a:spcPts val="400"/>
              </a:spcAft>
              <a:defRPr sz="1200">
                <a:solidFill>
                  <a:srgbClr val="222222"/>
                </a:solidFill>
                <a:latin typeface="Times New Roman"/>
              </a:defRPr>
            </a:pPr>
            <a:r>
              <a:t>Derived: ram_utilization, is_peak_hour, is_weekend,</a:t>
            </a:r>
          </a:p>
          <a:p>
            <a:pPr>
              <a:spcAft>
                <a:spcPts val="400"/>
              </a:spcAft>
              <a:defRPr sz="1200">
                <a:solidFill>
                  <a:srgbClr val="222222"/>
                </a:solidFill>
                <a:latin typeface="Times New Roman"/>
              </a:defRPr>
            </a:pPr>
            <a:r>
              <a:t>session_depth, time_since_last_switch, battery_bucket,</a:t>
            </a:r>
          </a:p>
          <a:p>
            <a:pPr>
              <a:spcAft>
                <a:spcPts val="400"/>
              </a:spcAft>
              <a:defRPr sz="1200">
                <a:solidFill>
                  <a:srgbClr val="222222"/>
                </a:solidFill>
                <a:latin typeface="Times New Roman"/>
              </a:defRPr>
            </a:pPr>
            <a:r>
              <a:t>prev_app_category</a:t>
            </a:r>
          </a:p>
          <a:p>
            <a:pPr>
              <a:spcAft>
                <a:spcPts val="400"/>
              </a:spcAft>
              <a:defRPr sz="1200">
                <a:solidFill>
                  <a:srgbClr val="222222"/>
                </a:solidFill>
                <a:latin typeface="Times New Roman"/>
              </a:defRPr>
            </a:pPr>
          </a:p>
          <a:p>
            <a:pPr>
              <a:spcAft>
                <a:spcPts val="400"/>
              </a:spcAft>
              <a:defRPr sz="1200">
                <a:solidFill>
                  <a:srgbClr val="222222"/>
                </a:solidFill>
                <a:latin typeface="Times New Roman"/>
              </a:defRPr>
            </a:pPr>
            <a:r>
              <a:t>Training: 5-fold cross-validation, 200 trees, max_depth=6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38560" y="6400800"/>
            <a:ext cx="640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AAAAAA"/>
                </a:solidFill>
                <a:latin typeface="Times New Roman"/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00000"/>
                </a:solidFill>
                <a:latin typeface="Times New Roman"/>
              </a:defRPr>
            </a:pPr>
            <a:r>
              <a:t>6. System Architecture — End-to-End Flow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914400"/>
            <a:ext cx="10972800" cy="1905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hld_architectur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97280"/>
            <a:ext cx="11247120" cy="627746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502920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b="1" sz="1300">
                <a:solidFill>
                  <a:srgbClr val="222222"/>
                </a:solidFill>
                <a:latin typeface="Times New Roman"/>
              </a:rPr>
              <a:t>Flow: </a:t>
            </a:r>
            <a:r>
              <a:rPr sz="1300">
                <a:solidFill>
                  <a:srgbClr val="555555"/>
                </a:solidFill>
                <a:latin typeface="Times New Roman"/>
              </a:rPr>
              <a:t>App switch → Module 1 captures 12 signals → Module 2 predicts next app → Module 3 scores all cached apps &amp; decides evict/preload → Module 4 executes → feeds back to Module 1</a:t>
            </a:r>
          </a:p>
          <a:p>
            <a:pPr>
              <a:spcAft>
                <a:spcPts val="400"/>
              </a:spcAft>
            </a:pPr>
            <a:r>
              <a:rPr b="1" sz="1300">
                <a:solidFill>
                  <a:srgbClr val="222222"/>
                </a:solidFill>
                <a:latin typeface="Times New Roman"/>
              </a:rPr>
              <a:t>Module 5: </a:t>
            </a:r>
            <a:r>
              <a:rPr sz="1300">
                <a:solidFill>
                  <a:srgbClr val="555555"/>
                </a:solidFill>
                <a:latin typeface="Times New Roman"/>
              </a:rPr>
              <a:t>Simulation Engine — replays 50,000 events to benchmark our system vs. baselines</a:t>
            </a:r>
          </a:p>
          <a:p>
            <a:pPr>
              <a:spcAft>
                <a:spcPts val="400"/>
              </a:spcAft>
            </a:pPr>
            <a:r>
              <a:rPr b="1" sz="1300">
                <a:solidFill>
                  <a:srgbClr val="222222"/>
                </a:solidFill>
                <a:latin typeface="Times New Roman"/>
              </a:rPr>
              <a:t>Module 6: </a:t>
            </a:r>
            <a:r>
              <a:rPr sz="1300">
                <a:solidFill>
                  <a:srgbClr val="555555"/>
                </a:solidFill>
                <a:latin typeface="Times New Roman"/>
              </a:rPr>
              <a:t>Streamlit Dashboard — real-time visualization of predictions, memory map, and metrics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400800"/>
            <a:ext cx="640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AAAAAA"/>
                </a:solidFill>
                <a:latin typeface="Times New Roman"/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00000"/>
                </a:solidFill>
                <a:latin typeface="Times New Roman"/>
              </a:defRPr>
            </a:pPr>
            <a:r>
              <a:t>7. Class Design — How the Code Is Structured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914400"/>
            <a:ext cx="10972800" cy="1905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class_diagram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97280"/>
            <a:ext cx="11247120" cy="627746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502920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b="1" sz="1300">
                <a:solidFill>
                  <a:srgbClr val="222222"/>
                </a:solidFill>
                <a:latin typeface="Times New Roman"/>
              </a:rPr>
              <a:t>ContextSnapshot: </a:t>
            </a:r>
            <a:r>
              <a:rPr sz="1300">
                <a:solidFill>
                  <a:srgbClr val="555555"/>
                </a:solidFill>
                <a:latin typeface="Times New Roman"/>
              </a:rPr>
              <a:t>captures phone state (app, time, battery, RAM)    →    FeatureEngine: converts to numbers for ML</a:t>
            </a:r>
          </a:p>
          <a:p>
            <a:pPr>
              <a:spcAft>
                <a:spcPts val="400"/>
              </a:spcAft>
            </a:pPr>
            <a:r>
              <a:rPr b="1" sz="1300">
                <a:solidFill>
                  <a:srgbClr val="222222"/>
                </a:solidFill>
                <a:latin typeface="Times New Roman"/>
              </a:rPr>
              <a:t>Predictor interface: </a:t>
            </a:r>
            <a:r>
              <a:rPr sz="1300">
                <a:solidFill>
                  <a:srgbClr val="555555"/>
                </a:solidFill>
                <a:latin typeface="Times New Roman"/>
              </a:rPr>
              <a:t>common contract for MarkovPredictor (baseline) &amp; XGBoostPredictor (primary) — swappable</a:t>
            </a:r>
          </a:p>
          <a:p>
            <a:pPr>
              <a:spcAft>
                <a:spcPts val="400"/>
              </a:spcAft>
            </a:pPr>
            <a:r>
              <a:rPr b="1" sz="1300">
                <a:solidFill>
                  <a:srgbClr val="222222"/>
                </a:solidFill>
                <a:latin typeface="Times New Roman"/>
              </a:rPr>
              <a:t>MemoryDecisionController: </a:t>
            </a:r>
            <a:r>
              <a:rPr sz="1300">
                <a:solidFill>
                  <a:srgbClr val="555555"/>
                </a:solidFill>
                <a:latin typeface="Times New Roman"/>
              </a:rPr>
              <a:t>the brain — uses CacheScoringEngine + PreloadGate + ThrashingDetector to produce a MemoryActionPlan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400800"/>
            <a:ext cx="640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AAAAAA"/>
                </a:solidFill>
                <a:latin typeface="Times New Roman"/>
              </a:defRPr>
            </a:pPr>
            <a: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00000"/>
                </a:solidFill>
                <a:latin typeface="Times New Roman"/>
              </a:defRPr>
            </a:pPr>
            <a:r>
              <a:t>8. How Our System Compares — And What Makes It Novel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914400"/>
            <a:ext cx="10972800" cy="1905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80" y="1188720"/>
          <a:ext cx="10972800" cy="30723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/>
                <a:gridCol w="2194560"/>
                <a:gridCol w="2194560"/>
                <a:gridCol w="2194560"/>
                <a:gridCol w="2194560"/>
              </a:tblGrid>
              <a:tr h="384048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000000"/>
                          </a:solidFill>
                          <a:latin typeface="Times New Roman"/>
                        </a:defRPr>
                      </a:pPr>
                      <a:r>
                        <a:t>Feature</a:t>
                      </a:r>
                    </a:p>
                  </a:txBody>
                  <a:tcP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000000"/>
                          </a:solidFill>
                          <a:latin typeface="Times New Roman"/>
                        </a:defRPr>
                      </a:pPr>
                      <a:r>
                        <a:t>No Optimization</a:t>
                      </a:r>
                    </a:p>
                  </a:txBody>
                  <a:tcP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000000"/>
                          </a:solidFill>
                          <a:latin typeface="Times New Roman"/>
                        </a:defRPr>
                      </a:pPr>
                      <a:r>
                        <a:t>LRU (Android)</a:t>
                      </a:r>
                    </a:p>
                  </a:txBody>
                  <a:tcP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000000"/>
                          </a:solidFill>
                          <a:latin typeface="Times New Roman"/>
                        </a:defRPr>
                      </a:pPr>
                      <a:r>
                        <a:t>Static Preload</a:t>
                      </a:r>
                    </a:p>
                  </a:txBody>
                  <a:tcP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000000"/>
                          </a:solidFill>
                          <a:latin typeface="Times New Roman"/>
                        </a:defRPr>
                      </a:pPr>
                      <a:r>
                        <a:t>Our System</a:t>
                      </a:r>
                    </a:p>
                  </a:txBody>
                  <a:tcPr>
                    <a:solidFill>
                      <a:srgbClr val="DDDDDD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22222"/>
                          </a:solidFill>
                          <a:latin typeface="Times New Roman"/>
                        </a:defRPr>
                      </a:pPr>
                      <a:r>
                        <a:t>Eviction logic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22222"/>
                          </a:solidFill>
                          <a:latin typeface="Times New Roman"/>
                        </a:defRPr>
                      </a:pPr>
                      <a:r>
                        <a:t>Remove oldest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22222"/>
                          </a:solidFill>
                          <a:latin typeface="Times New Roman"/>
                        </a:defRPr>
                      </a:pPr>
                      <a:r>
                        <a:t>Remove least recent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22222"/>
                          </a:solidFill>
                          <a:latin typeface="Times New Roman"/>
                        </a:defRPr>
                      </a:pPr>
                      <a:r>
                        <a:t>LRU + top-3 apps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22222"/>
                          </a:solidFill>
                          <a:latin typeface="Times New Roman"/>
                        </a:defRPr>
                      </a:pPr>
                      <a:r>
                        <a:t>ML-weighted 6-factor score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22222"/>
                          </a:solidFill>
                          <a:latin typeface="Times New Roman"/>
                        </a:defRPr>
                      </a:pPr>
                      <a:r>
                        <a:t>Knows what you'll use next?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22222"/>
                          </a:solidFill>
                          <a:latin typeface="Times New Roman"/>
                        </a:defRPr>
                      </a:pPr>
                      <a:r>
                        <a:t>No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22222"/>
                          </a:solidFill>
                          <a:latin typeface="Times New Roman"/>
                        </a:defRPr>
                      </a:pPr>
                      <a:r>
                        <a:t>No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22222"/>
                          </a:solidFill>
                          <a:latin typeface="Times New Roman"/>
                        </a:defRPr>
                      </a:pPr>
                      <a:r>
                        <a:t>Partially (top-3 only)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22222"/>
                          </a:solidFill>
                          <a:latin typeface="Times New Roman"/>
                        </a:defRPr>
                      </a:pPr>
                      <a:r>
                        <a:t>Yes (real-time ML prediction)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22222"/>
                          </a:solidFill>
                          <a:latin typeface="Times New Roman"/>
                        </a:defRPr>
                      </a:pPr>
                      <a:r>
                        <a:t>Adapts to context?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22222"/>
                          </a:solidFill>
                          <a:latin typeface="Times New Roman"/>
                        </a:defRPr>
                      </a:pPr>
                      <a:r>
                        <a:t>No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22222"/>
                          </a:solidFill>
                          <a:latin typeface="Times New Roman"/>
                        </a:defRPr>
                      </a:pPr>
                      <a:r>
                        <a:t>No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22222"/>
                          </a:solidFill>
                          <a:latin typeface="Times New Roman"/>
                        </a:defRPr>
                      </a:pPr>
                      <a:r>
                        <a:t>No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22222"/>
                          </a:solidFill>
                          <a:latin typeface="Times New Roman"/>
                        </a:defRPr>
                      </a:pPr>
                      <a:r>
                        <a:t>Yes (time, battery, AI state...)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22222"/>
                          </a:solidFill>
                          <a:latin typeface="Times New Roman"/>
                        </a:defRPr>
                      </a:pPr>
                      <a:r>
                        <a:t>Pre-loads apps?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22222"/>
                          </a:solidFill>
                          <a:latin typeface="Times New Roman"/>
                        </a:defRPr>
                      </a:pPr>
                      <a:r>
                        <a:t>No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22222"/>
                          </a:solidFill>
                          <a:latin typeface="Times New Roman"/>
                        </a:defRPr>
                      </a:pPr>
                      <a:r>
                        <a:t>No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22222"/>
                          </a:solidFill>
                          <a:latin typeface="Times New Roman"/>
                        </a:defRPr>
                      </a:pPr>
                      <a:r>
                        <a:t>Yes (but fixed list)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22222"/>
                          </a:solidFill>
                          <a:latin typeface="Times New Roman"/>
                        </a:defRPr>
                      </a:pPr>
                      <a:r>
                        <a:t>Yes (with 5 safety checks)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22222"/>
                          </a:solidFill>
                          <a:latin typeface="Times New Roman"/>
                        </a:defRPr>
                      </a:pPr>
                      <a:r>
                        <a:t>Catches bad decisions?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22222"/>
                          </a:solidFill>
                          <a:latin typeface="Times New Roman"/>
                        </a:defRPr>
                      </a:pPr>
                      <a:r>
                        <a:t>No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22222"/>
                          </a:solidFill>
                          <a:latin typeface="Times New Roman"/>
                        </a:defRPr>
                      </a:pPr>
                      <a:r>
                        <a:t>No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22222"/>
                          </a:solidFill>
                          <a:latin typeface="Times New Roman"/>
                        </a:defRPr>
                      </a:pPr>
                      <a:r>
                        <a:t>No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22222"/>
                          </a:solidFill>
                          <a:latin typeface="Times New Roman"/>
                        </a:defRPr>
                      </a:pPr>
                      <a:r>
                        <a:t>Yes (thrashing → Safe Mode)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22222"/>
                          </a:solidFill>
                          <a:latin typeface="Times New Roman"/>
                        </a:defRPr>
                      </a:pPr>
                      <a:r>
                        <a:t>Expected cache hit rate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22222"/>
                          </a:solidFill>
                          <a:latin typeface="Times New Roman"/>
                        </a:defRPr>
                      </a:pPr>
                      <a:r>
                        <a:t>~40%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22222"/>
                          </a:solidFill>
                          <a:latin typeface="Times New Roman"/>
                        </a:defRPr>
                      </a:pPr>
                      <a:r>
                        <a:t>~55%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22222"/>
                          </a:solidFill>
                          <a:latin typeface="Times New Roman"/>
                        </a:defRPr>
                      </a:pPr>
                      <a:r>
                        <a:t>~62%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22222"/>
                          </a:solidFill>
                          <a:latin typeface="Times New Roman"/>
                        </a:defRPr>
                      </a:pPr>
                      <a:r>
                        <a:t>&gt;75%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22222"/>
                          </a:solidFill>
                          <a:latin typeface="Times New Roman"/>
                        </a:defRPr>
                      </a:pPr>
                      <a:r>
                        <a:t>Expected app launch time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22222"/>
                          </a:solidFill>
                          <a:latin typeface="Times New Roman"/>
                        </a:defRPr>
                      </a:pPr>
                      <a:r>
                        <a:t>~1200 ms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22222"/>
                          </a:solidFill>
                          <a:latin typeface="Times New Roman"/>
                        </a:defRPr>
                      </a:pPr>
                      <a:r>
                        <a:t>~900 ms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22222"/>
                          </a:solidFill>
                          <a:latin typeface="Times New Roman"/>
                        </a:defRPr>
                      </a:pPr>
                      <a:r>
                        <a:t>~750 ms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22222"/>
                          </a:solidFill>
                          <a:latin typeface="Times New Roman"/>
                        </a:defRPr>
                      </a:pPr>
                      <a:r>
                        <a:t>&lt;400 ms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40080" y="4754880"/>
            <a:ext cx="10972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500" b="1">
                <a:solidFill>
                  <a:srgbClr val="222222"/>
                </a:solidFill>
                <a:latin typeface="Times New Roman"/>
              </a:defRPr>
            </a:pPr>
            <a:r>
              <a:t>4 Novel Contributions (What Makes This Patent-Worthy):</a:t>
            </a:r>
          </a:p>
          <a:p>
            <a:pPr>
              <a:spcAft>
                <a:spcPts val="400"/>
              </a:spcAft>
            </a:pPr>
            <a:r>
              <a:rPr b="1" sz="1300">
                <a:solidFill>
                  <a:srgbClr val="222222"/>
                </a:solidFill>
                <a:latin typeface="Times New Roman"/>
              </a:rPr>
              <a:t>1. Prediction IN the eviction formula: </a:t>
            </a:r>
            <a:r>
              <a:rPr sz="1300">
                <a:solidFill>
                  <a:srgbClr val="555555"/>
                </a:solidFill>
                <a:latin typeface="Times New Roman"/>
              </a:rPr>
              <a:t>first system to use ML confidence as a weighted number in deciding what stays in memory</a:t>
            </a:r>
          </a:p>
          <a:p>
            <a:pPr>
              <a:spcAft>
                <a:spcPts val="400"/>
              </a:spcAft>
            </a:pPr>
            <a:r>
              <a:rPr b="1" sz="1300">
                <a:solidFill>
                  <a:srgbClr val="222222"/>
                </a:solidFill>
                <a:latin typeface="Times New Roman"/>
              </a:rPr>
              <a:t>2. 5-condition preload gate: </a:t>
            </a:r>
            <a:r>
              <a:rPr sz="1300">
                <a:solidFill>
                  <a:srgbClr val="555555"/>
                </a:solidFill>
                <a:latin typeface="Times New Roman"/>
              </a:rPr>
              <a:t>won't blindly preload — checks confidence, RAM, battery, stability, and cache status</a:t>
            </a:r>
          </a:p>
          <a:p>
            <a:pPr>
              <a:spcAft>
                <a:spcPts val="400"/>
              </a:spcAft>
            </a:pPr>
            <a:r>
              <a:rPr b="1" sz="1300">
                <a:solidFill>
                  <a:srgbClr val="222222"/>
                </a:solidFill>
                <a:latin typeface="Times New Roman"/>
              </a:rPr>
              <a:t>3. Automatic thrashing recovery: </a:t>
            </a:r>
            <a:r>
              <a:rPr sz="1300">
                <a:solidFill>
                  <a:srgbClr val="555555"/>
                </a:solidFill>
                <a:latin typeface="Times New Roman"/>
              </a:rPr>
              <a:t>detects when it's making things worse and degrades gracefully to Safe Mode</a:t>
            </a:r>
          </a:p>
          <a:p>
            <a:pPr>
              <a:spcAft>
                <a:spcPts val="400"/>
              </a:spcAft>
            </a:pPr>
            <a:r>
              <a:rPr b="1" sz="1300">
                <a:solidFill>
                  <a:srgbClr val="222222"/>
                </a:solidFill>
                <a:latin typeface="Times New Roman"/>
              </a:rPr>
              <a:t>4. AI-workload awareness: </a:t>
            </a:r>
            <a:r>
              <a:rPr sz="1300">
                <a:solidFill>
                  <a:srgbClr val="555555"/>
                </a:solidFill>
                <a:latin typeface="Times New Roman"/>
              </a:rPr>
              <a:t>gives extra protection to expensive AI model caches (camera AI, LLM weights)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400800"/>
            <a:ext cx="640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AAAAAA"/>
                </a:solidFill>
                <a:latin typeface="Times New Roman"/>
              </a:defRPr>
            </a:pPr>
            <a: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00000"/>
                </a:solidFill>
                <a:latin typeface="Times New Roman"/>
              </a:defRPr>
            </a:pPr>
            <a:r>
              <a:t>9. How We Prove It Works — Evaluation Plan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914400"/>
            <a:ext cx="10972800" cy="1905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40080" y="1188720"/>
            <a:ext cx="5303520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188720"/>
            <a:ext cx="5303520" cy="320040"/>
          </a:xfrm>
          <a:prstGeom prst="rect">
            <a:avLst/>
          </a:prstGeom>
          <a:solidFill>
            <a:srgbClr val="DDDDDD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1" y="1216152"/>
            <a:ext cx="5157216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00000"/>
                </a:solidFill>
                <a:latin typeface="Times New Roman"/>
              </a:defRPr>
            </a:pPr>
            <a:r>
              <a:t>Simulation Setup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8" y="1554480"/>
            <a:ext cx="5084064" cy="21214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200">
                <a:solidFill>
                  <a:srgbClr val="222222"/>
                </a:solidFill>
                <a:latin typeface="Times New Roman"/>
              </a:defRPr>
            </a:pPr>
            <a:r>
              <a:t>Since we can't modify a real Android phone's kernel, we built a simulator.</a:t>
            </a:r>
          </a:p>
          <a:p>
            <a:pPr>
              <a:spcAft>
                <a:spcPts val="300"/>
              </a:spcAft>
              <a:defRPr sz="1200">
                <a:solidFill>
                  <a:srgbClr val="222222"/>
                </a:solidFill>
                <a:latin typeface="Times New Roman"/>
              </a:defRPr>
            </a:pPr>
          </a:p>
          <a:p>
            <a:pPr>
              <a:spcAft>
                <a:spcPts val="300"/>
              </a:spcAft>
            </a:pPr>
            <a:r>
              <a:rPr b="1" sz="1200">
                <a:solidFill>
                  <a:srgbClr val="222222"/>
                </a:solidFill>
                <a:latin typeface="Times New Roman"/>
              </a:rPr>
              <a:t>Data: </a:t>
            </a:r>
            <a:r>
              <a:rPr sz="1200">
                <a:solidFill>
                  <a:srgbClr val="555555"/>
                </a:solidFill>
                <a:latin typeface="Times New Roman"/>
              </a:rPr>
              <a:t>50,000 synthetic app-switch events across 5 user types (student, professional, casual, power user, developer)</a:t>
            </a:r>
          </a:p>
          <a:p>
            <a:pPr>
              <a:spcAft>
                <a:spcPts val="300"/>
              </a:spcAft>
            </a:pPr>
            <a:r>
              <a:rPr b="1" sz="1200">
                <a:solidFill>
                  <a:srgbClr val="222222"/>
                </a:solidFill>
                <a:latin typeface="Times New Roman"/>
              </a:rPr>
              <a:t>Policies: </a:t>
            </a:r>
            <a:r>
              <a:rPr sz="1200">
                <a:solidFill>
                  <a:srgbClr val="555555"/>
                </a:solidFill>
                <a:latin typeface="Times New Roman"/>
              </a:rPr>
              <a:t>NoOpt, LRU, StaticPreload, Proposed — tested under identical conditions</a:t>
            </a:r>
          </a:p>
          <a:p>
            <a:pPr>
              <a:spcAft>
                <a:spcPts val="300"/>
              </a:spcAft>
            </a:pPr>
            <a:r>
              <a:rPr b="1" sz="1200">
                <a:solidFill>
                  <a:srgbClr val="222222"/>
                </a:solidFill>
                <a:latin typeface="Times New Roman"/>
              </a:rPr>
              <a:t>RAM configs: </a:t>
            </a:r>
            <a:r>
              <a:rPr sz="1200">
                <a:solidFill>
                  <a:srgbClr val="555555"/>
                </a:solidFill>
                <a:latin typeface="Times New Roman"/>
              </a:rPr>
              <a:t>4 GB, 6 GB, 8 GB — to test across device tiers</a:t>
            </a:r>
          </a:p>
          <a:p>
            <a:pPr>
              <a:spcAft>
                <a:spcPts val="300"/>
              </a:spcAft>
            </a:pPr>
            <a:r>
              <a:rPr b="1" sz="1200">
                <a:solidFill>
                  <a:srgbClr val="222222"/>
                </a:solidFill>
                <a:latin typeface="Times New Roman"/>
              </a:rPr>
              <a:t>Repetitions: </a:t>
            </a:r>
            <a:r>
              <a:rPr sz="1200">
                <a:solidFill>
                  <a:srgbClr val="555555"/>
                </a:solidFill>
                <a:latin typeface="Times New Roman"/>
              </a:rPr>
              <a:t>30 runs per config for statistical significance</a:t>
            </a:r>
          </a:p>
          <a:p>
            <a:pPr>
              <a:spcAft>
                <a:spcPts val="300"/>
              </a:spcAft>
            </a:pPr>
            <a:r>
              <a:rPr b="1" sz="1200">
                <a:solidFill>
                  <a:srgbClr val="222222"/>
                </a:solidFill>
                <a:latin typeface="Times New Roman"/>
              </a:rPr>
              <a:t>Total: </a:t>
            </a:r>
            <a:r>
              <a:rPr sz="1200">
                <a:solidFill>
                  <a:srgbClr val="555555"/>
                </a:solidFill>
                <a:latin typeface="Times New Roman"/>
              </a:rPr>
              <a:t>4 × 5 × 3 × 30 = 1,800 benchmark simulations</a:t>
            </a:r>
          </a:p>
          <a:p>
            <a:pPr>
              <a:spcAft>
                <a:spcPts val="300"/>
              </a:spcAft>
            </a:pPr>
            <a:r>
              <a:rPr b="1" sz="1200">
                <a:solidFill>
                  <a:srgbClr val="222222"/>
                </a:solidFill>
                <a:latin typeface="Times New Roman"/>
              </a:rPr>
              <a:t>Stats: </a:t>
            </a:r>
            <a:r>
              <a:rPr sz="1200">
                <a:solidFill>
                  <a:srgbClr val="555555"/>
                </a:solidFill>
                <a:latin typeface="Times New Roman"/>
              </a:rPr>
              <a:t>Paired t-test, p &lt; 0.05 — proves the difference is real, not random</a:t>
            </a:r>
          </a:p>
        </p:txBody>
      </p:sp>
      <p:sp>
        <p:nvSpPr>
          <p:cNvPr id="8" name="Rectangle 7"/>
          <p:cNvSpPr/>
          <p:nvPr/>
        </p:nvSpPr>
        <p:spPr>
          <a:xfrm>
            <a:off x="6126480" y="1188720"/>
            <a:ext cx="5394960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126480" y="1188720"/>
            <a:ext cx="5394960" cy="320040"/>
          </a:xfrm>
          <a:prstGeom prst="rect">
            <a:avLst/>
          </a:prstGeom>
          <a:solidFill>
            <a:srgbClr val="DDDDDD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199632" y="1216152"/>
            <a:ext cx="5248656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00000"/>
                </a:solidFill>
                <a:latin typeface="Times New Roman"/>
              </a:defRPr>
            </a:pPr>
            <a:r>
              <a:t>What We Measure (5 KPIs)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36208" y="1554480"/>
            <a:ext cx="5175504" cy="21214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b="1" sz="1200">
                <a:solidFill>
                  <a:srgbClr val="222222"/>
                </a:solidFill>
                <a:latin typeface="Times New Roman"/>
              </a:rPr>
              <a:t>Cache Hit Rate: </a:t>
            </a:r>
            <a:r>
              <a:rPr sz="1200">
                <a:solidFill>
                  <a:srgbClr val="555555"/>
                </a:solidFill>
                <a:latin typeface="Times New Roman"/>
              </a:rPr>
              <a:t>how often the app is already in memory → target &gt;75%</a:t>
            </a:r>
          </a:p>
          <a:p>
            <a:pPr>
              <a:spcAft>
                <a:spcPts val="300"/>
              </a:spcAft>
            </a:pPr>
            <a:r>
              <a:rPr b="1" sz="1200">
                <a:solidFill>
                  <a:srgbClr val="222222"/>
                </a:solidFill>
                <a:latin typeface="Times New Roman"/>
              </a:rPr>
              <a:t>Avg Launch Latency: </a:t>
            </a:r>
            <a:r>
              <a:rPr sz="1200">
                <a:solidFill>
                  <a:srgbClr val="555555"/>
                </a:solidFill>
                <a:latin typeface="Times New Roman"/>
              </a:rPr>
              <a:t>mean time to open an app → target &lt;400 ms</a:t>
            </a:r>
          </a:p>
          <a:p>
            <a:pPr>
              <a:spcAft>
                <a:spcPts val="300"/>
              </a:spcAft>
            </a:pPr>
            <a:r>
              <a:rPr b="1" sz="1200">
                <a:solidFill>
                  <a:srgbClr val="222222"/>
                </a:solidFill>
                <a:latin typeface="Times New Roman"/>
              </a:rPr>
              <a:t>Thrashing Events: </a:t>
            </a:r>
            <a:r>
              <a:rPr sz="1200">
                <a:solidFill>
                  <a:srgbClr val="555555"/>
                </a:solidFill>
                <a:latin typeface="Times New Roman"/>
              </a:rPr>
              <a:t>evict-then-reload-same-app cycles → target &lt;3 per session</a:t>
            </a:r>
          </a:p>
          <a:p>
            <a:pPr>
              <a:spcAft>
                <a:spcPts val="300"/>
              </a:spcAft>
            </a:pPr>
            <a:r>
              <a:rPr b="1" sz="1200">
                <a:solidFill>
                  <a:srgbClr val="222222"/>
                </a:solidFill>
                <a:latin typeface="Times New Roman"/>
              </a:rPr>
              <a:t>Preload Success: </a:t>
            </a:r>
            <a:r>
              <a:rPr sz="1200">
                <a:solidFill>
                  <a:srgbClr val="555555"/>
                </a:solidFill>
                <a:latin typeface="Times New Roman"/>
              </a:rPr>
              <a:t>how often a preloaded app was actually used → target &gt;60%</a:t>
            </a:r>
          </a:p>
          <a:p>
            <a:pPr>
              <a:spcAft>
                <a:spcPts val="300"/>
              </a:spcAft>
            </a:pPr>
            <a:r>
              <a:rPr b="1" sz="1200">
                <a:solidFill>
                  <a:srgbClr val="222222"/>
                </a:solidFill>
                <a:latin typeface="Times New Roman"/>
              </a:rPr>
              <a:t>Prediction Accuracy: </a:t>
            </a:r>
            <a:r>
              <a:rPr sz="1200">
                <a:solidFill>
                  <a:srgbClr val="555555"/>
                </a:solidFill>
                <a:latin typeface="Times New Roman"/>
              </a:rPr>
              <a:t>top-1 correct prediction → target &gt;70%</a:t>
            </a:r>
          </a:p>
          <a:p>
            <a:pPr>
              <a:spcAft>
                <a:spcPts val="300"/>
              </a:spcAft>
              <a:defRPr sz="1200">
                <a:solidFill>
                  <a:srgbClr val="222222"/>
                </a:solidFill>
                <a:latin typeface="Times New Roman"/>
              </a:defRPr>
            </a:pPr>
          </a:p>
          <a:p>
            <a:pPr>
              <a:spcAft>
                <a:spcPts val="300"/>
              </a:spcAft>
              <a:defRPr sz="1200">
                <a:solidFill>
                  <a:srgbClr val="222222"/>
                </a:solidFill>
                <a:latin typeface="Times New Roman"/>
              </a:defRPr>
            </a:pPr>
            <a:r>
              <a:t>These KPIs directly measure user experience improvement.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4023360"/>
            <a:ext cx="1097280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40080" y="4023360"/>
            <a:ext cx="10972800" cy="320040"/>
          </a:xfrm>
          <a:prstGeom prst="rect">
            <a:avLst/>
          </a:prstGeom>
          <a:solidFill>
            <a:srgbClr val="DDDDDD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13231" y="4050792"/>
            <a:ext cx="10826496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00000"/>
                </a:solidFill>
                <a:latin typeface="Times New Roman"/>
              </a:defRPr>
            </a:pPr>
            <a:r>
              <a:t>Ablation Study — Which Features Actually Matter?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9808" y="4389120"/>
            <a:ext cx="10753344" cy="18470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200">
                <a:solidFill>
                  <a:srgbClr val="222222"/>
                </a:solidFill>
                <a:latin typeface="Times New Roman"/>
              </a:defRPr>
            </a:pPr>
            <a:r>
              <a:t>We remove one feature group at a time to see how much accuracy drops. This proves which signals matter most.</a:t>
            </a:r>
          </a:p>
          <a:p>
            <a:pPr>
              <a:spcAft>
                <a:spcPts val="300"/>
              </a:spcAft>
              <a:defRPr sz="1200">
                <a:solidFill>
                  <a:srgbClr val="222222"/>
                </a:solidFill>
                <a:latin typeface="Times New Roman"/>
              </a:defRPr>
            </a:pPr>
          </a:p>
          <a:p>
            <a:pPr>
              <a:spcAft>
                <a:spcPts val="300"/>
              </a:spcAft>
            </a:pPr>
            <a:r>
              <a:rPr b="1" sz="1200">
                <a:solidFill>
                  <a:srgbClr val="222222"/>
                </a:solidFill>
                <a:latin typeface="Times New Roman"/>
              </a:rPr>
              <a:t>Remove app history (prev_app_1/2/3): </a:t>
            </a:r>
            <a:r>
              <a:rPr sz="1200">
                <a:solidFill>
                  <a:srgbClr val="555555"/>
                </a:solidFill>
                <a:latin typeface="Times New Roman"/>
              </a:rPr>
              <a:t>biggest drop expected (~10–15%) → proves sequential patterns are the #1 signal</a:t>
            </a:r>
          </a:p>
          <a:p>
            <a:pPr>
              <a:spcAft>
                <a:spcPts val="300"/>
              </a:spcAft>
            </a:pPr>
            <a:r>
              <a:rPr b="1" sz="1200">
                <a:solidFill>
                  <a:srgbClr val="222222"/>
                </a:solidFill>
                <a:latin typeface="Times New Roman"/>
              </a:rPr>
              <a:t>Remove time features (hour, day, peak): </a:t>
            </a:r>
            <a:r>
              <a:rPr sz="1200">
                <a:solidFill>
                  <a:srgbClr val="555555"/>
                </a:solidFill>
                <a:latin typeface="Times New Roman"/>
              </a:rPr>
              <a:t>~5–8% drop → proves temporal context matters</a:t>
            </a:r>
          </a:p>
          <a:p>
            <a:pPr>
              <a:spcAft>
                <a:spcPts val="300"/>
              </a:spcAft>
            </a:pPr>
            <a:r>
              <a:rPr b="1" sz="1200">
                <a:solidFill>
                  <a:srgbClr val="222222"/>
                </a:solidFill>
                <a:latin typeface="Times New Roman"/>
              </a:rPr>
              <a:t>Remove device state (battery, RAM): </a:t>
            </a:r>
            <a:r>
              <a:rPr sz="1200">
                <a:solidFill>
                  <a:srgbClr val="555555"/>
                </a:solidFill>
                <a:latin typeface="Times New Roman"/>
              </a:rPr>
              <a:t>~2–4% drop → resource state adds value but less than history</a:t>
            </a:r>
          </a:p>
          <a:p>
            <a:pPr>
              <a:spcAft>
                <a:spcPts val="300"/>
              </a:spcAft>
            </a:pPr>
            <a:r>
              <a:rPr b="1" sz="1200">
                <a:solidFill>
                  <a:srgbClr val="222222"/>
                </a:solidFill>
                <a:latin typeface="Times New Roman"/>
              </a:rPr>
              <a:t>Remove categories: </a:t>
            </a:r>
            <a:r>
              <a:rPr sz="1200">
                <a:solidFill>
                  <a:srgbClr val="555555"/>
                </a:solidFill>
                <a:latin typeface="Times New Roman"/>
              </a:rPr>
              <a:t>~2–3% drop → minor but helps with unseen app transitions</a:t>
            </a:r>
          </a:p>
          <a:p>
            <a:pPr>
              <a:spcAft>
                <a:spcPts val="300"/>
              </a:spcAft>
            </a:pPr>
            <a:r>
              <a:rPr b="1" sz="1200">
                <a:solidFill>
                  <a:srgbClr val="222222"/>
                </a:solidFill>
                <a:latin typeface="Times New Roman"/>
              </a:rPr>
              <a:t>Keep only current_app: </a:t>
            </a:r>
            <a:r>
              <a:rPr sz="1200">
                <a:solidFill>
                  <a:srgbClr val="555555"/>
                </a:solidFill>
                <a:latin typeface="Times New Roman"/>
              </a:rPr>
              <a:t>drops to Markov baseline (~60%) → proves multi-feature approach is essential</a:t>
            </a:r>
          </a:p>
          <a:p>
            <a:pPr>
              <a:spcAft>
                <a:spcPts val="300"/>
              </a:spcAft>
              <a:defRPr sz="1200">
                <a:solidFill>
                  <a:srgbClr val="222222"/>
                </a:solidFill>
                <a:latin typeface="Times New Roman"/>
              </a:defRPr>
            </a:pPr>
          </a:p>
          <a:p>
            <a:pPr>
              <a:spcAft>
                <a:spcPts val="300"/>
              </a:spcAft>
              <a:defRPr sz="1200">
                <a:solidFill>
                  <a:srgbClr val="222222"/>
                </a:solidFill>
                <a:latin typeface="Times New Roman"/>
              </a:defRPr>
            </a:pPr>
            <a:r>
              <a:t>Total ablation experiments: 6 × 5 × 3 × 30 = 2,700 simulations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38560" y="6400800"/>
            <a:ext cx="640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AAAAAA"/>
                </a:solidFill>
                <a:latin typeface="Times New Roman"/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00000"/>
                </a:solidFill>
                <a:latin typeface="Times New Roman"/>
              </a:defRPr>
            </a:pPr>
            <a:r>
              <a:t>10. Implementation Timeline &amp; Tech Stack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914400"/>
            <a:ext cx="10972800" cy="1905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80" y="1188720"/>
          <a:ext cx="10972800" cy="27797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/>
                <a:gridCol w="3657600"/>
                <a:gridCol w="3657600"/>
              </a:tblGrid>
              <a:tr h="347472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000000"/>
                          </a:solidFill>
                          <a:latin typeface="Times New Roman"/>
                        </a:defRPr>
                      </a:pPr>
                      <a:r>
                        <a:t>Week</a:t>
                      </a:r>
                    </a:p>
                  </a:txBody>
                  <a:tcP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000000"/>
                          </a:solidFill>
                          <a:latin typeface="Times New Roman"/>
                        </a:defRPr>
                      </a:pPr>
                      <a:r>
                        <a:t>Phase</a:t>
                      </a:r>
                    </a:p>
                  </a:txBody>
                  <a:tcP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000000"/>
                          </a:solidFill>
                          <a:latin typeface="Times New Roman"/>
                        </a:defRPr>
                      </a:pPr>
                      <a:r>
                        <a:t>What We Build</a:t>
                      </a:r>
                    </a:p>
                  </a:txBody>
                  <a:tcPr>
                    <a:solidFill>
                      <a:srgbClr val="DDDDDD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22222"/>
                          </a:solidFill>
                          <a:latin typeface="Times New Roman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22222"/>
                          </a:solidFill>
                          <a:latin typeface="Times New Roman"/>
                        </a:defRPr>
                      </a:pPr>
                      <a:r>
                        <a:t>Foundation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22222"/>
                          </a:solidFill>
                          <a:latin typeface="Times New Roman"/>
                        </a:defRPr>
                      </a:pPr>
                      <a:r>
                        <a:t>Project setup, create 15–20 app profiles, generate 50K synthetic events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22222"/>
                          </a:solidFill>
                          <a:latin typeface="Times New Roman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22222"/>
                          </a:solidFill>
                          <a:latin typeface="Times New Roman"/>
                        </a:defRPr>
                      </a:pPr>
                      <a:r>
                        <a:t>ML Models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22222"/>
                          </a:solidFill>
                          <a:latin typeface="Times New Roman"/>
                        </a:defRPr>
                      </a:pPr>
                      <a:r>
                        <a:t>Feature converter, train Markov (baseline) + XGBoost (main), evaluate accuracy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22222"/>
                          </a:solidFill>
                          <a:latin typeface="Times New Roman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22222"/>
                          </a:solidFill>
                          <a:latin typeface="Times New Roman"/>
                        </a:defRPr>
                      </a:pPr>
                      <a:r>
                        <a:t>Memory Simulator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22222"/>
                          </a:solidFill>
                          <a:latin typeface="Times New Roman"/>
                        </a:defRPr>
                      </a:pPr>
                      <a:r>
                        <a:t>Memory state tracker, 3 baseline policies + our proposed system, initial results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22222"/>
                          </a:solidFill>
                          <a:latin typeface="Times New Roman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22222"/>
                          </a:solidFill>
                          <a:latin typeface="Times New Roman"/>
                        </a:defRPr>
                      </a:pPr>
                      <a:r>
                        <a:t>Benchmarking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22222"/>
                          </a:solidFill>
                          <a:latin typeface="Times New Roman"/>
                        </a:defRPr>
                      </a:pPr>
                      <a:r>
                        <a:t>Run 1,800 benchmarks + 2,700 ablation experiments, statistical validation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22222"/>
                          </a:solidFill>
                          <a:latin typeface="Times New Roman"/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22222"/>
                          </a:solidFill>
                          <a:latin typeface="Times New Roman"/>
                        </a:defRPr>
                      </a:pPr>
                      <a:r>
                        <a:t>Visualization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22222"/>
                          </a:solidFill>
                          <a:latin typeface="Times New Roman"/>
                        </a:defRPr>
                      </a:pPr>
                      <a:r>
                        <a:t>Publication-quality charts, Streamlit dashboard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22222"/>
                          </a:solidFill>
                          <a:latin typeface="Times New Roman"/>
                        </a:defRPr>
                      </a:pPr>
                      <a:r>
                        <a:t>6–7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22222"/>
                          </a:solidFill>
                          <a:latin typeface="Times New Roman"/>
                        </a:defRPr>
                      </a:pPr>
                      <a:r>
                        <a:t>Patent Filing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22222"/>
                          </a:solidFill>
                          <a:latin typeface="Times New Roman"/>
                        </a:defRPr>
                      </a:pPr>
                      <a:r>
                        <a:t>Write patent spec, prior art search, file with Indian Patent Office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22222"/>
                          </a:solidFill>
                          <a:latin typeface="Times New Roman"/>
                        </a:defRPr>
                      </a:pPr>
                      <a:r>
                        <a:t>8–9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22222"/>
                          </a:solidFill>
                          <a:latin typeface="Times New Roman"/>
                        </a:defRPr>
                      </a:pPr>
                      <a:r>
                        <a:t>IEEE Paper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22222"/>
                          </a:solidFill>
                          <a:latin typeface="Times New Roman"/>
                        </a:defRPr>
                      </a:pPr>
                      <a:r>
                        <a:t>6-page LaTeX paper, capstone report, submit to conference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40080" y="4023360"/>
          <a:ext cx="10972800" cy="27797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/>
                <a:gridCol w="3657600"/>
                <a:gridCol w="3657600"/>
              </a:tblGrid>
              <a:tr h="347472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000000"/>
                          </a:solidFill>
                          <a:latin typeface="Times New Roman"/>
                        </a:defRPr>
                      </a:pPr>
                      <a:r>
                        <a:t>Component</a:t>
                      </a:r>
                    </a:p>
                  </a:txBody>
                  <a:tcP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000000"/>
                          </a:solidFill>
                          <a:latin typeface="Times New Roman"/>
                        </a:defRPr>
                      </a:pPr>
                      <a:r>
                        <a:t>Technology</a:t>
                      </a:r>
                    </a:p>
                  </a:txBody>
                  <a:tcP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000000"/>
                          </a:solidFill>
                          <a:latin typeface="Times New Roman"/>
                        </a:defRPr>
                      </a:pPr>
                      <a:r>
                        <a:t>Why This</a:t>
                      </a:r>
                    </a:p>
                  </a:txBody>
                  <a:tcPr>
                    <a:solidFill>
                      <a:srgbClr val="DDDDDD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22222"/>
                          </a:solidFill>
                          <a:latin typeface="Times New Roman"/>
                        </a:defRPr>
                      </a:pPr>
                      <a:r>
                        <a:t>Language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22222"/>
                          </a:solidFill>
                          <a:latin typeface="Times New Roman"/>
                        </a:defRPr>
                      </a:pPr>
                      <a:r>
                        <a:t>Python 3.10+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22222"/>
                          </a:solidFill>
                          <a:latin typeface="Times New Roman"/>
                        </a:defRPr>
                      </a:pPr>
                      <a:r>
                        <a:t>Best ecosystem for ML and data science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22222"/>
                          </a:solidFill>
                          <a:latin typeface="Times New Roman"/>
                        </a:defRPr>
                      </a:pPr>
                      <a:r>
                        <a:t>ML Model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22222"/>
                          </a:solidFill>
                          <a:latin typeface="Times New Roman"/>
                        </a:defRPr>
                      </a:pPr>
                      <a:r>
                        <a:t>XGBoost + scikit-learn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22222"/>
                          </a:solidFill>
                          <a:latin typeface="Times New Roman"/>
                        </a:defRPr>
                      </a:pPr>
                      <a:r>
                        <a:t>Fast inference, no GPU, interpretable feature importance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22222"/>
                          </a:solidFill>
                          <a:latin typeface="Times New Roman"/>
                        </a:defRPr>
                      </a:pPr>
                      <a:r>
                        <a:t>Data Processing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22222"/>
                          </a:solidFill>
                          <a:latin typeface="Times New Roman"/>
                        </a:defRPr>
                      </a:pPr>
                      <a:r>
                        <a:t>pandas + numpy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22222"/>
                          </a:solidFill>
                          <a:latin typeface="Times New Roman"/>
                        </a:defRPr>
                      </a:pPr>
                      <a:r>
                        <a:t>Industry standard for tabular data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22222"/>
                          </a:solidFill>
                          <a:latin typeface="Times New Roman"/>
                        </a:defRPr>
                      </a:pPr>
                      <a:r>
                        <a:t>Statistics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22222"/>
                          </a:solidFill>
                          <a:latin typeface="Times New Roman"/>
                        </a:defRPr>
                      </a:pPr>
                      <a:r>
                        <a:t>scipy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22222"/>
                          </a:solidFill>
                          <a:latin typeface="Times New Roman"/>
                        </a:defRPr>
                      </a:pPr>
                      <a:r>
                        <a:t>Paired t-tests, p-value computation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22222"/>
                          </a:solidFill>
                          <a:latin typeface="Times New Roman"/>
                        </a:defRPr>
                      </a:pPr>
                      <a:r>
                        <a:t>Charts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22222"/>
                          </a:solidFill>
                          <a:latin typeface="Times New Roman"/>
                        </a:defRPr>
                      </a:pPr>
                      <a:r>
                        <a:t>matplotlib + seaborn + plotly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22222"/>
                          </a:solidFill>
                          <a:latin typeface="Times New Roman"/>
                        </a:defRPr>
                      </a:pPr>
                      <a:r>
                        <a:t>Publication-quality static + interactive figures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22222"/>
                          </a:solidFill>
                          <a:latin typeface="Times New Roman"/>
                        </a:defRPr>
                      </a:pPr>
                      <a:r>
                        <a:t>Dashboard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22222"/>
                          </a:solidFill>
                          <a:latin typeface="Times New Roman"/>
                        </a:defRPr>
                      </a:pPr>
                      <a:r>
                        <a:t>Streamlit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22222"/>
                          </a:solidFill>
                          <a:latin typeface="Times New Roman"/>
                        </a:defRPr>
                      </a:pPr>
                      <a:r>
                        <a:t>Rapid prototyping of interactive web apps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22222"/>
                          </a:solidFill>
                          <a:latin typeface="Times New Roman"/>
                        </a:defRPr>
                      </a:pPr>
                      <a:r>
                        <a:t>Database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22222"/>
                          </a:solidFill>
                          <a:latin typeface="Times New Roman"/>
                        </a:defRPr>
                      </a:pPr>
                      <a:r>
                        <a:t>SQLite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22222"/>
                          </a:solidFill>
                          <a:latin typeface="Times New Roman"/>
                        </a:defRPr>
                      </a:pPr>
                      <a:r>
                        <a:t>Lightweight, zero-config, single-file database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11338560" y="6400800"/>
            <a:ext cx="640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AAAAAA"/>
                </a:solidFill>
                <a:latin typeface="Times New Roman"/>
              </a:defRPr>
            </a:pPr>
            <a: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00000"/>
                </a:solidFill>
                <a:latin typeface="Times New Roman"/>
              </a:defRPr>
            </a:pPr>
            <a:r>
              <a:t>11. References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914400"/>
            <a:ext cx="10972800" cy="1905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10972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000">
                <a:solidFill>
                  <a:srgbClr val="222222"/>
                </a:solidFill>
                <a:latin typeface="Times New Roman"/>
              </a:defRPr>
            </a:pPr>
            <a:r>
              <a:t>[1] C. Shin, J.-H. Hong, A. K. Dey, "Understanding and Prediction of Mobile Application Usage," ACM UbiComp, 2012. DOI: 10.1145/2370216.2370241</a:t>
            </a:r>
          </a:p>
          <a:p>
            <a:pPr>
              <a:spcAft>
                <a:spcPts val="400"/>
              </a:spcAft>
              <a:defRPr sz="1000">
                <a:solidFill>
                  <a:srgbClr val="222222"/>
                </a:solidFill>
                <a:latin typeface="Times New Roman"/>
              </a:defRPr>
            </a:pPr>
            <a:r>
              <a:t>[2] Z. Huang, T. Li et al., "Predicting Mobile App Usage with Context-Aware Dynamic Hypergraphs," IEEE TMC, vol. 24, 2025. DOI: 10.1109/TMC.2024.3521876</a:t>
            </a:r>
          </a:p>
          <a:p>
            <a:pPr>
              <a:spcAft>
                <a:spcPts val="400"/>
              </a:spcAft>
              <a:defRPr sz="1000">
                <a:solidFill>
                  <a:srgbClr val="222222"/>
                </a:solidFill>
                <a:latin typeface="Times New Roman"/>
              </a:defRPr>
            </a:pPr>
            <a:r>
              <a:t>[3] S. Zhao et al., "AppUsage2Vec: Modeling Smartphone App Usage for Prediction," IEEE ICDE, pp. 1322–1333, 2019. DOI: 10.1109/ICDE.2019.00120</a:t>
            </a:r>
          </a:p>
          <a:p>
            <a:pPr>
              <a:spcAft>
                <a:spcPts val="400"/>
              </a:spcAft>
              <a:defRPr sz="1000">
                <a:solidFill>
                  <a:srgbClr val="222222"/>
                </a:solidFill>
                <a:latin typeface="Times New Roman"/>
              </a:defRPr>
            </a:pPr>
            <a:r>
              <a:t>[4] S. Zhao, J. Xu et al., "Context-Aware Mobile App Prediction via Deep Sequential Learning," ACM UbiComp, 2023. DOI: 10.1145/3594739.3610680</a:t>
            </a:r>
          </a:p>
          <a:p>
            <a:pPr>
              <a:spcAft>
                <a:spcPts val="400"/>
              </a:spcAft>
              <a:defRPr sz="1000">
                <a:solidFill>
                  <a:srgbClr val="222222"/>
                </a:solidFill>
                <a:latin typeface="Times New Roman"/>
              </a:defRPr>
            </a:pPr>
            <a:r>
              <a:t>[5] H. Pan, C. Xu, Y. Zhang, "DeepApp: Predicting Personalized Smartphone App Usage," ACM TIST, vol. 14, 2023. DOI: 10.1145/3568684</a:t>
            </a:r>
          </a:p>
          <a:p>
            <a:pPr>
              <a:spcAft>
                <a:spcPts val="400"/>
              </a:spcAft>
              <a:defRPr sz="1000">
                <a:solidFill>
                  <a:srgbClr val="222222"/>
                </a:solidFill>
                <a:latin typeface="Times New Roman"/>
              </a:defRPr>
            </a:pPr>
            <a:r>
              <a:t>[6] Google AOSP, "Low Memory Killer Daemon (lmkd)," 2024. URL: https://source.android.com/docs/core/perf/lmkd</a:t>
            </a:r>
          </a:p>
          <a:p>
            <a:pPr>
              <a:spcAft>
                <a:spcPts val="400"/>
              </a:spcAft>
              <a:defRPr sz="1000">
                <a:solidFill>
                  <a:srgbClr val="222222"/>
                </a:solidFill>
                <a:latin typeface="Times New Roman"/>
              </a:defRPr>
            </a:pPr>
            <a:r>
              <a:t>[7] S. Lee, J. Kim, H. Bahn, "SWAM: Revisiting Swap and OOM for Mobile Devices," Samsung Research, MobiSys Workshop, 2023. DOI: 10.1145/3591197.3593422</a:t>
            </a:r>
          </a:p>
          <a:p>
            <a:pPr>
              <a:spcAft>
                <a:spcPts val="400"/>
              </a:spcAft>
              <a:defRPr sz="1000">
                <a:solidFill>
                  <a:srgbClr val="222222"/>
                </a:solidFill>
                <a:latin typeface="Times New Roman"/>
              </a:defRPr>
            </a:pPr>
            <a:r>
              <a:t>[8] Y. Chen, L. Yang, W. Zhang, "Memory-Efficient Mobile App Management via Predictive Caching," IEEE Access, vol. 12, 2024. DOI: 10.1109/ACCESS.2024.3372104</a:t>
            </a:r>
          </a:p>
          <a:p>
            <a:pPr>
              <a:spcAft>
                <a:spcPts val="400"/>
              </a:spcAft>
              <a:defRPr sz="1000">
                <a:solidFill>
                  <a:srgbClr val="222222"/>
                </a:solidFill>
                <a:latin typeface="Times New Roman"/>
              </a:defRPr>
            </a:pPr>
            <a:r>
              <a:t>[9] Android Developers, "App Standby Buckets," 2024. URL: https://developer.android.com/topic/performance/appstandby</a:t>
            </a:r>
          </a:p>
          <a:p>
            <a:pPr>
              <a:spcAft>
                <a:spcPts val="400"/>
              </a:spcAft>
              <a:defRPr sz="1000">
                <a:solidFill>
                  <a:srgbClr val="222222"/>
                </a:solidFill>
                <a:latin typeface="Times New Roman"/>
              </a:defRPr>
            </a:pPr>
            <a:r>
              <a:t>[10] J. Park, Y. Lee, S. Ha, "Learning-Based Memory Management for Mobile Devices," IEEE/ACM MICRO, 2023. DOI: 10.1145/3613424.3614274</a:t>
            </a:r>
          </a:p>
          <a:p>
            <a:pPr>
              <a:spcAft>
                <a:spcPts val="400"/>
              </a:spcAft>
              <a:defRPr sz="1000">
                <a:solidFill>
                  <a:srgbClr val="222222"/>
                </a:solidFill>
                <a:latin typeface="Times New Roman"/>
              </a:defRPr>
            </a:pPr>
            <a:r>
              <a:t>[11] T. Chen, C. Guestrin, "XGBoost: A Scalable Tree Boosting System," ACM SIGKDD, pp. 785–794, 2016. DOI: 10.1145/2939672.2939785</a:t>
            </a:r>
          </a:p>
          <a:p>
            <a:pPr>
              <a:spcAft>
                <a:spcPts val="400"/>
              </a:spcAft>
              <a:defRPr sz="1000">
                <a:solidFill>
                  <a:srgbClr val="222222"/>
                </a:solidFill>
                <a:latin typeface="Times New Roman"/>
              </a:defRPr>
            </a:pPr>
            <a:r>
              <a:t>[12] E. Ipek, O. Mutlu, J. F. Martinez, "Self-Optimizing Memory Controllers: A RL Approach," IEEE/ACM ISCA, 2008. DOI: 10.1109/ISCA.2008.21</a:t>
            </a:r>
          </a:p>
          <a:p>
            <a:pPr>
              <a:spcAft>
                <a:spcPts val="400"/>
              </a:spcAft>
              <a:defRPr sz="1000">
                <a:solidFill>
                  <a:srgbClr val="222222"/>
                </a:solidFill>
                <a:latin typeface="Times New Roman"/>
              </a:defRPr>
            </a:pPr>
            <a:r>
              <a:t>[13] Z. Shi, X. Huang, A. Jain, "Applying Deep Learning to Data Prefetching," IEEE/ACM MICRO, 2023. DOI: 10.1145/3613424.3614259</a:t>
            </a:r>
          </a:p>
          <a:p>
            <a:pPr>
              <a:spcAft>
                <a:spcPts val="400"/>
              </a:spcAft>
              <a:defRPr sz="1000">
                <a:solidFill>
                  <a:srgbClr val="222222"/>
                </a:solidFill>
                <a:latin typeface="Times New Roman"/>
              </a:defRPr>
            </a:pPr>
            <a:r>
              <a:t>[14] M. Hashemi, K. Swersky et al., "Learning Memory Access Patterns," ICML, PMLR 80:1919–1928, 2018. arXiv: 1803.02329</a:t>
            </a:r>
          </a:p>
          <a:p>
            <a:pPr>
              <a:spcAft>
                <a:spcPts val="400"/>
              </a:spcAft>
              <a:defRPr sz="1000">
                <a:solidFill>
                  <a:srgbClr val="222222"/>
                </a:solidFill>
                <a:latin typeface="Times New Roman"/>
              </a:defRPr>
            </a:pPr>
            <a:r>
              <a:t>[15] J. Lin, W.-M. Chen, S. Han, "MCUNet: Tiny Deep Learning on IoT Devices," NeurIPS, 2020. arXiv: 2007.10319</a:t>
            </a:r>
          </a:p>
          <a:p>
            <a:pPr>
              <a:spcAft>
                <a:spcPts val="400"/>
              </a:spcAft>
              <a:defRPr sz="1000">
                <a:solidFill>
                  <a:srgbClr val="222222"/>
                </a:solidFill>
                <a:latin typeface="Times New Roman"/>
              </a:defRPr>
            </a:pPr>
            <a:r>
              <a:t>[16] S. Laskaridis et al., "Adaptive Inference through Early-Exit Networks," ACM MobiSys, 2024. DOI: 10.1145/3643832.3661880</a:t>
            </a:r>
          </a:p>
          <a:p>
            <a:pPr>
              <a:spcAft>
                <a:spcPts val="400"/>
              </a:spcAft>
              <a:defRPr sz="1000">
                <a:solidFill>
                  <a:srgbClr val="222222"/>
                </a:solidFill>
                <a:latin typeface="Times New Roman"/>
              </a:defRPr>
            </a:pPr>
            <a:r>
              <a:t>[17] Q. He, Y. Chen et al., "On-Device LLM Inference: Memory Optimization for Mobile," IEEE Edge Computing, 2025. DOI: 10.1109/SEC62691.2025.00032</a:t>
            </a:r>
          </a:p>
          <a:p>
            <a:pPr>
              <a:spcAft>
                <a:spcPts val="400"/>
              </a:spcAft>
              <a:defRPr sz="1000">
                <a:solidFill>
                  <a:srgbClr val="222222"/>
                </a:solidFill>
                <a:latin typeface="Times New Roman"/>
              </a:defRPr>
            </a:pPr>
            <a:r>
              <a:t>[18] A. Dhakal, S. Kulkarni, I. Stoica, "mLLM: On-Device LLM Serving," USENIX OSDI, 2025. URL: https://www.usenix.org/conference/osdi25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0" y="6035040"/>
            <a:ext cx="4846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600" b="1">
                <a:solidFill>
                  <a:srgbClr val="000000"/>
                </a:solidFill>
                <a:latin typeface="Times New Roman"/>
              </a:defRPr>
            </a:pPr>
            <a:r>
              <a:t>Thank You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400800"/>
            <a:ext cx="640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AAAAAA"/>
                </a:solidFill>
                <a:latin typeface="Times New Roman"/>
              </a:defRPr>
            </a:pPr>
            <a:r>
              <a:t>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