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45/3591197.3593422" TargetMode="External"/><Relationship Id="rId13" Type="http://schemas.openxmlformats.org/officeDocument/2006/relationships/hyperlink" Target="https://doi.org/10.1109/ISCA.2008.21" TargetMode="External"/><Relationship Id="rId18" Type="http://schemas.openxmlformats.org/officeDocument/2006/relationships/hyperlink" Target="https://doi.org/10.1109/SEC62691.2025.00032" TargetMode="External"/><Relationship Id="rId3" Type="http://schemas.openxmlformats.org/officeDocument/2006/relationships/hyperlink" Target="https://doi.org/10.1109/TMC.2024.3521876" TargetMode="External"/><Relationship Id="rId7" Type="http://schemas.openxmlformats.org/officeDocument/2006/relationships/hyperlink" Target="https://source.android.com/docs/core/perf/lmkd" TargetMode="External"/><Relationship Id="rId12" Type="http://schemas.openxmlformats.org/officeDocument/2006/relationships/hyperlink" Target="https://doi.org/10.1145/2939672.2939785" TargetMode="External"/><Relationship Id="rId17" Type="http://schemas.openxmlformats.org/officeDocument/2006/relationships/hyperlink" Target="https://doi.org/10.1145/3643832.3661880" TargetMode="External"/><Relationship Id="rId2" Type="http://schemas.openxmlformats.org/officeDocument/2006/relationships/hyperlink" Target="https://doi.org/10.1145/2370216.2370241" TargetMode="External"/><Relationship Id="rId16" Type="http://schemas.openxmlformats.org/officeDocument/2006/relationships/hyperlink" Target="https://arxiv.org/abs/2007.10319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45/3568684" TargetMode="External"/><Relationship Id="rId11" Type="http://schemas.openxmlformats.org/officeDocument/2006/relationships/hyperlink" Target="https://doi.org/10.1145/3613424.3614274" TargetMode="External"/><Relationship Id="rId5" Type="http://schemas.openxmlformats.org/officeDocument/2006/relationships/hyperlink" Target="https://doi.org/10.1145/3594739.3610680" TargetMode="External"/><Relationship Id="rId15" Type="http://schemas.openxmlformats.org/officeDocument/2006/relationships/hyperlink" Target="https://arxiv.org/abs/1803.02329" TargetMode="External"/><Relationship Id="rId10" Type="http://schemas.openxmlformats.org/officeDocument/2006/relationships/hyperlink" Target="https://developer.android.com/topic/performance/appstandby" TargetMode="External"/><Relationship Id="rId19" Type="http://schemas.openxmlformats.org/officeDocument/2006/relationships/hyperlink" Target="https://www.usenix.org/conference/osdi25" TargetMode="External"/><Relationship Id="rId4" Type="http://schemas.openxmlformats.org/officeDocument/2006/relationships/hyperlink" Target="https://doi.org/10.1109/ICDE.2019.00120" TargetMode="External"/><Relationship Id="rId9" Type="http://schemas.openxmlformats.org/officeDocument/2006/relationships/hyperlink" Target="https://doi.org/10.1109/ACCESS.2024.3372104" TargetMode="External"/><Relationship Id="rId14" Type="http://schemas.openxmlformats.org/officeDocument/2006/relationships/hyperlink" Target="https://doi.org/10.1145/3613424.3614259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6840" y="12801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Times New Roman"/>
              </a:defRPr>
            </a:pPr>
            <a:r>
              <a:rPr dirty="0"/>
              <a:t>Leveraging User Context Prediction for</a:t>
            </a:r>
            <a:br>
              <a:rPr dirty="0"/>
            </a:br>
            <a:r>
              <a:rPr dirty="0"/>
              <a:t>Adaptive Memory Management in</a:t>
            </a:r>
            <a:br>
              <a:rPr dirty="0"/>
            </a:br>
            <a:r>
              <a:rPr dirty="0"/>
              <a:t>AI-Heavy Mobile Environments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926080"/>
            <a:ext cx="667512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0" y="32004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>
                <a:solidFill>
                  <a:srgbClr val="222222"/>
                </a:solidFill>
                <a:latin typeface="Times New Roman"/>
              </a:defRPr>
            </a:pPr>
            <a:r>
              <a:t>Capstone Project — Project-I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931920"/>
            <a:ext cx="66751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Presented By:</a:t>
            </a:r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[</a:t>
            </a:r>
            <a:r>
              <a:rPr lang="en-IN" dirty="0"/>
              <a:t>Atharv Sinha</a:t>
            </a:r>
            <a:r>
              <a:rPr dirty="0"/>
              <a:t>] — [</a:t>
            </a:r>
            <a:r>
              <a:rPr lang="en-IN" dirty="0"/>
              <a:t>23BLC1281]</a:t>
            </a:r>
            <a:endParaRPr dirty="0"/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[</a:t>
            </a:r>
            <a:r>
              <a:rPr lang="en-IN" dirty="0"/>
              <a:t>Aviral Khandelwal</a:t>
            </a:r>
            <a:r>
              <a:rPr dirty="0"/>
              <a:t>] — [</a:t>
            </a:r>
            <a:r>
              <a:rPr lang="en-IN" dirty="0"/>
              <a:t>23BLC1214]</a:t>
            </a:r>
            <a:endParaRPr dirty="0"/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[</a:t>
            </a:r>
            <a:r>
              <a:rPr lang="en-IN" dirty="0"/>
              <a:t>Devashish Sharma</a:t>
            </a:r>
            <a:r>
              <a:rPr dirty="0"/>
              <a:t>] — [</a:t>
            </a:r>
            <a:r>
              <a:rPr lang="en-IN" dirty="0"/>
              <a:t>23BLC1228</a:t>
            </a:r>
            <a:r>
              <a:rPr dirty="0"/>
              <a:t>]</a:t>
            </a:r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endParaRPr dirty="0"/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Guide:</a:t>
            </a:r>
            <a:r>
              <a:rPr lang="en-IN" dirty="0"/>
              <a:t>[Dr. Shivani Gupta</a:t>
            </a:r>
            <a:r>
              <a:rPr dirty="0"/>
              <a:t>], [</a:t>
            </a:r>
            <a:r>
              <a:rPr lang="en-IN" dirty="0"/>
              <a:t>Scope</a:t>
            </a:r>
            <a:r>
              <a:rPr dirty="0"/>
              <a:t>]</a:t>
            </a:r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[</a:t>
            </a:r>
            <a:r>
              <a:rPr lang="en-IN" dirty="0"/>
              <a:t>Vellore Institute of Technology</a:t>
            </a:r>
            <a:r>
              <a:rPr dirty="0"/>
              <a:t>], [</a:t>
            </a:r>
            <a:r>
              <a:rPr lang="en-IN" dirty="0"/>
              <a:t>Chennai</a:t>
            </a:r>
            <a:r>
              <a:rPr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035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i="1">
                <a:solidFill>
                  <a:srgbClr val="AAAAAA"/>
                </a:solidFill>
                <a:latin typeface="Times New Roman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1. The Problem — Why Current Phones Struggle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Modern phones have 4–8 GB RAM but run AI-heavy apps (camera AI, translation, LLMs) alongside regular apps.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Current memory management is reactive — it only acts AFTER memory is already full, not BEFORE.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21208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2039112"/>
            <a:ext cx="5065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How Android Does It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4992624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LRU (Least Recently Used): </a:t>
            </a:r>
            <a:r>
              <a:rPr sz="1200">
                <a:solidFill>
                  <a:srgbClr val="555555"/>
                </a:solidFill>
                <a:latin typeface="Times New Roman"/>
              </a:rPr>
              <a:t>removes whichever app you haven't touched the longest — even if you're about to use it in 2 minutes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LMKD (Low Memory Killer): </a:t>
            </a:r>
            <a:r>
              <a:rPr sz="1200">
                <a:solidFill>
                  <a:srgbClr val="555555"/>
                </a:solidFill>
                <a:latin typeface="Times New Roman"/>
              </a:rPr>
              <a:t>kills apps only when RAM is critically low — by then it's already too late, you see the lag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App Standby Buckets: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groups apps as active/rare but updates only once per hour — too slow to 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01168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2011680"/>
            <a:ext cx="557784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8192" y="2039112"/>
            <a:ext cx="5431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What Goes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2377440"/>
            <a:ext cx="5358383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Cold Start: </a:t>
            </a:r>
            <a:r>
              <a:rPr sz="1200">
                <a:solidFill>
                  <a:srgbClr val="555555"/>
                </a:solidFill>
                <a:latin typeface="Times New Roman"/>
              </a:rPr>
              <a:t>app was removed → must reload from disk → 1–3 seconds of waiting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AI App Cold Start: </a:t>
            </a:r>
            <a:r>
              <a:rPr sz="1200">
                <a:solidFill>
                  <a:srgbClr val="555555"/>
                </a:solidFill>
                <a:latin typeface="Times New Roman"/>
              </a:rPr>
              <a:t>even worse → 3–6 seconds because AI models are 300 MB – 4 GB each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Memory Thrashing: </a:t>
            </a:r>
            <a:r>
              <a:rPr sz="1200">
                <a:solidFill>
                  <a:srgbClr val="555555"/>
                </a:solidFill>
                <a:latin typeface="Times New Roman"/>
              </a:rPr>
              <a:t>phone keeps removing and reloading the same apps in a loop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Battery Drain: </a:t>
            </a:r>
            <a:r>
              <a:rPr sz="1200">
                <a:solidFill>
                  <a:srgbClr val="555555"/>
                </a:solidFill>
                <a:latin typeface="Times New Roman"/>
              </a:rPr>
              <a:t>8–15% extra battery wasted on redundant disk reads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81796"/>
            <a:ext cx="10972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1" y="4416552"/>
            <a:ext cx="10826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The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54880"/>
            <a:ext cx="10753344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Users switch apps ~65 times/day. Each switch is a chance for the phone to make a wrong eviction decision.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On-device AI market is $46.7B by 2027 — AI apps are getting bigger and more common, making this worse.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endParaRPr/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2222"/>
                </a:solidFill>
                <a:latin typeface="Times New Roman"/>
              </a:rPr>
              <a:t>Our Idea: </a:t>
            </a:r>
            <a:r>
              <a:rPr sz="1300">
                <a:solidFill>
                  <a:srgbClr val="555555"/>
                </a:solidFill>
                <a:latin typeface="Times New Roman"/>
              </a:rPr>
              <a:t>What if the phone could PREDICT which app you'll open next, and keep it ready in memory?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2222"/>
                </a:solidFill>
                <a:latin typeface="Times New Roman"/>
              </a:rPr>
              <a:t>How: </a:t>
            </a:r>
            <a:r>
              <a:rPr sz="1300">
                <a:solidFill>
                  <a:srgbClr val="555555"/>
                </a:solidFill>
                <a:latin typeface="Times New Roman"/>
              </a:rPr>
              <a:t>Use an ML model (XGBoost) that looks at time of day, which apps you used recently, battery, RAM — 19 signals total — and predicts the next app with 70–80% accuracy. Feed this prediction INTO the eviction scoring formula.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2. What Others Have Done — And What's Missing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6656" y="1351296"/>
            <a:ext cx="5303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0352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216152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App Prediction Research (Papers 1–5)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508406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Shin et al. (2012):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predicted next app using Naive Bayes — 72% accuracy, but never used it for memory management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Xu et al. (2024):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Graph Neural Networks — 78% accuracy, but needs GPU → too heavy for real-time mobile use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Zhao et al. (2023):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LSTM with context — 74%, but deep learning overhead makes it slow (~15ms per prediction)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Pan et al. (2023):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multi-task learning — good accuracy but impossible to train on-device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  <a:latin typeface="Times New Roman"/>
              </a:defRPr>
            </a:pPr>
            <a:endParaRPr sz="1100" dirty="0">
              <a:solidFill>
                <a:srgbClr val="555555"/>
              </a:solidFill>
              <a:latin typeface="Times New Roman"/>
            </a:endParaRP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Gap: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Good prediction exists, but nobody connected it to memory management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39496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216152"/>
            <a:ext cx="5248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Memory Management Research (Papers 6–10)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554480"/>
            <a:ext cx="517550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Android LMKD (2024):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PSI + priority scores — reactive only, no prediction at all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Samsung SWAM (2023):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improved OOM killer — but uses static costs, no ML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Chen et al. (2024):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frequency-based caching — 22% fewer cold starts, but ignores context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Park et al. (2023):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RL-based approach — needs online interaction, fragile in practice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  <a:latin typeface="Times New Roman"/>
              </a:defRPr>
            </a:pPr>
            <a:endParaRPr sz="1100">
              <a:solidFill>
                <a:srgbClr val="555555"/>
              </a:solidFill>
              <a:latin typeface="Times New Roman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Gap: </a:t>
            </a:r>
            <a:r>
              <a:rPr sz="1100">
                <a:solidFill>
                  <a:srgbClr val="555555"/>
                </a:solidFill>
                <a:latin typeface="Times New Roman"/>
              </a:rPr>
              <a:t>Memory research is stuck on reactive or simple frequency-based approaches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530352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1" y="3867912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ML for Systems (Papers 11–14)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206240"/>
            <a:ext cx="5084064" cy="184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XGBoost (2016):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fast, interpretable, no GPU — our chosen model framework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Ipek et al. (2008):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RL for DRAM scheduling — hardware-level, not app-level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Hashemi et al. (2018):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LSTM for CPU cache prefetching — hardware L1/L2 only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  <a:latin typeface="Times New Roman"/>
              </a:defRPr>
            </a:pPr>
            <a:endParaRPr sz="1100">
              <a:solidFill>
                <a:srgbClr val="555555"/>
              </a:solidFill>
              <a:latin typeface="Times New Roman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Gap: </a:t>
            </a:r>
            <a:r>
              <a:rPr sz="1100">
                <a:solidFill>
                  <a:srgbClr val="555555"/>
                </a:solidFill>
                <a:latin typeface="Times New Roman"/>
              </a:rPr>
              <a:t>ML is used for hardware caches but NOT for app-level process cache in mobile 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84048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539496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9632" y="3867912"/>
            <a:ext cx="5248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On-Device AI (Papers 15–18)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4206240"/>
            <a:ext cx="5175504" cy="184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MCUNet (2020):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tiny ML for IoT — focuses on model architecture, not OS memory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He et al. (2025):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LLM memory optimization — single model only, not multi-app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Dhakal et al. (2025):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elastic LLM serving — complementary but single workload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  <a:latin typeface="Times New Roman"/>
              </a:defRPr>
            </a:pPr>
            <a:endParaRPr sz="1100">
              <a:solidFill>
                <a:srgbClr val="555555"/>
              </a:solidFill>
              <a:latin typeface="Times New Roman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Times New Roman"/>
              </a:rPr>
              <a:t>THE GAP: </a:t>
            </a:r>
            <a:r>
              <a:rPr sz="1100">
                <a:solidFill>
                  <a:srgbClr val="555555"/>
                </a:solidFill>
                <a:latin typeface="Times New Roman"/>
              </a:rPr>
              <a:t>Nobody combines ML prediction confidence as a factor in cache eviction + preload gating + thrashing detection — all together for AI-heavy mobile environments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3. Our Approach — Predict, Decide, 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965405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Every time the user switches apps, our system runs a 5-stage pipeline in under 5 milliseconds:</a:t>
            </a:r>
          </a:p>
        </p:txBody>
      </p:sp>
      <p:pic>
        <p:nvPicPr>
          <p:cNvPr id="5" name="Picture 4" descr="pipelin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0982"/>
            <a:ext cx="10342552" cy="54455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4. How We Decide What to Keep — The Scoring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Every cached app gets a "keep score". Higher score = keep in memory. Lowest score = evict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972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S(a, t) = 0.25 × Recency  +  0.20 × Frequency  +  0.25 × Prediction  +  0.15 × Importance  +  0.15 × Context  −  0.30 × </a:t>
            </a:r>
            <a:r>
              <a:rPr dirty="0" err="1"/>
              <a:t>MemoryPressure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2468879"/>
            <a:ext cx="5486400" cy="314533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548640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2496312"/>
            <a:ext cx="5340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What Each Factor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34640"/>
            <a:ext cx="5266944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Recency (R) — weight 0.25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Did you use this app recently? Uses exponential decay: more recent = higher score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Frequency (F) — weight 0.20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How often do you use this app? Normalized count vs. most-used app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Prediction (P) — weight 0.25  ← OUR KEY INNOVATION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Does the ML model think you'll use this next? This makes eviction FORWARD-LOOKING, not just backward-looking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Importance (I) — weight 0.15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Category-based: WhatsApp/calls = 0.9, games = 0.3, camera AI = 0.85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Context (C) — weight 0.15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Does this app fit the current situation? Maps during commute hours = high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Memory Pressure (M) — penalty 0.30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 dirty="0">
                <a:solidFill>
                  <a:srgbClr val="555555"/>
                </a:solidFill>
                <a:latin typeface="Times New Roman"/>
              </a:rPr>
              <a:t>When RAM is &gt;70% full, this penalty increases — forces more aggressive eviction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468880"/>
            <a:ext cx="5376672" cy="1897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2468880"/>
            <a:ext cx="530352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496312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5-Gate Preload Safety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834640"/>
            <a:ext cx="5084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ALL 5 must be true before pre-loading a predicted app: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  1. </a:t>
            </a:r>
            <a:r>
              <a:rPr sz="1200">
                <a:solidFill>
                  <a:srgbClr val="555555"/>
                </a:solidFill>
                <a:latin typeface="Times New Roman"/>
              </a:rPr>
              <a:t>ML confidence &gt; 60% (we're fairly sure)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  2. </a:t>
            </a:r>
            <a:r>
              <a:rPr sz="1200">
                <a:solidFill>
                  <a:srgbClr val="555555"/>
                </a:solidFill>
                <a:latin typeface="Times New Roman"/>
              </a:rPr>
              <a:t>Enough free RAM (with 500 MB safety headroom)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  3. </a:t>
            </a:r>
            <a:r>
              <a:rPr sz="1200">
                <a:solidFill>
                  <a:srgbClr val="555555"/>
                </a:solidFill>
                <a:latin typeface="Times New Roman"/>
              </a:rPr>
              <a:t>Battery &gt; 20% (don't waste power when low)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  4. </a:t>
            </a:r>
            <a:r>
              <a:rPr sz="1200">
                <a:solidFill>
                  <a:srgbClr val="555555"/>
                </a:solidFill>
                <a:latin typeface="Times New Roman"/>
              </a:rPr>
              <a:t>Thrashing score &lt; 0.7 (system is stable)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  5. </a:t>
            </a:r>
            <a:r>
              <a:rPr sz="1200">
                <a:solidFill>
                  <a:srgbClr val="555555"/>
                </a:solidFill>
                <a:latin typeface="Times New Roman"/>
              </a:rPr>
              <a:t>App not already in memory (no point reloading)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4598670"/>
            <a:ext cx="5303520" cy="177373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82512" y="4598670"/>
            <a:ext cx="530352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4644390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Thrashing Detection &amp; Safe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64430"/>
            <a:ext cx="5084064" cy="932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The system watches for a BAD pattern: removing an app and immediately needing it back.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How: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monitors evictions and reloads in a sliding 120-second window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Score &gt; 0.7: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enters Safe Mode → stops preloading, tightens eviction thresholds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Score &lt; 0.3 for 60s: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exits Safe Mode → back to normal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5. Why We Chose XGBoost (Not Deep Learning)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Markov Chain (Baseline)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XGBoost (Our Choice)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LSTM (Rejected)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Instant (&lt;1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Very fast (~2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Slow (~15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What it knows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Only current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19 signals (time, battery, history...)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Same as 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Can we explain it?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(transition matrix)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(feature importance, SHAP)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 (black 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Needs GPU?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55–65%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70–80%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72–82%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657600"/>
            <a:ext cx="530352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Why NOT LSTM / Deep Learning?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• Only 2% more accurate than </a:t>
            </a:r>
            <a:r>
              <a:rPr sz="1400" dirty="0" err="1"/>
              <a:t>XGBoost</a:t>
            </a:r>
            <a:endParaRPr sz="1400" dirty="0"/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• But 7× slower (15ms vs 2ms per prediction)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• Requires GPU → drains battery, conflicts with user's AI tasks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• Black box → can't explain WHY it predicted something (bad for patent)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endParaRPr sz="1400" dirty="0"/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Why NOT just Markov Chain?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• Ignores everything except current app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• Doesn't know it's 8 AM (commute) or 10 PM (Netflix time)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• 55–65% accuracy is not good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657600"/>
            <a:ext cx="5486400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Our 19 Features (12 raw + 7 derived)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endParaRPr sz="1400" dirty="0"/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Raw: </a:t>
            </a:r>
            <a:r>
              <a:rPr sz="1400" dirty="0" err="1"/>
              <a:t>current_app</a:t>
            </a:r>
            <a:r>
              <a:rPr sz="1400" dirty="0"/>
              <a:t>, prev_app_1, prev_app_2, prev_app_3,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sz="1400" dirty="0" err="1"/>
              <a:t>hour_of_day</a:t>
            </a:r>
            <a:r>
              <a:rPr sz="1400" dirty="0"/>
              <a:t>, </a:t>
            </a:r>
            <a:r>
              <a:rPr sz="1400" dirty="0" err="1"/>
              <a:t>day_of_week</a:t>
            </a:r>
            <a:r>
              <a:rPr sz="1400" dirty="0"/>
              <a:t>, </a:t>
            </a:r>
            <a:r>
              <a:rPr sz="1400" dirty="0" err="1"/>
              <a:t>battery_level</a:t>
            </a:r>
            <a:r>
              <a:rPr sz="1400" dirty="0"/>
              <a:t>, </a:t>
            </a:r>
            <a:r>
              <a:rPr sz="1400" dirty="0" err="1"/>
              <a:t>is_charging</a:t>
            </a:r>
            <a:r>
              <a:rPr sz="1400" dirty="0"/>
              <a:t>,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sz="1400" dirty="0" err="1"/>
              <a:t>ram_free_mb</a:t>
            </a:r>
            <a:r>
              <a:rPr sz="1400" dirty="0"/>
              <a:t>, </a:t>
            </a:r>
            <a:r>
              <a:rPr sz="1400" dirty="0" err="1"/>
              <a:t>network_type</a:t>
            </a:r>
            <a:r>
              <a:rPr sz="1400" dirty="0"/>
              <a:t>, </a:t>
            </a:r>
            <a:r>
              <a:rPr sz="1400" dirty="0" err="1"/>
              <a:t>ai_task_active</a:t>
            </a:r>
            <a:r>
              <a:rPr sz="1400" dirty="0"/>
              <a:t>, </a:t>
            </a:r>
            <a:r>
              <a:rPr sz="1400" dirty="0" err="1"/>
              <a:t>app_category</a:t>
            </a:r>
            <a:endParaRPr sz="1400" dirty="0"/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endParaRPr sz="1400" dirty="0"/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Derived: </a:t>
            </a:r>
            <a:r>
              <a:rPr sz="1400" dirty="0" err="1"/>
              <a:t>ram_utilization</a:t>
            </a:r>
            <a:r>
              <a:rPr sz="1400" dirty="0"/>
              <a:t>, </a:t>
            </a:r>
            <a:r>
              <a:rPr sz="1400" dirty="0" err="1"/>
              <a:t>is_peak_hour</a:t>
            </a:r>
            <a:r>
              <a:rPr sz="1400" dirty="0"/>
              <a:t>, </a:t>
            </a:r>
            <a:r>
              <a:rPr sz="1400" dirty="0" err="1"/>
              <a:t>is_weekend</a:t>
            </a:r>
            <a:r>
              <a:rPr sz="1400" dirty="0"/>
              <a:t>,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sz="1400" dirty="0" err="1"/>
              <a:t>session_depth</a:t>
            </a:r>
            <a:r>
              <a:rPr sz="1400" dirty="0"/>
              <a:t>, </a:t>
            </a:r>
            <a:r>
              <a:rPr sz="1400" dirty="0" err="1"/>
              <a:t>time_since_last_switch</a:t>
            </a:r>
            <a:r>
              <a:rPr sz="1400" dirty="0"/>
              <a:t>, </a:t>
            </a:r>
            <a:r>
              <a:rPr sz="1400" dirty="0" err="1"/>
              <a:t>battery_bucket</a:t>
            </a:r>
            <a:r>
              <a:rPr sz="1400" dirty="0"/>
              <a:t>,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sz="1400" dirty="0" err="1"/>
              <a:t>prev_app_category</a:t>
            </a:r>
            <a:endParaRPr sz="1400" dirty="0"/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endParaRPr sz="1400" dirty="0"/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sz="1400" dirty="0"/>
              <a:t>Training: 5-fold cross-validation, 200 trees, </a:t>
            </a:r>
            <a:r>
              <a:rPr sz="1400" dirty="0" err="1"/>
              <a:t>max_depth</a:t>
            </a:r>
            <a:r>
              <a:rPr sz="1400" dirty="0"/>
              <a:t>=6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-1564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6. System Architecture — End-to-End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462116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ld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54048"/>
            <a:ext cx="9339733" cy="52128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58904"/>
            <a:ext cx="9999406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222222"/>
                </a:solidFill>
                <a:latin typeface="Times New Roman"/>
              </a:rPr>
              <a:t>Flow: 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App switch → Module 1 captures 12 signals → Module 2 predicts next app → Module 3 scores all cached apps &amp; decides evict/preload → Module 4 executes → feeds back to Module 1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22222"/>
                </a:solidFill>
                <a:latin typeface="Times New Roman"/>
              </a:rPr>
              <a:t>Module 5: 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Simulation Engine — replays 50,000 events to benchmark our system vs. baselines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22222"/>
                </a:solidFill>
                <a:latin typeface="Times New Roman"/>
              </a:rPr>
              <a:t>Module 6: </a:t>
            </a:r>
            <a:r>
              <a:rPr sz="1300" dirty="0" err="1">
                <a:solidFill>
                  <a:srgbClr val="555555"/>
                </a:solidFill>
                <a:latin typeface="Times New Roman"/>
              </a:rPr>
              <a:t>Streamlit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 Dashboard — real-time visualization of predictions, memory map, and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8. How Our System Compares — And What Makes It Novel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No Optimization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LRU (Android)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Static Preload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Our System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Eviction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Remove oldest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Remove least recent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LRU + top-3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ML-weighted 6-factor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Knows what you'll use next?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Partially (top-3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(real-time ML prediction)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Adapts to context?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(time, battery, AI state...)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Pre-loads apps?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(but fixed list)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(with 5 safety checks)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Catches bad decisions?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(thrashing → Safe Mode)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Expected cache hit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&gt;75%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Expected app launch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~1200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~900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~750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rPr dirty="0"/>
                        <a:t>&lt;400 </a:t>
                      </a:r>
                      <a:r>
                        <a:rPr dirty="0" err="1"/>
                        <a:t>ms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09160"/>
            <a:ext cx="1097280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22222"/>
                </a:solidFill>
                <a:latin typeface="Times New Roman"/>
              </a:defRPr>
            </a:pPr>
            <a:r>
              <a:rPr sz="1600" dirty="0"/>
              <a:t>4 Novel Contributions (What Makes This Patent-Worthy):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222222"/>
                </a:solidFill>
                <a:latin typeface="Times New Roman"/>
              </a:rPr>
              <a:t>1. Prediction IN the eviction formula: </a:t>
            </a:r>
            <a:r>
              <a:rPr sz="1600" dirty="0">
                <a:solidFill>
                  <a:srgbClr val="555555"/>
                </a:solidFill>
                <a:latin typeface="Times New Roman"/>
              </a:rPr>
              <a:t>first system to use ML confidence as a weighted number in deciding what stays in memory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222222"/>
                </a:solidFill>
                <a:latin typeface="Times New Roman"/>
              </a:rPr>
              <a:t>2. 5-condition preload gate: </a:t>
            </a:r>
            <a:r>
              <a:rPr sz="1600" dirty="0">
                <a:solidFill>
                  <a:srgbClr val="555555"/>
                </a:solidFill>
                <a:latin typeface="Times New Roman"/>
              </a:rPr>
              <a:t>won't blindly preload — checks confidence, RAM, battery, stability, and cache status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222222"/>
                </a:solidFill>
                <a:latin typeface="Times New Roman"/>
              </a:rPr>
              <a:t>3. Automatic thrashing recovery: </a:t>
            </a:r>
            <a:r>
              <a:rPr sz="1600" dirty="0">
                <a:solidFill>
                  <a:srgbClr val="555555"/>
                </a:solidFill>
                <a:latin typeface="Times New Roman"/>
              </a:rPr>
              <a:t>detects when it's making things worse and degrades gracefully to Safe Mode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222222"/>
                </a:solidFill>
                <a:latin typeface="Times New Roman"/>
              </a:rPr>
              <a:t>4. AI-workload awareness: </a:t>
            </a:r>
            <a:r>
              <a:rPr sz="1600" dirty="0">
                <a:solidFill>
                  <a:srgbClr val="555555"/>
                </a:solidFill>
                <a:latin typeface="Times New Roman"/>
              </a:rPr>
              <a:t>gives extra protection to expensive AI model caches (camera AI, LLM weights)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9. How We Prove It Works — Evaluation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79" y="1188720"/>
            <a:ext cx="5425441" cy="276987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0352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216152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Simulation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5084064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Since we can't modify a real Android phone's kernel, we </a:t>
            </a:r>
            <a:r>
              <a:rPr lang="en-IN" dirty="0"/>
              <a:t>will build </a:t>
            </a:r>
            <a:r>
              <a:rPr dirty="0"/>
              <a:t>a simulator</a:t>
            </a:r>
            <a:r>
              <a:rPr lang="en-IN" dirty="0"/>
              <a:t> </a:t>
            </a:r>
            <a:r>
              <a:rPr lang="en-IN" dirty="0" err="1"/>
              <a:t>furst</a:t>
            </a:r>
            <a:r>
              <a:rPr lang="en-IN" dirty="0"/>
              <a:t>.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endParaRPr dirty="0"/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Data: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50,000 synthetic app-switch events across 5 user types (student, professional, casual, power user, developer)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Policies: </a:t>
            </a:r>
            <a:r>
              <a:rPr sz="1200" dirty="0" err="1">
                <a:solidFill>
                  <a:srgbClr val="555555"/>
                </a:solidFill>
                <a:latin typeface="Times New Roman"/>
              </a:rPr>
              <a:t>NoOpt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, LRU, </a:t>
            </a:r>
            <a:r>
              <a:rPr sz="1200" dirty="0" err="1">
                <a:solidFill>
                  <a:srgbClr val="555555"/>
                </a:solidFill>
                <a:latin typeface="Times New Roman"/>
              </a:rPr>
              <a:t>StaticPreload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, Proposed — tested under identical conditions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RAM configs: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4 GB, 6 GB, 8 GB — to test across device tiers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Repetitions: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30 runs per config for statistical significance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Total: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4 × 5 × 3 × 30 = 1,800 benchmark simulations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Stats: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Paired t-test, p &lt; 0.05 — proves the difference is real, not random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39496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216152"/>
            <a:ext cx="5248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What We Measure (5 KPIs)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554480"/>
            <a:ext cx="5175504" cy="212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Cache Hit Rate: </a:t>
            </a:r>
            <a:r>
              <a:rPr sz="1200">
                <a:solidFill>
                  <a:srgbClr val="555555"/>
                </a:solidFill>
                <a:latin typeface="Times New Roman"/>
              </a:rPr>
              <a:t>how often the app is already in memory → target &gt;75%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Avg Launch Latency: </a:t>
            </a:r>
            <a:r>
              <a:rPr sz="1200">
                <a:solidFill>
                  <a:srgbClr val="555555"/>
                </a:solidFill>
                <a:latin typeface="Times New Roman"/>
              </a:rPr>
              <a:t>mean time to open an app → target &lt;400 ms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Thrashing Events: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evict-then-reload-same-app cycles → target &lt;3 per session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Preload Success: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how often a preloaded app was actually used → target &gt;60%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Times New Roman"/>
              </a:rPr>
              <a:t>Prediction Accuracy: </a:t>
            </a:r>
            <a:r>
              <a:rPr sz="1200">
                <a:solidFill>
                  <a:srgbClr val="555555"/>
                </a:solidFill>
                <a:latin typeface="Times New Roman"/>
              </a:rPr>
              <a:t>top-1 correct prediction → target &gt;70%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endParaRPr sz="1200">
              <a:solidFill>
                <a:srgbClr val="555555"/>
              </a:solidFill>
              <a:latin typeface="Times New Roman"/>
            </a:endParaRP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These KPIs directly measure user experience improvement.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79" y="4023360"/>
            <a:ext cx="11050475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4023360"/>
            <a:ext cx="1097280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1" y="4050792"/>
            <a:ext cx="10826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Ablation Study — Which Features Actually Matter?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389120"/>
            <a:ext cx="10753344" cy="184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We remove one feature group at a time to see how much accuracy drops. This proves which signals matter most.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endParaRPr dirty="0"/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Remove app history (prev_app_1/2/3):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biggest drop expected (~10–15%) → proves sequential patterns are the #1 signal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Remove time features (hour, day, peak):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~5–8% drop → proves temporal context matters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Remove device state (battery, RAM):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~2–4% drop → resource state adds value but less than history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Remove categories: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~2–3% drop → minor but helps with unseen app transitions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222222"/>
                </a:solidFill>
                <a:latin typeface="Times New Roman"/>
              </a:rPr>
              <a:t>Keep only </a:t>
            </a:r>
            <a:r>
              <a:rPr sz="1200" b="1" dirty="0" err="1">
                <a:solidFill>
                  <a:srgbClr val="222222"/>
                </a:solidFill>
                <a:latin typeface="Times New Roman"/>
              </a:rPr>
              <a:t>current_app</a:t>
            </a:r>
            <a:r>
              <a:rPr sz="1200" b="1" dirty="0">
                <a:solidFill>
                  <a:srgbClr val="222222"/>
                </a:solidFill>
                <a:latin typeface="Times New Roman"/>
              </a:rPr>
              <a:t>: </a:t>
            </a:r>
            <a:r>
              <a:rPr sz="1200" dirty="0">
                <a:solidFill>
                  <a:srgbClr val="555555"/>
                </a:solidFill>
                <a:latin typeface="Times New Roman"/>
              </a:rPr>
              <a:t>drops to Markov baseline (~60%) → proves multi-feature approach is essential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endParaRPr sz="1200" dirty="0">
              <a:solidFill>
                <a:srgbClr val="555555"/>
              </a:solidFill>
              <a:latin typeface="Times New Roman"/>
            </a:endParaRP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rPr dirty="0"/>
              <a:t>Total ablation experiments: 6 × 5 × 3 × 30 = 2,700 simulations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10. Implementation Timeline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3176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What We Build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Project setup, create 15–20 app profiles, generate 50K synthetic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ML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Feature converter, train Markov (baseline) + XGBoost (main), evaluate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Memory Simulator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Memory state tracker, 3 baseline policies + our proposed system, initial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Run 1,800 benchmarks + 2,700 ablation experiments, statistical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Publication-quality charts, Streamlit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6–7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Patent Filing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Write patent spec, prior art search, file with Indian Patent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8–9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IEEE 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6-page LaTeX paper, capstone report, submit to conference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402336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Why This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Python 3.10+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Best ecosystem for ML and data science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XGBoost + 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Fast inference, no GPU, interpretable feature importance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Data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pandas + 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Industry standard for tabular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scipy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Paired t-tests, p-value computation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matplotlib + seaborn + plotly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Publication-quality static + interactive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Rapid prototyping of interactive web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Lightweight, zero-config, single-file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11.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481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[1] C. Shin, J.-H. Hong, A. K. Dey, "Understanding and Prediction of Mobile Application Usage," ACM 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UbiComp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, 2012.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2"/>
              </a:rPr>
              <a:t>DOI: 10.1145/2370216.2370241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[2] Z. Huang, T. Li et al., "Predicting Mobile App Usage with Context-Aware Dynamic Hypergraphs," IEEE TMC, vol. 24, 2025.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3"/>
              </a:rPr>
              <a:t>DOI: 10.1109/TMC.2024.3521876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[3] S. Zhao et al., "AppUsage2Vec: 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Modeling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 Smartphone App Usage for Prediction," IEEE ICDE, pp. 1322–1333, 2019.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4"/>
              </a:rPr>
              <a:t>DOI: 10.1109/ICDE.2019.00120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[4] S. Zhao, J. Xu et al., "Context-Aware Mobile App Prediction via Deep Sequential Learning," ACM 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UbiComp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, 2023.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5"/>
              </a:rPr>
              <a:t>DOI: 10.1145/3594739.3610680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[5] H. Pan, C. Xu, Y. Zhang, "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DeepApp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: Predicting Personalized Smartphone App Usage," ACM TIST, vol. 14, 2023.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6"/>
              </a:rPr>
              <a:t>DOI: 10.1145/3568684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[6] Google AOSP, "Low Memory Killer Daemon (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lmkd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)," 2024.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7"/>
              </a:rPr>
              <a:t>source.android.com/docs/core/perf/</a:t>
            </a:r>
            <a:r>
              <a:rPr lang="en-IN" sz="1200" u="sng" dirty="0" err="1">
                <a:solidFill>
                  <a:srgbClr val="0055CC"/>
                </a:solidFill>
                <a:latin typeface="Times New Roman"/>
                <a:hlinkClick r:id="rId7"/>
              </a:rPr>
              <a:t>lmkd</a:t>
            </a:r>
            <a:endParaRPr lang="en-IN" sz="1200" u="sng" dirty="0">
              <a:solidFill>
                <a:srgbClr val="0055CC"/>
              </a:solidFill>
              <a:latin typeface="Times New Roman"/>
              <a:hlinkClick r:id="rId7"/>
            </a:endParaRP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[7] S. Lee, J. Kim, H. Bahn, "SWAM: Revisiting Swap and OOM for Mobile," Samsung, 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MobiSys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 Workshop, 2023.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8"/>
              </a:rPr>
              <a:t>DOI: 10.1145/3591197.3593422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[8] Y. Chen, L. Yang, W. Zhang, "Memory-Efficient Mobile App Mgmt. via Predictive Caching," IEEE Access, 2024.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9"/>
              </a:rPr>
              <a:t>DOI: 10.1109/ACCESS.2024.3372104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[9] Android Developers, "App Standby Buckets," 2024.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10"/>
              </a:rPr>
              <a:t>developer.android.com/…/</a:t>
            </a:r>
            <a:r>
              <a:rPr lang="en-IN" sz="1200" u="sng" dirty="0" err="1">
                <a:solidFill>
                  <a:srgbClr val="0055CC"/>
                </a:solidFill>
                <a:latin typeface="Times New Roman"/>
                <a:hlinkClick r:id="rId10"/>
              </a:rPr>
              <a:t>appstandby</a:t>
            </a:r>
            <a:endParaRPr lang="en-IN" sz="1200" u="sng" dirty="0">
              <a:solidFill>
                <a:srgbClr val="0055CC"/>
              </a:solidFill>
              <a:latin typeface="Times New Roman"/>
              <a:hlinkClick r:id="rId10"/>
            </a:endParaRP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[10] J. Park, Y. Lee, S. Ha, "Learning-Based Memory Management for Mobile," IEEE/ACM MICRO, 2023.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11"/>
              </a:rPr>
              <a:t>DOI: 10.1145/3613424.3614274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[11] T. Chen, C. 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Guestrin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, "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XGBoost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: A Scalable Tree Boosting System," ACM SIGKDD, pp. 785–794, 2016.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12"/>
              </a:rPr>
              <a:t>DOI: 10.1145/2939672.2939785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[12] E. Ipek, O. Mutlu, J. F. Martinez, "Self-Optimizing Memory Controllers: A RL Approach," IEEE/ACM ISCA, 2008.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13"/>
              </a:rPr>
              <a:t>DOI: 10.1109/ISCA.2008.21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[13] Z. Shi, X. Huang, A. Jain, "Applying Deep Learning to Data Prefetching," IEEE/ACM MICRO, 2023.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14"/>
              </a:rPr>
              <a:t>DOI: 10.1145/3613424.3614259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[14] M. Hashemi, K. Swersky et al., "Learning Memory Access Patterns," ICML, PMLR 80:1919–1928, 2018.  </a:t>
            </a:r>
            <a:r>
              <a:rPr lang="en-IN" sz="1200" u="sng" dirty="0" err="1">
                <a:solidFill>
                  <a:srgbClr val="0055CC"/>
                </a:solidFill>
                <a:latin typeface="Times New Roman"/>
                <a:hlinkClick r:id="rId15"/>
              </a:rPr>
              <a:t>arXiv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15"/>
              </a:rPr>
              <a:t>: 1803.02329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[15] J. Lin, W.-M. Chen, S. Han, "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MCUNet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: Tiny Deep Learning on IoT Devices," 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NeurIPS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, 2020.  </a:t>
            </a:r>
            <a:r>
              <a:rPr lang="en-IN" sz="1200" u="sng" dirty="0" err="1">
                <a:solidFill>
                  <a:srgbClr val="0055CC"/>
                </a:solidFill>
                <a:latin typeface="Times New Roman"/>
                <a:hlinkClick r:id="rId16"/>
              </a:rPr>
              <a:t>arXiv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16"/>
              </a:rPr>
              <a:t>: 2007.10319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[16] S. 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Laskaridis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 et al., "Adaptive Inference through Early-Exit Networks," ACM 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MobiSys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, 2024.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17"/>
              </a:rPr>
              <a:t>DOI: 10.1145/3643832.3661880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[17] Q. He, Y. Chen et al., "On-Device LLM Inference: Memory Optimization for Mobile," IEEE Edge, 2025.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18"/>
              </a:rPr>
              <a:t>DOI: 10.1109/SEC62691.2025.00032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IN" sz="1200" dirty="0">
                <a:solidFill>
                  <a:srgbClr val="222222"/>
                </a:solidFill>
                <a:latin typeface="Times New Roman"/>
              </a:rPr>
              <a:t>[18] A. Dhakal, S. Kulkarni, I. Stoica, "</a:t>
            </a:r>
            <a:r>
              <a:rPr lang="en-IN" sz="1200" dirty="0" err="1">
                <a:solidFill>
                  <a:srgbClr val="222222"/>
                </a:solidFill>
                <a:latin typeface="Times New Roman"/>
              </a:rPr>
              <a:t>mLLM</a:t>
            </a:r>
            <a:r>
              <a:rPr lang="en-IN" sz="1200" dirty="0">
                <a:solidFill>
                  <a:srgbClr val="222222"/>
                </a:solidFill>
                <a:latin typeface="Times New Roman"/>
              </a:rPr>
              <a:t>: On-Device LLM Serving," USENIX OSDI, 2025.  </a:t>
            </a:r>
            <a:r>
              <a:rPr lang="en-IN" sz="1200" u="sng" dirty="0">
                <a:solidFill>
                  <a:srgbClr val="0055CC"/>
                </a:solidFill>
                <a:latin typeface="Times New Roman"/>
                <a:hlinkClick r:id="rId19"/>
              </a:rPr>
              <a:t>usenix.org/conference/osdi25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18090" y="6443878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4840" y="-152523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7. Class Design — How the Code Is Structured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4572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las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2149"/>
            <a:ext cx="9827834" cy="54853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57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222222"/>
                </a:solidFill>
                <a:latin typeface="Times New Roman"/>
              </a:rPr>
              <a:t>ContextSnapshot</a:t>
            </a:r>
            <a:r>
              <a:rPr sz="1300" b="1" dirty="0">
                <a:solidFill>
                  <a:srgbClr val="222222"/>
                </a:solidFill>
                <a:latin typeface="Times New Roman"/>
              </a:rPr>
              <a:t>: 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captures phone state (app, time, battery, RAM)    →    </a:t>
            </a:r>
            <a:r>
              <a:rPr sz="1300" dirty="0" err="1">
                <a:solidFill>
                  <a:srgbClr val="555555"/>
                </a:solidFill>
                <a:latin typeface="Times New Roman"/>
              </a:rPr>
              <a:t>FeatureEngine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: converts to numbers for ML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22222"/>
                </a:solidFill>
                <a:latin typeface="Times New Roman"/>
              </a:rPr>
              <a:t>Predictor interface: 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common contract for </a:t>
            </a:r>
            <a:r>
              <a:rPr sz="1300" dirty="0" err="1">
                <a:solidFill>
                  <a:srgbClr val="555555"/>
                </a:solidFill>
                <a:latin typeface="Times New Roman"/>
              </a:rPr>
              <a:t>MarkovPredictor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 (baseline) &amp; </a:t>
            </a:r>
            <a:r>
              <a:rPr sz="1300" dirty="0" err="1">
                <a:solidFill>
                  <a:srgbClr val="555555"/>
                </a:solidFill>
                <a:latin typeface="Times New Roman"/>
              </a:rPr>
              <a:t>XGBoostPredictor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 (primary) — swappable</a:t>
            </a:r>
          </a:p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222222"/>
                </a:solidFill>
                <a:latin typeface="Times New Roman"/>
              </a:rPr>
              <a:t>MemoryDecisionController</a:t>
            </a:r>
            <a:r>
              <a:rPr sz="1300" b="1" dirty="0">
                <a:solidFill>
                  <a:srgbClr val="222222"/>
                </a:solidFill>
                <a:latin typeface="Times New Roman"/>
              </a:rPr>
              <a:t>: 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the brain — uses </a:t>
            </a:r>
            <a:r>
              <a:rPr sz="1300" dirty="0" err="1">
                <a:solidFill>
                  <a:srgbClr val="555555"/>
                </a:solidFill>
                <a:latin typeface="Times New Roman"/>
              </a:rPr>
              <a:t>CacheScoringEngine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 + </a:t>
            </a:r>
            <a:r>
              <a:rPr sz="1300" dirty="0" err="1">
                <a:solidFill>
                  <a:srgbClr val="555555"/>
                </a:solidFill>
                <a:latin typeface="Times New Roman"/>
              </a:rPr>
              <a:t>PreloadGate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 + </a:t>
            </a:r>
            <a:r>
              <a:rPr sz="1300" dirty="0" err="1">
                <a:solidFill>
                  <a:srgbClr val="555555"/>
                </a:solidFill>
                <a:latin typeface="Times New Roman"/>
              </a:rPr>
              <a:t>ThrashingDetector</a:t>
            </a:r>
            <a:r>
              <a:rPr sz="1300" dirty="0">
                <a:solidFill>
                  <a:srgbClr val="555555"/>
                </a:solidFill>
                <a:latin typeface="Times New Roman"/>
              </a:rPr>
              <a:t> to produce a </a:t>
            </a:r>
            <a:r>
              <a:rPr sz="1300" dirty="0" err="1">
                <a:solidFill>
                  <a:srgbClr val="555555"/>
                </a:solidFill>
                <a:latin typeface="Times New Roman"/>
              </a:rPr>
              <a:t>MemoryActionPlan</a:t>
            </a:r>
            <a:endParaRPr sz="1300" dirty="0">
              <a:solidFill>
                <a:srgbClr val="555555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2943</Words>
  <Application>Microsoft Office PowerPoint</Application>
  <PresentationFormat>Widescreen</PresentationFormat>
  <Paragraphs>293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Atharv Sinha</cp:lastModifiedBy>
  <cp:revision>7</cp:revision>
  <dcterms:created xsi:type="dcterms:W3CDTF">2013-01-27T09:14:16Z</dcterms:created>
  <dcterms:modified xsi:type="dcterms:W3CDTF">2026-08-19T08:17:31Z</dcterms:modified>
  <cp:category/>
</cp:coreProperties>
</file>