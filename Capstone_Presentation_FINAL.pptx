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hyperlink" Target="https://doi.org/10.1145/3591197.3593422" TargetMode="External"/><Relationship Id="rId13" Type="http://schemas.openxmlformats.org/officeDocument/2006/relationships/hyperlink" Target="https://doi.org/10.1109/ISCA.2008.21" TargetMode="External"/><Relationship Id="rId18" Type="http://schemas.openxmlformats.org/officeDocument/2006/relationships/hyperlink" Target="https://doi.org/10.1109/SEC62691.2025.00032" TargetMode="External"/><Relationship Id="rId3" Type="http://schemas.openxmlformats.org/officeDocument/2006/relationships/hyperlink" Target="https://doi.org/10.1109/TMC.2024.3521876" TargetMode="External"/><Relationship Id="rId7" Type="http://schemas.openxmlformats.org/officeDocument/2006/relationships/hyperlink" Target="https://source.android.com/docs/core/perf/lmkd" TargetMode="External"/><Relationship Id="rId12" Type="http://schemas.openxmlformats.org/officeDocument/2006/relationships/hyperlink" Target="https://doi.org/10.1145/2939672.2939785" TargetMode="External"/><Relationship Id="rId17" Type="http://schemas.openxmlformats.org/officeDocument/2006/relationships/hyperlink" Target="https://doi.org/10.1145/3643832.3661880" TargetMode="External"/><Relationship Id="rId2" Type="http://schemas.openxmlformats.org/officeDocument/2006/relationships/hyperlink" Target="https://doi.org/10.1145/2370216.2370241" TargetMode="External"/><Relationship Id="rId16" Type="http://schemas.openxmlformats.org/officeDocument/2006/relationships/hyperlink" Target="https://arxiv.org/abs/2007.10319" TargetMode="External"/><Relationship Id="rId1" Type="http://schemas.openxmlformats.org/officeDocument/2006/relationships/slideLayout" Target="../slideLayouts/slideLayout7.xml"/><Relationship Id="rId6" Type="http://schemas.openxmlformats.org/officeDocument/2006/relationships/hyperlink" Target="https://doi.org/10.1145/3568684" TargetMode="External"/><Relationship Id="rId11" Type="http://schemas.openxmlformats.org/officeDocument/2006/relationships/hyperlink" Target="https://doi.org/10.1145/3613424.3614274" TargetMode="External"/><Relationship Id="rId5" Type="http://schemas.openxmlformats.org/officeDocument/2006/relationships/hyperlink" Target="https://doi.org/10.1145/3594739.3610680" TargetMode="External"/><Relationship Id="rId15" Type="http://schemas.openxmlformats.org/officeDocument/2006/relationships/hyperlink" Target="https://arxiv.org/abs/1803.02329" TargetMode="External"/><Relationship Id="rId10" Type="http://schemas.openxmlformats.org/officeDocument/2006/relationships/hyperlink" Target="https://developer.android.com/topic/performance/appstandby" TargetMode="External"/><Relationship Id="rId19" Type="http://schemas.openxmlformats.org/officeDocument/2006/relationships/hyperlink" Target="https://www.usenix.org/conference/osdi25" TargetMode="External"/><Relationship Id="rId4" Type="http://schemas.openxmlformats.org/officeDocument/2006/relationships/hyperlink" Target="https://doi.org/10.1109/ICDE.2019.00120" TargetMode="External"/><Relationship Id="rId9" Type="http://schemas.openxmlformats.org/officeDocument/2006/relationships/hyperlink" Target="https://doi.org/10.1109/ACCESS.2024.3372104" TargetMode="External"/><Relationship Id="rId14" Type="http://schemas.openxmlformats.org/officeDocument/2006/relationships/hyperlink" Target="https://doi.org/10.1145/3613424.361425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1600" y="1371600"/>
            <a:ext cx="9418320" cy="1371600"/>
          </a:xfrm>
          <a:prstGeom prst="rect">
            <a:avLst/>
          </a:prstGeom>
          <a:noFill/>
        </p:spPr>
        <p:txBody>
          <a:bodyPr wrap="square">
            <a:spAutoFit/>
          </a:bodyPr>
          <a:lstStyle/>
          <a:p>
            <a:pPr algn="ctr">
              <a:spcAft>
                <a:spcPts val="500"/>
              </a:spcAft>
              <a:defRPr sz="3400" b="1">
                <a:solidFill>
                  <a:srgbClr val="222222"/>
                </a:solidFill>
                <a:latin typeface="Times New Roman"/>
              </a:defRPr>
            </a:pPr>
            <a:r>
              <a:t>Leveraging User Context Prediction for</a:t>
            </a:r>
            <a:br/>
            <a:r>
              <a:t>Adaptive Memory Management in</a:t>
            </a:r>
            <a:br/>
            <a:r>
              <a:t>AI-Heavy Mobile Environments</a:t>
            </a:r>
          </a:p>
        </p:txBody>
      </p:sp>
      <p:sp>
        <p:nvSpPr>
          <p:cNvPr id="3" name="Rectangle 2"/>
          <p:cNvSpPr/>
          <p:nvPr/>
        </p:nvSpPr>
        <p:spPr>
          <a:xfrm>
            <a:off x="2743200" y="2926080"/>
            <a:ext cx="6675120" cy="25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0" y="3200400"/>
            <a:ext cx="6675120" cy="365760"/>
          </a:xfrm>
          <a:prstGeom prst="rect">
            <a:avLst/>
          </a:prstGeom>
          <a:noFill/>
        </p:spPr>
        <p:txBody>
          <a:bodyPr wrap="square">
            <a:spAutoFit/>
          </a:bodyPr>
          <a:lstStyle/>
          <a:p>
            <a:pPr algn="ctr">
              <a:spcAft>
                <a:spcPts val="500"/>
              </a:spcAft>
              <a:defRPr sz="1800">
                <a:solidFill>
                  <a:srgbClr val="222222"/>
                </a:solidFill>
                <a:latin typeface="Times New Roman"/>
              </a:defRPr>
            </a:pPr>
            <a:r>
              <a:t>Capstone Project — Project-I Review</a:t>
            </a:r>
          </a:p>
        </p:txBody>
      </p:sp>
      <p:sp>
        <p:nvSpPr>
          <p:cNvPr id="5" name="TextBox 4"/>
          <p:cNvSpPr txBox="1"/>
          <p:nvPr/>
        </p:nvSpPr>
        <p:spPr>
          <a:xfrm>
            <a:off x="2743200" y="3931920"/>
            <a:ext cx="6853084" cy="2015936"/>
          </a:xfrm>
          <a:prstGeom prst="rect">
            <a:avLst/>
          </a:prstGeom>
          <a:noFill/>
        </p:spPr>
        <p:txBody>
          <a:bodyPr wrap="square">
            <a:spAutoFit/>
          </a:bodyPr>
          <a:lstStyle/>
          <a:p>
            <a:pPr algn="ctr">
              <a:spcAft>
                <a:spcPts val="400"/>
              </a:spcAft>
              <a:defRPr sz="1500">
                <a:solidFill>
                  <a:srgbClr val="222222"/>
                </a:solidFill>
                <a:latin typeface="Times New Roman"/>
              </a:defRPr>
            </a:pPr>
            <a:r>
              <a:rPr lang="en-IN"/>
              <a:t>Presented By:</a:t>
            </a:r>
          </a:p>
          <a:p>
            <a:pPr algn="ctr">
              <a:spcAft>
                <a:spcPts val="400"/>
              </a:spcAft>
              <a:defRPr sz="1500">
                <a:solidFill>
                  <a:srgbClr val="222222"/>
                </a:solidFill>
                <a:latin typeface="Times New Roman"/>
              </a:defRPr>
            </a:pPr>
            <a:r>
              <a:rPr lang="en-IN"/>
              <a:t>[Atharv Sinha] — [23BLC1281]</a:t>
            </a:r>
          </a:p>
          <a:p>
            <a:pPr algn="ctr">
              <a:spcAft>
                <a:spcPts val="400"/>
              </a:spcAft>
              <a:defRPr sz="1500">
                <a:solidFill>
                  <a:srgbClr val="222222"/>
                </a:solidFill>
                <a:latin typeface="Times New Roman"/>
              </a:defRPr>
            </a:pPr>
            <a:r>
              <a:rPr lang="en-IN"/>
              <a:t>[Aviral Khandelwal] — [23BLC1214]</a:t>
            </a:r>
          </a:p>
          <a:p>
            <a:pPr algn="ctr">
              <a:spcAft>
                <a:spcPts val="400"/>
              </a:spcAft>
              <a:defRPr sz="1500">
                <a:solidFill>
                  <a:srgbClr val="222222"/>
                </a:solidFill>
                <a:latin typeface="Times New Roman"/>
              </a:defRPr>
            </a:pPr>
            <a:r>
              <a:rPr lang="en-IN"/>
              <a:t>[Devashish Sharma] — [23BLC1228]</a:t>
            </a:r>
          </a:p>
          <a:p>
            <a:pPr algn="ctr">
              <a:spcAft>
                <a:spcPts val="400"/>
              </a:spcAft>
              <a:defRPr sz="1500">
                <a:solidFill>
                  <a:srgbClr val="222222"/>
                </a:solidFill>
                <a:latin typeface="Times New Roman"/>
              </a:defRPr>
            </a:pPr>
            <a:endParaRPr lang="en-IN"/>
          </a:p>
          <a:p>
            <a:pPr algn="ctr">
              <a:spcAft>
                <a:spcPts val="400"/>
              </a:spcAft>
              <a:defRPr sz="1500">
                <a:solidFill>
                  <a:srgbClr val="222222"/>
                </a:solidFill>
                <a:latin typeface="Times New Roman"/>
              </a:defRPr>
            </a:pPr>
            <a:r>
              <a:rPr lang="en-IN"/>
              <a:t>Guide:[Dr. Shivani Gupta], [Scope]</a:t>
            </a:r>
          </a:p>
          <a:p>
            <a:pPr algn="ctr">
              <a:spcAft>
                <a:spcPts val="400"/>
              </a:spcAft>
              <a:defRPr sz="1500">
                <a:solidFill>
                  <a:srgbClr val="222222"/>
                </a:solidFill>
                <a:latin typeface="Times New Roman"/>
              </a:defRPr>
            </a:pPr>
            <a:r>
              <a:rPr lang="en-IN"/>
              <a:t>[Vellore Institute of Technology], [Chennai]</a:t>
            </a:r>
            <a:endParaRPr lang="en-IN" dirty="0"/>
          </a:p>
        </p:txBody>
      </p:sp>
      <p:sp>
        <p:nvSpPr>
          <p:cNvPr id="6" name="TextBox 5"/>
          <p:cNvSpPr txBox="1"/>
          <p:nvPr/>
        </p:nvSpPr>
        <p:spPr>
          <a:xfrm>
            <a:off x="3657600" y="6126480"/>
            <a:ext cx="4846320" cy="365760"/>
          </a:xfrm>
          <a:prstGeom prst="rect">
            <a:avLst/>
          </a:prstGeom>
          <a:noFill/>
        </p:spPr>
        <p:txBody>
          <a:bodyPr wrap="square">
            <a:spAutoFit/>
          </a:bodyPr>
          <a:lstStyle/>
          <a:p>
            <a:pPr algn="ctr">
              <a:spcAft>
                <a:spcPts val="500"/>
              </a:spcAft>
              <a:defRPr sz="1400" i="1">
                <a:solidFill>
                  <a:srgbClr val="AAAAAA"/>
                </a:solidFill>
                <a:latin typeface="Times New Roman"/>
              </a:defRPr>
            </a:pPr>
            <a:r>
              <a:t>August 2026</a:t>
            </a:r>
          </a:p>
        </p:txBody>
      </p:sp>
      <p:sp>
        <p:nvSpPr>
          <p:cNvPr id="7" name="TextBox 6"/>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594360"/>
          </a:xfrm>
          <a:prstGeom prst="rect">
            <a:avLst/>
          </a:prstGeom>
          <a:noFill/>
        </p:spPr>
        <p:txBody>
          <a:bodyPr wrap="square">
            <a:spAutoFit/>
          </a:bodyPr>
          <a:lstStyle/>
          <a:p>
            <a:pPr>
              <a:defRPr sz="2800" b="1">
                <a:solidFill>
                  <a:srgbClr val="000000"/>
                </a:solidFill>
                <a:latin typeface="Times New Roman"/>
              </a:defRPr>
            </a:pPr>
            <a:r>
              <a:t>1. Problem Statement</a:t>
            </a:r>
          </a:p>
        </p:txBody>
      </p:sp>
      <p:sp>
        <p:nvSpPr>
          <p:cNvPr id="3" name="Rectangle 2"/>
          <p:cNvSpPr/>
          <p:nvPr/>
        </p:nvSpPr>
        <p:spPr>
          <a:xfrm>
            <a:off x="640080" y="91440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188719"/>
            <a:ext cx="5486400" cy="2873305"/>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188720"/>
            <a:ext cx="548640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19" y="1225296"/>
            <a:ext cx="5303520" cy="292608"/>
          </a:xfrm>
          <a:prstGeom prst="rect">
            <a:avLst/>
          </a:prstGeom>
          <a:noFill/>
        </p:spPr>
        <p:txBody>
          <a:bodyPr wrap="none">
            <a:spAutoFit/>
          </a:bodyPr>
          <a:lstStyle/>
          <a:p>
            <a:pPr>
              <a:defRPr sz="1500" b="1">
                <a:solidFill>
                  <a:srgbClr val="000000"/>
                </a:solidFill>
                <a:latin typeface="Times New Roman"/>
              </a:defRPr>
            </a:pPr>
            <a:r>
              <a:t>The Current Situation</a:t>
            </a:r>
          </a:p>
        </p:txBody>
      </p:sp>
      <p:sp>
        <p:nvSpPr>
          <p:cNvPr id="7" name="TextBox 6"/>
          <p:cNvSpPr txBox="1"/>
          <p:nvPr/>
        </p:nvSpPr>
        <p:spPr>
          <a:xfrm>
            <a:off x="777240" y="1600200"/>
            <a:ext cx="5212080" cy="2057399"/>
          </a:xfrm>
          <a:prstGeom prst="rect">
            <a:avLst/>
          </a:prstGeom>
          <a:noFill/>
        </p:spPr>
        <p:txBody>
          <a:bodyPr wrap="square">
            <a:spAutoFit/>
          </a:bodyPr>
          <a:lstStyle/>
          <a:p>
            <a:pPr>
              <a:spcAft>
                <a:spcPts val="400"/>
              </a:spcAft>
              <a:defRPr sz="1400">
                <a:solidFill>
                  <a:srgbClr val="222222"/>
                </a:solidFill>
                <a:latin typeface="Times New Roman"/>
              </a:defRPr>
            </a:pPr>
            <a:r>
              <a:rPr dirty="0"/>
              <a:t>• Phones have 4–8 GB RAM but AI apps (camera AI, on-device LLMs, translation) consume 300 MB – 4 GB each</a:t>
            </a:r>
          </a:p>
          <a:p>
            <a:pPr>
              <a:spcAft>
                <a:spcPts val="400"/>
              </a:spcAft>
              <a:defRPr sz="1400">
                <a:solidFill>
                  <a:srgbClr val="222222"/>
                </a:solidFill>
                <a:latin typeface="Times New Roman"/>
              </a:defRPr>
            </a:pPr>
            <a:endParaRPr dirty="0"/>
          </a:p>
          <a:p>
            <a:pPr>
              <a:spcAft>
                <a:spcPts val="400"/>
              </a:spcAft>
              <a:defRPr sz="1400">
                <a:solidFill>
                  <a:srgbClr val="222222"/>
                </a:solidFill>
                <a:latin typeface="Times New Roman"/>
              </a:defRPr>
            </a:pPr>
            <a:r>
              <a:rPr dirty="0"/>
              <a:t>• When RAM is full, Android removes old apps using LRU (least recently used) — purely reactive</a:t>
            </a:r>
          </a:p>
          <a:p>
            <a:pPr>
              <a:spcAft>
                <a:spcPts val="400"/>
              </a:spcAft>
              <a:defRPr sz="1400">
                <a:solidFill>
                  <a:srgbClr val="222222"/>
                </a:solidFill>
                <a:latin typeface="Times New Roman"/>
              </a:defRPr>
            </a:pPr>
            <a:endParaRPr dirty="0"/>
          </a:p>
          <a:p>
            <a:pPr>
              <a:spcAft>
                <a:spcPts val="400"/>
              </a:spcAft>
              <a:defRPr sz="1400">
                <a:solidFill>
                  <a:srgbClr val="222222"/>
                </a:solidFill>
                <a:latin typeface="Times New Roman"/>
              </a:defRPr>
            </a:pPr>
            <a:r>
              <a:rPr dirty="0"/>
              <a:t>• LMKD (Low Memory Killer Daemon) kills processes only after memory pressure is critical</a:t>
            </a:r>
          </a:p>
          <a:p>
            <a:pPr>
              <a:spcAft>
                <a:spcPts val="400"/>
              </a:spcAft>
              <a:defRPr sz="1400">
                <a:solidFill>
                  <a:srgbClr val="222222"/>
                </a:solidFill>
                <a:latin typeface="Times New Roman"/>
              </a:defRPr>
            </a:pPr>
            <a:endParaRPr lang="en-IN" dirty="0"/>
          </a:p>
          <a:p>
            <a:pPr>
              <a:spcAft>
                <a:spcPts val="400"/>
              </a:spcAft>
              <a:defRPr sz="1400">
                <a:solidFill>
                  <a:srgbClr val="222222"/>
                </a:solidFill>
                <a:latin typeface="Times New Roman"/>
              </a:defRPr>
            </a:pPr>
            <a:r>
              <a:rPr lang="en-US" dirty="0"/>
              <a:t>• Neither mechanism can predict what the user will need next</a:t>
            </a:r>
          </a:p>
        </p:txBody>
      </p:sp>
      <p:sp>
        <p:nvSpPr>
          <p:cNvPr id="8" name="Rectangle 7"/>
          <p:cNvSpPr/>
          <p:nvPr/>
        </p:nvSpPr>
        <p:spPr>
          <a:xfrm>
            <a:off x="6400800" y="1188720"/>
            <a:ext cx="5120640" cy="29098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188720"/>
            <a:ext cx="512064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225296"/>
            <a:ext cx="4937759" cy="292608"/>
          </a:xfrm>
          <a:prstGeom prst="rect">
            <a:avLst/>
          </a:prstGeom>
          <a:noFill/>
        </p:spPr>
        <p:txBody>
          <a:bodyPr wrap="none">
            <a:spAutoFit/>
          </a:bodyPr>
          <a:lstStyle/>
          <a:p>
            <a:pPr>
              <a:defRPr sz="1500" b="1">
                <a:solidFill>
                  <a:srgbClr val="000000"/>
                </a:solidFill>
                <a:latin typeface="Times New Roman"/>
              </a:defRPr>
            </a:pPr>
            <a:r>
              <a:t>What Goes Wrong</a:t>
            </a:r>
          </a:p>
        </p:txBody>
      </p:sp>
      <p:sp>
        <p:nvSpPr>
          <p:cNvPr id="11" name="TextBox 10"/>
          <p:cNvSpPr txBox="1"/>
          <p:nvPr/>
        </p:nvSpPr>
        <p:spPr>
          <a:xfrm>
            <a:off x="6537960" y="1600200"/>
            <a:ext cx="4846320" cy="2057399"/>
          </a:xfrm>
          <a:prstGeom prst="rect">
            <a:avLst/>
          </a:prstGeom>
          <a:noFill/>
        </p:spPr>
        <p:txBody>
          <a:bodyPr wrap="square">
            <a:spAutoFit/>
          </a:bodyPr>
          <a:lstStyle/>
          <a:p>
            <a:pPr>
              <a:spcAft>
                <a:spcPts val="400"/>
              </a:spcAft>
            </a:pPr>
            <a:r>
              <a:rPr sz="1400" b="1" dirty="0">
                <a:solidFill>
                  <a:srgbClr val="222222"/>
                </a:solidFill>
                <a:latin typeface="Times New Roman"/>
              </a:rPr>
              <a:t>Cold Start: </a:t>
            </a:r>
            <a:r>
              <a:rPr sz="1400" dirty="0">
                <a:solidFill>
                  <a:srgbClr val="555555"/>
                </a:solidFill>
                <a:latin typeface="Times New Roman"/>
              </a:rPr>
              <a:t>app removed from RAM must reload from disk — 1–3 sec delay</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pPr>
            <a:r>
              <a:rPr sz="1400" b="1" dirty="0">
                <a:solidFill>
                  <a:srgbClr val="222222"/>
                </a:solidFill>
                <a:latin typeface="Times New Roman"/>
              </a:rPr>
              <a:t>AI App Cold Start: </a:t>
            </a:r>
            <a:r>
              <a:rPr sz="1400" dirty="0">
                <a:solidFill>
                  <a:srgbClr val="555555"/>
                </a:solidFill>
                <a:latin typeface="Times New Roman"/>
              </a:rPr>
              <a:t>3–6 sec because AI model weights (300 MB – 4 GB) must be reloaded</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pPr>
            <a:r>
              <a:rPr sz="1400" b="1" dirty="0">
                <a:solidFill>
                  <a:srgbClr val="222222"/>
                </a:solidFill>
                <a:latin typeface="Times New Roman"/>
              </a:rPr>
              <a:t>Memory Thrashing: </a:t>
            </a:r>
            <a:r>
              <a:rPr sz="1400" dirty="0">
                <a:solidFill>
                  <a:srgbClr val="555555"/>
                </a:solidFill>
                <a:latin typeface="Times New Roman"/>
              </a:rPr>
              <a:t>phone keeps removing and reloading the same apps in a loop</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pPr>
            <a:r>
              <a:rPr sz="1400" b="1" dirty="0">
                <a:solidFill>
                  <a:srgbClr val="222222"/>
                </a:solidFill>
                <a:latin typeface="Times New Roman"/>
              </a:rPr>
              <a:t>Battery Drain: </a:t>
            </a:r>
            <a:r>
              <a:rPr sz="1400" dirty="0">
                <a:solidFill>
                  <a:srgbClr val="555555"/>
                </a:solidFill>
                <a:latin typeface="Times New Roman"/>
              </a:rPr>
              <a:t>redundant disk reads waste energy</a:t>
            </a:r>
          </a:p>
        </p:txBody>
      </p:sp>
      <p:sp>
        <p:nvSpPr>
          <p:cNvPr id="12" name="Rectangle 11"/>
          <p:cNvSpPr/>
          <p:nvPr/>
        </p:nvSpPr>
        <p:spPr>
          <a:xfrm>
            <a:off x="640080" y="4298981"/>
            <a:ext cx="10972800" cy="2560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7790" y="4128378"/>
            <a:ext cx="1097280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4098600"/>
            <a:ext cx="10789920" cy="292608"/>
          </a:xfrm>
          <a:prstGeom prst="rect">
            <a:avLst/>
          </a:prstGeom>
          <a:noFill/>
        </p:spPr>
        <p:txBody>
          <a:bodyPr wrap="none">
            <a:spAutoFit/>
          </a:bodyPr>
          <a:lstStyle/>
          <a:p>
            <a:pPr>
              <a:defRPr sz="1500" b="1">
                <a:solidFill>
                  <a:srgbClr val="000000"/>
                </a:solidFill>
                <a:latin typeface="Times New Roman"/>
              </a:defRPr>
            </a:pPr>
            <a:r>
              <a:t>Our Approach — Predictive Memory Management</a:t>
            </a:r>
          </a:p>
        </p:txBody>
      </p:sp>
      <p:sp>
        <p:nvSpPr>
          <p:cNvPr id="15" name="TextBox 14"/>
          <p:cNvSpPr txBox="1"/>
          <p:nvPr/>
        </p:nvSpPr>
        <p:spPr>
          <a:xfrm>
            <a:off x="777240" y="4534380"/>
            <a:ext cx="10698480" cy="1783079"/>
          </a:xfrm>
          <a:prstGeom prst="rect">
            <a:avLst/>
          </a:prstGeom>
          <a:noFill/>
        </p:spPr>
        <p:txBody>
          <a:bodyPr wrap="square">
            <a:spAutoFit/>
          </a:bodyPr>
          <a:lstStyle/>
          <a:p>
            <a:pPr>
              <a:spcAft>
                <a:spcPts val="400"/>
              </a:spcAft>
              <a:defRPr sz="1500">
                <a:solidFill>
                  <a:srgbClr val="222222"/>
                </a:solidFill>
                <a:latin typeface="Times New Roman"/>
              </a:defRPr>
            </a:pPr>
            <a:r>
              <a:rPr dirty="0"/>
              <a:t>• Average user switches between apps ~65 times per day — each switch is a chance for a wrong eviction decision</a:t>
            </a:r>
          </a:p>
          <a:p>
            <a:pPr>
              <a:spcAft>
                <a:spcPts val="400"/>
              </a:spcAft>
              <a:defRPr sz="1500">
                <a:solidFill>
                  <a:srgbClr val="222222"/>
                </a:solidFill>
                <a:latin typeface="Times New Roman"/>
              </a:defRPr>
            </a:pPr>
            <a:endParaRPr dirty="0"/>
          </a:p>
          <a:p>
            <a:pPr>
              <a:spcAft>
                <a:spcPts val="400"/>
              </a:spcAft>
            </a:pPr>
            <a:r>
              <a:rPr sz="1500" b="1" dirty="0">
                <a:solidFill>
                  <a:srgbClr val="222222"/>
                </a:solidFill>
                <a:latin typeface="Times New Roman"/>
              </a:rPr>
              <a:t>Our Proposal: </a:t>
            </a:r>
            <a:r>
              <a:rPr sz="1500" dirty="0">
                <a:solidFill>
                  <a:srgbClr val="555555"/>
                </a:solidFill>
                <a:latin typeface="Times New Roman"/>
              </a:rPr>
              <a:t>use Machine Learning to predict which app the user will open next based on contextual signals (time of day, recent app history, battery level, etc.) and use that prediction to make smarter memory decisions — keeping predicted apps in cache and evicting unlikely ones</a:t>
            </a:r>
          </a:p>
          <a:p>
            <a:pPr>
              <a:spcAft>
                <a:spcPts val="400"/>
              </a:spcAft>
              <a:defRPr sz="1500">
                <a:solidFill>
                  <a:srgbClr val="222222"/>
                </a:solidFill>
                <a:latin typeface="Times New Roman"/>
              </a:defRPr>
            </a:pPr>
            <a:endParaRPr sz="1500" dirty="0">
              <a:solidFill>
                <a:srgbClr val="555555"/>
              </a:solidFill>
              <a:latin typeface="Times New Roman"/>
            </a:endParaRPr>
          </a:p>
          <a:p>
            <a:pPr>
              <a:spcAft>
                <a:spcPts val="400"/>
              </a:spcAft>
              <a:defRPr sz="1500">
                <a:solidFill>
                  <a:srgbClr val="222222"/>
                </a:solidFill>
                <a:latin typeface="Times New Roman"/>
              </a:defRPr>
            </a:pPr>
            <a:r>
              <a:rPr dirty="0"/>
              <a:t>• This converts memory management from a reactive system to a proactive, prediction-driven system</a:t>
            </a:r>
          </a:p>
        </p:txBody>
      </p:sp>
      <p:sp>
        <p:nvSpPr>
          <p:cNvPr id="16" name="TextBox 15"/>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594360"/>
          </a:xfrm>
          <a:prstGeom prst="rect">
            <a:avLst/>
          </a:prstGeom>
          <a:noFill/>
        </p:spPr>
        <p:txBody>
          <a:bodyPr wrap="square">
            <a:spAutoFit/>
          </a:bodyPr>
          <a:lstStyle/>
          <a:p>
            <a:pPr>
              <a:defRPr sz="2800" b="1">
                <a:solidFill>
                  <a:srgbClr val="000000"/>
                </a:solidFill>
                <a:latin typeface="Times New Roman"/>
              </a:defRPr>
            </a:pPr>
            <a:r>
              <a:t>2. Literature Review — Key Findings &amp; Research Gap</a:t>
            </a:r>
          </a:p>
        </p:txBody>
      </p:sp>
      <p:sp>
        <p:nvSpPr>
          <p:cNvPr id="3" name="Rectangle 2"/>
          <p:cNvSpPr/>
          <p:nvPr/>
        </p:nvSpPr>
        <p:spPr>
          <a:xfrm>
            <a:off x="640080" y="91440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188720"/>
            <a:ext cx="5486400" cy="22860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188720"/>
            <a:ext cx="548640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19" y="1225296"/>
            <a:ext cx="5303520" cy="292608"/>
          </a:xfrm>
          <a:prstGeom prst="rect">
            <a:avLst/>
          </a:prstGeom>
          <a:noFill/>
        </p:spPr>
        <p:txBody>
          <a:bodyPr wrap="none">
            <a:spAutoFit/>
          </a:bodyPr>
          <a:lstStyle/>
          <a:p>
            <a:pPr>
              <a:defRPr sz="1500" b="1">
                <a:solidFill>
                  <a:srgbClr val="000000"/>
                </a:solidFill>
                <a:latin typeface="Times New Roman"/>
              </a:defRPr>
            </a:pPr>
            <a:r>
              <a:t>App Usage Prediction (Papers 1–5)</a:t>
            </a:r>
          </a:p>
        </p:txBody>
      </p:sp>
      <p:sp>
        <p:nvSpPr>
          <p:cNvPr id="7" name="TextBox 6"/>
          <p:cNvSpPr txBox="1"/>
          <p:nvPr/>
        </p:nvSpPr>
        <p:spPr>
          <a:xfrm>
            <a:off x="777240" y="1600200"/>
            <a:ext cx="5212080" cy="1783079"/>
          </a:xfrm>
          <a:prstGeom prst="rect">
            <a:avLst/>
          </a:prstGeom>
          <a:noFill/>
        </p:spPr>
        <p:txBody>
          <a:bodyPr wrap="square">
            <a:spAutoFit/>
          </a:bodyPr>
          <a:lstStyle/>
          <a:p>
            <a:pPr>
              <a:spcAft>
                <a:spcPts val="400"/>
              </a:spcAft>
              <a:defRPr sz="1300">
                <a:solidFill>
                  <a:srgbClr val="222222"/>
                </a:solidFill>
                <a:latin typeface="Times New Roman"/>
              </a:defRPr>
            </a:pPr>
            <a:r>
              <a:t>• Shin et al. (2012) — Naive Bayes for app prediction, 72% accuracy</a:t>
            </a:r>
          </a:p>
          <a:p>
            <a:pPr>
              <a:spcAft>
                <a:spcPts val="400"/>
              </a:spcAft>
              <a:defRPr sz="1300">
                <a:solidFill>
                  <a:srgbClr val="222222"/>
                </a:solidFill>
                <a:latin typeface="Times New Roman"/>
              </a:defRPr>
            </a:pPr>
            <a:r>
              <a:t>• Xu/Huang et al. (2024) — Graph models, up to 78% accuracy</a:t>
            </a:r>
          </a:p>
          <a:p>
            <a:pPr>
              <a:spcAft>
                <a:spcPts val="400"/>
              </a:spcAft>
              <a:defRPr sz="1300">
                <a:solidFill>
                  <a:srgbClr val="222222"/>
                </a:solidFill>
                <a:latin typeface="Times New Roman"/>
              </a:defRPr>
            </a:pPr>
            <a:r>
              <a:t>• Zhao et al. (2023) — LSTM + context, 74% accuracy</a:t>
            </a:r>
          </a:p>
          <a:p>
            <a:pPr>
              <a:spcAft>
                <a:spcPts val="400"/>
              </a:spcAft>
              <a:defRPr sz="1300">
                <a:solidFill>
                  <a:srgbClr val="222222"/>
                </a:solidFill>
                <a:latin typeface="Times New Roman"/>
              </a:defRPr>
            </a:pPr>
            <a:endParaRPr/>
          </a:p>
          <a:p>
            <a:pPr>
              <a:spcAft>
                <a:spcPts val="400"/>
              </a:spcAft>
            </a:pPr>
            <a:r>
              <a:rPr sz="1300" b="1">
                <a:solidFill>
                  <a:srgbClr val="222222"/>
                </a:solidFill>
                <a:latin typeface="Times New Roman"/>
              </a:rPr>
              <a:t>Key Gap: </a:t>
            </a:r>
            <a:r>
              <a:rPr sz="1300">
                <a:solidFill>
                  <a:srgbClr val="555555"/>
                </a:solidFill>
                <a:latin typeface="Times New Roman"/>
              </a:rPr>
              <a:t>prediction research achieves good accuracy but never connects predictions to actual memory management decisions</a:t>
            </a:r>
          </a:p>
        </p:txBody>
      </p:sp>
      <p:sp>
        <p:nvSpPr>
          <p:cNvPr id="8" name="Rectangle 7"/>
          <p:cNvSpPr/>
          <p:nvPr/>
        </p:nvSpPr>
        <p:spPr>
          <a:xfrm>
            <a:off x="6400800" y="1188720"/>
            <a:ext cx="5120640" cy="22860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188720"/>
            <a:ext cx="512064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225296"/>
            <a:ext cx="4937759" cy="292608"/>
          </a:xfrm>
          <a:prstGeom prst="rect">
            <a:avLst/>
          </a:prstGeom>
          <a:noFill/>
        </p:spPr>
        <p:txBody>
          <a:bodyPr wrap="none">
            <a:spAutoFit/>
          </a:bodyPr>
          <a:lstStyle/>
          <a:p>
            <a:pPr>
              <a:defRPr sz="1500" b="1">
                <a:solidFill>
                  <a:srgbClr val="000000"/>
                </a:solidFill>
                <a:latin typeface="Times New Roman"/>
              </a:defRPr>
            </a:pPr>
            <a:r>
              <a:t>Memory Management (Papers 6–10)</a:t>
            </a:r>
          </a:p>
        </p:txBody>
      </p:sp>
      <p:sp>
        <p:nvSpPr>
          <p:cNvPr id="11" name="TextBox 10"/>
          <p:cNvSpPr txBox="1"/>
          <p:nvPr/>
        </p:nvSpPr>
        <p:spPr>
          <a:xfrm>
            <a:off x="6537960" y="1600200"/>
            <a:ext cx="4846320" cy="1783079"/>
          </a:xfrm>
          <a:prstGeom prst="rect">
            <a:avLst/>
          </a:prstGeom>
          <a:noFill/>
        </p:spPr>
        <p:txBody>
          <a:bodyPr wrap="square">
            <a:spAutoFit/>
          </a:bodyPr>
          <a:lstStyle/>
          <a:p>
            <a:pPr>
              <a:spcAft>
                <a:spcPts val="400"/>
              </a:spcAft>
              <a:defRPr sz="1300">
                <a:solidFill>
                  <a:srgbClr val="222222"/>
                </a:solidFill>
                <a:latin typeface="Times New Roman"/>
              </a:defRPr>
            </a:pPr>
            <a:r>
              <a:t>• Android LMKD — reactive, PSI-based, no prediction</a:t>
            </a:r>
          </a:p>
          <a:p>
            <a:pPr>
              <a:spcAft>
                <a:spcPts val="400"/>
              </a:spcAft>
              <a:defRPr sz="1300">
                <a:solidFill>
                  <a:srgbClr val="222222"/>
                </a:solidFill>
                <a:latin typeface="Times New Roman"/>
              </a:defRPr>
            </a:pPr>
            <a:r>
              <a:t>• Samsung SWAM (2023) — improved OOM, but static costs, no ML</a:t>
            </a:r>
          </a:p>
          <a:p>
            <a:pPr>
              <a:spcAft>
                <a:spcPts val="400"/>
              </a:spcAft>
              <a:defRPr sz="1300">
                <a:solidFill>
                  <a:srgbClr val="222222"/>
                </a:solidFill>
                <a:latin typeface="Times New Roman"/>
              </a:defRPr>
            </a:pPr>
            <a:r>
              <a:t>• Chen et al. (2024) — frequency caching, 22% fewer cold starts</a:t>
            </a:r>
          </a:p>
          <a:p>
            <a:pPr>
              <a:spcAft>
                <a:spcPts val="400"/>
              </a:spcAft>
              <a:defRPr sz="1300">
                <a:solidFill>
                  <a:srgbClr val="222222"/>
                </a:solidFill>
                <a:latin typeface="Times New Roman"/>
              </a:defRPr>
            </a:pPr>
            <a:endParaRPr/>
          </a:p>
          <a:p>
            <a:pPr>
              <a:spcAft>
                <a:spcPts val="400"/>
              </a:spcAft>
            </a:pPr>
            <a:r>
              <a:rPr sz="1300" b="1">
                <a:solidFill>
                  <a:srgbClr val="222222"/>
                </a:solidFill>
                <a:latin typeface="Times New Roman"/>
              </a:rPr>
              <a:t>Key Gap: </a:t>
            </a:r>
            <a:r>
              <a:rPr sz="1300">
                <a:solidFill>
                  <a:srgbClr val="555555"/>
                </a:solidFill>
                <a:latin typeface="Times New Roman"/>
              </a:rPr>
              <a:t>all existing approaches are reactive or use only simple frequency — none use real-time contextual ML predictions</a:t>
            </a:r>
          </a:p>
        </p:txBody>
      </p:sp>
      <p:sp>
        <p:nvSpPr>
          <p:cNvPr id="12" name="Rectangle 11"/>
          <p:cNvSpPr/>
          <p:nvPr/>
        </p:nvSpPr>
        <p:spPr>
          <a:xfrm>
            <a:off x="640080" y="3749039"/>
            <a:ext cx="5486400" cy="22860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3749039"/>
            <a:ext cx="548640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19" y="3785615"/>
            <a:ext cx="5303520" cy="292608"/>
          </a:xfrm>
          <a:prstGeom prst="rect">
            <a:avLst/>
          </a:prstGeom>
          <a:noFill/>
        </p:spPr>
        <p:txBody>
          <a:bodyPr wrap="none">
            <a:spAutoFit/>
          </a:bodyPr>
          <a:lstStyle/>
          <a:p>
            <a:pPr>
              <a:defRPr sz="1500" b="1">
                <a:solidFill>
                  <a:srgbClr val="000000"/>
                </a:solidFill>
                <a:latin typeface="Times New Roman"/>
              </a:defRPr>
            </a:pPr>
            <a:r>
              <a:t>ML for System Optimization (Papers 11–14)</a:t>
            </a:r>
          </a:p>
        </p:txBody>
      </p:sp>
      <p:sp>
        <p:nvSpPr>
          <p:cNvPr id="15" name="TextBox 14"/>
          <p:cNvSpPr txBox="1"/>
          <p:nvPr/>
        </p:nvSpPr>
        <p:spPr>
          <a:xfrm>
            <a:off x="777240" y="4160520"/>
            <a:ext cx="5212080" cy="1783079"/>
          </a:xfrm>
          <a:prstGeom prst="rect">
            <a:avLst/>
          </a:prstGeom>
          <a:noFill/>
        </p:spPr>
        <p:txBody>
          <a:bodyPr wrap="square">
            <a:spAutoFit/>
          </a:bodyPr>
          <a:lstStyle/>
          <a:p>
            <a:pPr>
              <a:spcAft>
                <a:spcPts val="400"/>
              </a:spcAft>
              <a:defRPr sz="1300">
                <a:solidFill>
                  <a:srgbClr val="222222"/>
                </a:solidFill>
                <a:latin typeface="Times New Roman"/>
              </a:defRPr>
            </a:pPr>
            <a:r>
              <a:t>• XGBoost (Chen &amp; Guestrin, 2016) — fast, interpretable, no GPU</a:t>
            </a:r>
          </a:p>
          <a:p>
            <a:pPr>
              <a:spcAft>
                <a:spcPts val="400"/>
              </a:spcAft>
              <a:defRPr sz="1300">
                <a:solidFill>
                  <a:srgbClr val="222222"/>
                </a:solidFill>
                <a:latin typeface="Times New Roman"/>
              </a:defRPr>
            </a:pPr>
            <a:r>
              <a:t>• Hashemi et al. (2018) — ML for CPU cache prefetching (L1/L2)</a:t>
            </a:r>
          </a:p>
          <a:p>
            <a:pPr>
              <a:spcAft>
                <a:spcPts val="400"/>
              </a:spcAft>
              <a:defRPr sz="1300">
                <a:solidFill>
                  <a:srgbClr val="222222"/>
                </a:solidFill>
                <a:latin typeface="Times New Roman"/>
              </a:defRPr>
            </a:pPr>
            <a:endParaRPr/>
          </a:p>
          <a:p>
            <a:pPr>
              <a:spcAft>
                <a:spcPts val="400"/>
              </a:spcAft>
            </a:pPr>
            <a:r>
              <a:rPr sz="1300" b="1">
                <a:solidFill>
                  <a:srgbClr val="222222"/>
                </a:solidFill>
                <a:latin typeface="Times New Roman"/>
              </a:rPr>
              <a:t>Key Gap: </a:t>
            </a:r>
            <a:r>
              <a:rPr sz="1300">
                <a:solidFill>
                  <a:srgbClr val="555555"/>
                </a:solidFill>
                <a:latin typeface="Times New Roman"/>
              </a:rPr>
              <a:t>ML applied to hardware caches but NOT to app-level process cache management on mobile devices</a:t>
            </a:r>
          </a:p>
        </p:txBody>
      </p:sp>
      <p:sp>
        <p:nvSpPr>
          <p:cNvPr id="16" name="Rectangle 15"/>
          <p:cNvSpPr/>
          <p:nvPr/>
        </p:nvSpPr>
        <p:spPr>
          <a:xfrm>
            <a:off x="6400800" y="3749039"/>
            <a:ext cx="5212080" cy="285823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0" y="3749039"/>
            <a:ext cx="512064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785615"/>
            <a:ext cx="4937759" cy="292608"/>
          </a:xfrm>
          <a:prstGeom prst="rect">
            <a:avLst/>
          </a:prstGeom>
          <a:noFill/>
        </p:spPr>
        <p:txBody>
          <a:bodyPr wrap="none">
            <a:spAutoFit/>
          </a:bodyPr>
          <a:lstStyle/>
          <a:p>
            <a:pPr>
              <a:defRPr sz="1500" b="1">
                <a:solidFill>
                  <a:srgbClr val="000000"/>
                </a:solidFill>
                <a:latin typeface="Times New Roman"/>
              </a:defRPr>
            </a:pPr>
            <a:r>
              <a:t>On-Device AI (Papers 15–18)</a:t>
            </a:r>
          </a:p>
        </p:txBody>
      </p:sp>
      <p:sp>
        <p:nvSpPr>
          <p:cNvPr id="19" name="TextBox 18"/>
          <p:cNvSpPr txBox="1"/>
          <p:nvPr/>
        </p:nvSpPr>
        <p:spPr>
          <a:xfrm>
            <a:off x="6537960" y="4160520"/>
            <a:ext cx="4846320" cy="1783079"/>
          </a:xfrm>
          <a:prstGeom prst="rect">
            <a:avLst/>
          </a:prstGeom>
          <a:noFill/>
        </p:spPr>
        <p:txBody>
          <a:bodyPr wrap="square">
            <a:spAutoFit/>
          </a:bodyPr>
          <a:lstStyle/>
          <a:p>
            <a:pPr>
              <a:spcAft>
                <a:spcPts val="400"/>
              </a:spcAft>
              <a:defRPr sz="1300">
                <a:solidFill>
                  <a:srgbClr val="222222"/>
                </a:solidFill>
                <a:latin typeface="Times New Roman"/>
              </a:defRPr>
            </a:pPr>
            <a:r>
              <a:t>• MCUNet (2020), mLLM (2025) — optimize single AI model in memory</a:t>
            </a:r>
          </a:p>
          <a:p>
            <a:pPr>
              <a:spcAft>
                <a:spcPts val="400"/>
              </a:spcAft>
              <a:defRPr sz="1300">
                <a:solidFill>
                  <a:srgbClr val="222222"/>
                </a:solidFill>
                <a:latin typeface="Times New Roman"/>
              </a:defRPr>
            </a:pPr>
            <a:r>
              <a:t>• He et al. (2025) — LLM memory optimization</a:t>
            </a:r>
          </a:p>
          <a:p>
            <a:pPr>
              <a:spcAft>
                <a:spcPts val="400"/>
              </a:spcAft>
              <a:defRPr sz="1300">
                <a:solidFill>
                  <a:srgbClr val="222222"/>
                </a:solidFill>
                <a:latin typeface="Times New Roman"/>
              </a:defRPr>
            </a:pPr>
            <a:endParaRPr/>
          </a:p>
          <a:p>
            <a:pPr>
              <a:spcAft>
                <a:spcPts val="400"/>
              </a:spcAft>
            </a:pPr>
            <a:r>
              <a:rPr sz="1300" b="1">
                <a:solidFill>
                  <a:srgbClr val="222222"/>
                </a:solidFill>
                <a:latin typeface="Times New Roman"/>
              </a:rPr>
              <a:t>Key Gap: </a:t>
            </a:r>
            <a:r>
              <a:rPr sz="1300">
                <a:solidFill>
                  <a:srgbClr val="555555"/>
                </a:solidFill>
                <a:latin typeface="Times New Roman"/>
              </a:rPr>
              <a:t>focuses on one AI model at a time — nobody solves the multi-app contention problem when several AI apps compete for limited RAM</a:t>
            </a:r>
          </a:p>
          <a:p>
            <a:pPr>
              <a:spcAft>
                <a:spcPts val="400"/>
              </a:spcAft>
              <a:defRPr sz="1300">
                <a:solidFill>
                  <a:srgbClr val="222222"/>
                </a:solidFill>
                <a:latin typeface="Times New Roman"/>
              </a:defRPr>
            </a:pPr>
            <a:endParaRPr sz="1300">
              <a:solidFill>
                <a:srgbClr val="555555"/>
              </a:solidFill>
              <a:latin typeface="Times New Roman"/>
            </a:endParaRPr>
          </a:p>
          <a:p>
            <a:pPr>
              <a:spcAft>
                <a:spcPts val="400"/>
              </a:spcAft>
            </a:pPr>
            <a:r>
              <a:rPr sz="1300" b="1">
                <a:solidFill>
                  <a:srgbClr val="222222"/>
                </a:solidFill>
                <a:latin typeface="Times New Roman"/>
              </a:rPr>
              <a:t>OVERALL GAP: </a:t>
            </a:r>
            <a:r>
              <a:rPr sz="1300">
                <a:solidFill>
                  <a:srgbClr val="555555"/>
                </a:solidFill>
                <a:latin typeface="Times New Roman"/>
              </a:rPr>
              <a:t>No system combines ML prediction + cache eviction scoring + preload gating + thrashing detection</a:t>
            </a:r>
          </a:p>
        </p:txBody>
      </p:sp>
      <p:sp>
        <p:nvSpPr>
          <p:cNvPr id="20" name="TextBox 19"/>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3099" y="-22860"/>
            <a:ext cx="10972800" cy="594360"/>
          </a:xfrm>
          <a:prstGeom prst="rect">
            <a:avLst/>
          </a:prstGeom>
          <a:noFill/>
        </p:spPr>
        <p:txBody>
          <a:bodyPr wrap="square">
            <a:spAutoFit/>
          </a:bodyPr>
          <a:lstStyle/>
          <a:p>
            <a:pPr>
              <a:defRPr sz="2800" b="1">
                <a:solidFill>
                  <a:srgbClr val="000000"/>
                </a:solidFill>
                <a:latin typeface="Times New Roman"/>
              </a:defRPr>
            </a:pPr>
            <a:r>
              <a:rPr dirty="0"/>
              <a:t>3. Proposed Methodology — Predict-Decide-Act Pipeline</a:t>
            </a:r>
          </a:p>
        </p:txBody>
      </p:sp>
      <p:sp>
        <p:nvSpPr>
          <p:cNvPr id="3" name="Rectangle 2"/>
          <p:cNvSpPr/>
          <p:nvPr/>
        </p:nvSpPr>
        <p:spPr>
          <a:xfrm>
            <a:off x="640080" y="520065"/>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93868"/>
            <a:ext cx="10972800" cy="457200"/>
          </a:xfrm>
          <a:prstGeom prst="rect">
            <a:avLst/>
          </a:prstGeom>
          <a:noFill/>
        </p:spPr>
        <p:txBody>
          <a:bodyPr wrap="square">
            <a:spAutoFit/>
          </a:bodyPr>
          <a:lstStyle/>
          <a:p>
            <a:pPr>
              <a:spcAft>
                <a:spcPts val="500"/>
              </a:spcAft>
              <a:defRPr sz="1600">
                <a:solidFill>
                  <a:srgbClr val="222222"/>
                </a:solidFill>
                <a:latin typeface="Times New Roman"/>
              </a:defRPr>
            </a:pPr>
            <a:r>
              <a:rPr dirty="0"/>
              <a:t>Every time the user switches apps, our system runs a 5-stage pipeline:</a:t>
            </a:r>
          </a:p>
        </p:txBody>
      </p:sp>
      <p:pic>
        <p:nvPicPr>
          <p:cNvPr id="5" name="Picture 4" descr="pipeline_diagram.jpg"/>
          <p:cNvPicPr>
            <a:picLocks noChangeAspect="1"/>
          </p:cNvPicPr>
          <p:nvPr/>
        </p:nvPicPr>
        <p:blipFill>
          <a:blip r:embed="rId2"/>
          <a:stretch>
            <a:fillRect/>
          </a:stretch>
        </p:blipFill>
        <p:spPr>
          <a:xfrm>
            <a:off x="855405" y="2054622"/>
            <a:ext cx="9200617" cy="4803378"/>
          </a:xfrm>
          <a:prstGeom prst="rect">
            <a:avLst/>
          </a:prstGeom>
        </p:spPr>
      </p:pic>
      <p:sp>
        <p:nvSpPr>
          <p:cNvPr id="6" name="TextBox 5"/>
          <p:cNvSpPr txBox="1"/>
          <p:nvPr/>
        </p:nvSpPr>
        <p:spPr>
          <a:xfrm>
            <a:off x="756102" y="908154"/>
            <a:ext cx="11583382" cy="1146468"/>
          </a:xfrm>
          <a:prstGeom prst="rect">
            <a:avLst/>
          </a:prstGeom>
          <a:noFill/>
        </p:spPr>
        <p:txBody>
          <a:bodyPr wrap="square">
            <a:spAutoFit/>
          </a:bodyPr>
          <a:lstStyle/>
          <a:p>
            <a:pPr>
              <a:spcAft>
                <a:spcPts val="500"/>
              </a:spcAft>
            </a:pPr>
            <a:r>
              <a:rPr sz="1400" b="1" dirty="0">
                <a:solidFill>
                  <a:srgbClr val="222222"/>
                </a:solidFill>
                <a:latin typeface="Times New Roman"/>
              </a:rPr>
              <a:t>Stage 1: </a:t>
            </a:r>
            <a:r>
              <a:rPr sz="1400" dirty="0">
                <a:solidFill>
                  <a:srgbClr val="555555"/>
                </a:solidFill>
                <a:latin typeface="Times New Roman"/>
              </a:rPr>
              <a:t>Capture device context (current app, recent history, time, battery, RAM, AI task status)</a:t>
            </a:r>
          </a:p>
          <a:p>
            <a:pPr>
              <a:spcAft>
                <a:spcPts val="500"/>
              </a:spcAft>
            </a:pPr>
            <a:r>
              <a:rPr sz="1400" b="1" dirty="0">
                <a:solidFill>
                  <a:srgbClr val="222222"/>
                </a:solidFill>
                <a:latin typeface="Times New Roman"/>
              </a:rPr>
              <a:t>Stage 2: </a:t>
            </a:r>
            <a:r>
              <a:rPr sz="1400" dirty="0" err="1">
                <a:solidFill>
                  <a:srgbClr val="555555"/>
                </a:solidFill>
                <a:latin typeface="Times New Roman"/>
              </a:rPr>
              <a:t>XGBoost</a:t>
            </a:r>
            <a:r>
              <a:rPr sz="1400" dirty="0">
                <a:solidFill>
                  <a:srgbClr val="555555"/>
                </a:solidFill>
                <a:latin typeface="Times New Roman"/>
              </a:rPr>
              <a:t> ML model predicts the next app with a confidence score</a:t>
            </a:r>
          </a:p>
          <a:p>
            <a:pPr>
              <a:spcAft>
                <a:spcPts val="500"/>
              </a:spcAft>
            </a:pPr>
            <a:r>
              <a:rPr sz="1400" b="1" dirty="0">
                <a:solidFill>
                  <a:srgbClr val="222222"/>
                </a:solidFill>
                <a:latin typeface="Times New Roman"/>
              </a:rPr>
              <a:t>Stage 3–4: </a:t>
            </a:r>
            <a:r>
              <a:rPr sz="1400" dirty="0">
                <a:solidFill>
                  <a:srgbClr val="555555"/>
                </a:solidFill>
                <a:latin typeface="Times New Roman"/>
              </a:rPr>
              <a:t>Score all cached apps using prediction + other factors → decide what to evict/preload</a:t>
            </a:r>
          </a:p>
          <a:p>
            <a:pPr>
              <a:spcAft>
                <a:spcPts val="500"/>
              </a:spcAft>
            </a:pPr>
            <a:r>
              <a:rPr sz="1400" b="1" dirty="0">
                <a:solidFill>
                  <a:srgbClr val="222222"/>
                </a:solidFill>
                <a:latin typeface="Times New Roman"/>
              </a:rPr>
              <a:t>Stage 5: </a:t>
            </a:r>
            <a:r>
              <a:rPr sz="1400" dirty="0">
                <a:solidFill>
                  <a:srgbClr val="555555"/>
                </a:solidFill>
                <a:latin typeface="Times New Roman"/>
              </a:rPr>
              <a:t>Execute memory actions and feed results back for the next cycle</a:t>
            </a:r>
          </a:p>
        </p:txBody>
      </p:sp>
      <p:sp>
        <p:nvSpPr>
          <p:cNvPr id="7" name="TextBox 6"/>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594360"/>
          </a:xfrm>
          <a:prstGeom prst="rect">
            <a:avLst/>
          </a:prstGeom>
          <a:noFill/>
        </p:spPr>
        <p:txBody>
          <a:bodyPr wrap="square">
            <a:spAutoFit/>
          </a:bodyPr>
          <a:lstStyle/>
          <a:p>
            <a:pPr>
              <a:defRPr sz="2800" b="1">
                <a:solidFill>
                  <a:srgbClr val="000000"/>
                </a:solidFill>
                <a:latin typeface="Times New Roman"/>
              </a:defRPr>
            </a:pPr>
            <a:r>
              <a:t>4. Cache Scoring &amp; Decision Logic</a:t>
            </a:r>
          </a:p>
        </p:txBody>
      </p:sp>
      <p:sp>
        <p:nvSpPr>
          <p:cNvPr id="3" name="Rectangle 2"/>
          <p:cNvSpPr/>
          <p:nvPr/>
        </p:nvSpPr>
        <p:spPr>
          <a:xfrm>
            <a:off x="640080" y="91440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972800" cy="457200"/>
          </a:xfrm>
          <a:prstGeom prst="rect">
            <a:avLst/>
          </a:prstGeom>
          <a:noFill/>
        </p:spPr>
        <p:txBody>
          <a:bodyPr wrap="square">
            <a:spAutoFit/>
          </a:bodyPr>
          <a:lstStyle/>
          <a:p>
            <a:pPr>
              <a:spcAft>
                <a:spcPts val="500"/>
              </a:spcAft>
              <a:defRPr sz="1600">
                <a:solidFill>
                  <a:srgbClr val="222222"/>
                </a:solidFill>
                <a:latin typeface="Times New Roman"/>
              </a:defRPr>
            </a:pPr>
            <a:r>
              <a:t>Every cached app gets a "keep score" — highest stays, lowest gets evicted first.</a:t>
            </a:r>
          </a:p>
        </p:txBody>
      </p:sp>
      <p:sp>
        <p:nvSpPr>
          <p:cNvPr id="5" name="Rectangle 4"/>
          <p:cNvSpPr/>
          <p:nvPr/>
        </p:nvSpPr>
        <p:spPr>
          <a:xfrm>
            <a:off x="640080" y="1737360"/>
            <a:ext cx="10972800" cy="59436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83080"/>
            <a:ext cx="10515600" cy="457200"/>
          </a:xfrm>
          <a:prstGeom prst="rect">
            <a:avLst/>
          </a:prstGeom>
          <a:noFill/>
        </p:spPr>
        <p:txBody>
          <a:bodyPr wrap="square">
            <a:spAutoFit/>
          </a:bodyPr>
          <a:lstStyle/>
          <a:p>
            <a:pPr>
              <a:spcAft>
                <a:spcPts val="500"/>
              </a:spcAft>
              <a:defRPr sz="1700">
                <a:solidFill>
                  <a:srgbClr val="222222"/>
                </a:solidFill>
                <a:latin typeface="Times New Roman"/>
              </a:defRPr>
            </a:pPr>
            <a:r>
              <a:t>Score(app) = Recency + Frequency + Prediction + Importance + Context − MemoryPressure</a:t>
            </a:r>
          </a:p>
        </p:txBody>
      </p:sp>
      <p:sp>
        <p:nvSpPr>
          <p:cNvPr id="7" name="Rectangle 6"/>
          <p:cNvSpPr/>
          <p:nvPr/>
        </p:nvSpPr>
        <p:spPr>
          <a:xfrm>
            <a:off x="640080" y="2560320"/>
            <a:ext cx="5486400" cy="361433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560320"/>
            <a:ext cx="548640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19" y="2596896"/>
            <a:ext cx="5303520" cy="292608"/>
          </a:xfrm>
          <a:prstGeom prst="rect">
            <a:avLst/>
          </a:prstGeom>
          <a:noFill/>
        </p:spPr>
        <p:txBody>
          <a:bodyPr wrap="none">
            <a:spAutoFit/>
          </a:bodyPr>
          <a:lstStyle/>
          <a:p>
            <a:pPr>
              <a:defRPr sz="1500" b="1">
                <a:solidFill>
                  <a:srgbClr val="000000"/>
                </a:solidFill>
                <a:latin typeface="Times New Roman"/>
              </a:defRPr>
            </a:pPr>
            <a:r>
              <a:t>6 Factors in the Score</a:t>
            </a:r>
          </a:p>
        </p:txBody>
      </p:sp>
      <p:sp>
        <p:nvSpPr>
          <p:cNvPr id="10" name="TextBox 9"/>
          <p:cNvSpPr txBox="1"/>
          <p:nvPr/>
        </p:nvSpPr>
        <p:spPr>
          <a:xfrm>
            <a:off x="777240" y="2971800"/>
            <a:ext cx="5212080" cy="2423160"/>
          </a:xfrm>
          <a:prstGeom prst="rect">
            <a:avLst/>
          </a:prstGeom>
          <a:noFill/>
        </p:spPr>
        <p:txBody>
          <a:bodyPr wrap="square">
            <a:spAutoFit/>
          </a:bodyPr>
          <a:lstStyle/>
          <a:p>
            <a:pPr>
              <a:spcAft>
                <a:spcPts val="400"/>
              </a:spcAft>
            </a:pPr>
            <a:r>
              <a:rPr sz="1400" b="1" dirty="0">
                <a:solidFill>
                  <a:srgbClr val="222222"/>
                </a:solidFill>
                <a:latin typeface="Times New Roman"/>
              </a:rPr>
              <a:t>Recency — </a:t>
            </a:r>
            <a:r>
              <a:rPr sz="1400" dirty="0">
                <a:solidFill>
                  <a:srgbClr val="555555"/>
                </a:solidFill>
                <a:latin typeface="Times New Roman"/>
              </a:rPr>
              <a:t>how recently the app was used</a:t>
            </a:r>
          </a:p>
          <a:p>
            <a:pPr>
              <a:spcAft>
                <a:spcPts val="400"/>
              </a:spcAft>
            </a:pPr>
            <a:r>
              <a:rPr sz="1400" b="1" dirty="0">
                <a:solidFill>
                  <a:srgbClr val="222222"/>
                </a:solidFill>
                <a:latin typeface="Times New Roman"/>
              </a:rPr>
              <a:t>Frequency — </a:t>
            </a:r>
            <a:r>
              <a:rPr sz="1400" dirty="0">
                <a:solidFill>
                  <a:srgbClr val="555555"/>
                </a:solidFill>
                <a:latin typeface="Times New Roman"/>
              </a:rPr>
              <a:t>how often the app is used</a:t>
            </a:r>
          </a:p>
          <a:p>
            <a:pPr>
              <a:spcAft>
                <a:spcPts val="400"/>
              </a:spcAft>
            </a:pPr>
            <a:r>
              <a:rPr sz="1400" b="1" dirty="0">
                <a:solidFill>
                  <a:srgbClr val="222222"/>
                </a:solidFill>
                <a:latin typeface="Times New Roman"/>
              </a:rPr>
              <a:t>Prediction — </a:t>
            </a:r>
            <a:r>
              <a:rPr sz="1400" dirty="0">
                <a:solidFill>
                  <a:srgbClr val="555555"/>
                </a:solidFill>
                <a:latin typeface="Times New Roman"/>
              </a:rPr>
              <a:t>ML model's confidence the user will open this app next (KEY INNOVATION)</a:t>
            </a:r>
          </a:p>
          <a:p>
            <a:pPr>
              <a:spcAft>
                <a:spcPts val="400"/>
              </a:spcAft>
            </a:pPr>
            <a:r>
              <a:rPr sz="1400" b="1" dirty="0">
                <a:solidFill>
                  <a:srgbClr val="222222"/>
                </a:solidFill>
                <a:latin typeface="Times New Roman"/>
              </a:rPr>
              <a:t>Importance — </a:t>
            </a:r>
            <a:r>
              <a:rPr sz="1400" dirty="0">
                <a:solidFill>
                  <a:srgbClr val="555555"/>
                </a:solidFill>
                <a:latin typeface="Times New Roman"/>
              </a:rPr>
              <a:t>category-based priority (messaging &gt; games)</a:t>
            </a:r>
          </a:p>
          <a:p>
            <a:pPr>
              <a:spcAft>
                <a:spcPts val="400"/>
              </a:spcAft>
            </a:pPr>
            <a:r>
              <a:rPr sz="1400" b="1" dirty="0">
                <a:solidFill>
                  <a:srgbClr val="222222"/>
                </a:solidFill>
                <a:latin typeface="Times New Roman"/>
              </a:rPr>
              <a:t>Context — </a:t>
            </a:r>
            <a:r>
              <a:rPr sz="1400" dirty="0">
                <a:solidFill>
                  <a:srgbClr val="555555"/>
                </a:solidFill>
                <a:latin typeface="Times New Roman"/>
              </a:rPr>
              <a:t>relevance to current situation (Maps during commute = high)</a:t>
            </a:r>
          </a:p>
          <a:p>
            <a:pPr>
              <a:spcAft>
                <a:spcPts val="400"/>
              </a:spcAft>
            </a:pPr>
            <a:r>
              <a:rPr sz="1400" b="1" dirty="0">
                <a:solidFill>
                  <a:srgbClr val="222222"/>
                </a:solidFill>
                <a:latin typeface="Times New Roman"/>
              </a:rPr>
              <a:t>Memory Pressure — </a:t>
            </a:r>
            <a:r>
              <a:rPr sz="1400" dirty="0">
                <a:solidFill>
                  <a:srgbClr val="555555"/>
                </a:solidFill>
                <a:latin typeface="Times New Roman"/>
              </a:rPr>
              <a:t>penalty that increases when RAM is running low</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defRPr sz="1400">
                <a:solidFill>
                  <a:srgbClr val="222222"/>
                </a:solidFill>
                <a:latin typeface="Times New Roman"/>
              </a:defRPr>
            </a:pPr>
            <a:r>
              <a:rPr dirty="0"/>
              <a:t>The Prediction factor is what makes this system forward-looking — existing systems only look backward at recency and frequency.</a:t>
            </a:r>
          </a:p>
        </p:txBody>
      </p:sp>
      <p:sp>
        <p:nvSpPr>
          <p:cNvPr id="11" name="Rectangle 10"/>
          <p:cNvSpPr/>
          <p:nvPr/>
        </p:nvSpPr>
        <p:spPr>
          <a:xfrm>
            <a:off x="6400800" y="2560319"/>
            <a:ext cx="5120640" cy="1965961"/>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0" y="2560320"/>
            <a:ext cx="512064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596896"/>
            <a:ext cx="4937759" cy="292608"/>
          </a:xfrm>
          <a:prstGeom prst="rect">
            <a:avLst/>
          </a:prstGeom>
          <a:noFill/>
        </p:spPr>
        <p:txBody>
          <a:bodyPr wrap="none">
            <a:spAutoFit/>
          </a:bodyPr>
          <a:lstStyle/>
          <a:p>
            <a:pPr>
              <a:defRPr sz="1500" b="1">
                <a:solidFill>
                  <a:srgbClr val="000000"/>
                </a:solidFill>
                <a:latin typeface="Times New Roman"/>
              </a:defRPr>
            </a:pPr>
            <a:r>
              <a:t>Preload Safety Gate (5 Conditions)</a:t>
            </a:r>
          </a:p>
        </p:txBody>
      </p:sp>
      <p:sp>
        <p:nvSpPr>
          <p:cNvPr id="14" name="TextBox 13"/>
          <p:cNvSpPr txBox="1"/>
          <p:nvPr/>
        </p:nvSpPr>
        <p:spPr>
          <a:xfrm>
            <a:off x="6537960" y="2971800"/>
            <a:ext cx="4846320" cy="868679"/>
          </a:xfrm>
          <a:prstGeom prst="rect">
            <a:avLst/>
          </a:prstGeom>
          <a:noFill/>
        </p:spPr>
        <p:txBody>
          <a:bodyPr wrap="square">
            <a:spAutoFit/>
          </a:bodyPr>
          <a:lstStyle/>
          <a:p>
            <a:pPr>
              <a:spcAft>
                <a:spcPts val="400"/>
              </a:spcAft>
              <a:defRPr sz="1300">
                <a:solidFill>
                  <a:srgbClr val="222222"/>
                </a:solidFill>
                <a:latin typeface="Times New Roman"/>
              </a:defRPr>
            </a:pPr>
            <a:r>
              <a:rPr dirty="0"/>
              <a:t>Before pre-loading a predicted app, 5 conditions must ALL pass:</a:t>
            </a:r>
          </a:p>
          <a:p>
            <a:pPr>
              <a:spcAft>
                <a:spcPts val="400"/>
              </a:spcAft>
            </a:pPr>
            <a:r>
              <a:rPr sz="1300" b="1" dirty="0">
                <a:solidFill>
                  <a:srgbClr val="222222"/>
                </a:solidFill>
                <a:latin typeface="Times New Roman"/>
              </a:rPr>
              <a:t>  1. </a:t>
            </a:r>
            <a:r>
              <a:rPr sz="1300" dirty="0">
                <a:solidFill>
                  <a:srgbClr val="555555"/>
                </a:solidFill>
                <a:latin typeface="Times New Roman"/>
              </a:rPr>
              <a:t>ML confidence is high enough</a:t>
            </a:r>
          </a:p>
          <a:p>
            <a:pPr>
              <a:spcAft>
                <a:spcPts val="400"/>
              </a:spcAft>
            </a:pPr>
            <a:r>
              <a:rPr sz="1300" b="1" dirty="0">
                <a:solidFill>
                  <a:srgbClr val="222222"/>
                </a:solidFill>
                <a:latin typeface="Times New Roman"/>
              </a:rPr>
              <a:t>  2. </a:t>
            </a:r>
            <a:r>
              <a:rPr sz="1300" dirty="0">
                <a:solidFill>
                  <a:srgbClr val="555555"/>
                </a:solidFill>
                <a:latin typeface="Times New Roman"/>
              </a:rPr>
              <a:t>Enough free RAM available</a:t>
            </a:r>
          </a:p>
          <a:p>
            <a:pPr>
              <a:spcAft>
                <a:spcPts val="400"/>
              </a:spcAft>
            </a:pPr>
            <a:r>
              <a:rPr sz="1300" b="1" dirty="0">
                <a:solidFill>
                  <a:srgbClr val="222222"/>
                </a:solidFill>
                <a:latin typeface="Times New Roman"/>
              </a:rPr>
              <a:t>  3. </a:t>
            </a:r>
            <a:r>
              <a:rPr sz="1300" dirty="0">
                <a:solidFill>
                  <a:srgbClr val="555555"/>
                </a:solidFill>
                <a:latin typeface="Times New Roman"/>
              </a:rPr>
              <a:t>Battery is not critically low</a:t>
            </a:r>
          </a:p>
          <a:p>
            <a:pPr>
              <a:spcAft>
                <a:spcPts val="400"/>
              </a:spcAft>
            </a:pPr>
            <a:r>
              <a:rPr sz="1300" b="1" dirty="0">
                <a:solidFill>
                  <a:srgbClr val="222222"/>
                </a:solidFill>
                <a:latin typeface="Times New Roman"/>
              </a:rPr>
              <a:t>  4. </a:t>
            </a:r>
            <a:r>
              <a:rPr sz="1300" dirty="0">
                <a:solidFill>
                  <a:srgbClr val="555555"/>
                </a:solidFill>
                <a:latin typeface="Times New Roman"/>
              </a:rPr>
              <a:t>System is not currently thrashing</a:t>
            </a:r>
          </a:p>
          <a:p>
            <a:pPr>
              <a:spcAft>
                <a:spcPts val="400"/>
              </a:spcAft>
            </a:pPr>
            <a:r>
              <a:rPr sz="1300" b="1" dirty="0">
                <a:solidFill>
                  <a:srgbClr val="222222"/>
                </a:solidFill>
                <a:latin typeface="Times New Roman"/>
              </a:rPr>
              <a:t>  5. </a:t>
            </a:r>
            <a:r>
              <a:rPr sz="1300" dirty="0">
                <a:solidFill>
                  <a:srgbClr val="555555"/>
                </a:solidFill>
                <a:latin typeface="Times New Roman"/>
              </a:rPr>
              <a:t>App is not already in memory</a:t>
            </a:r>
          </a:p>
        </p:txBody>
      </p:sp>
      <p:sp>
        <p:nvSpPr>
          <p:cNvPr id="15" name="Rectangle 14"/>
          <p:cNvSpPr/>
          <p:nvPr/>
        </p:nvSpPr>
        <p:spPr>
          <a:xfrm>
            <a:off x="6400800" y="4709160"/>
            <a:ext cx="5120640" cy="137160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4709160"/>
            <a:ext cx="512064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4745736"/>
            <a:ext cx="4937759" cy="292608"/>
          </a:xfrm>
          <a:prstGeom prst="rect">
            <a:avLst/>
          </a:prstGeom>
          <a:noFill/>
        </p:spPr>
        <p:txBody>
          <a:bodyPr wrap="none">
            <a:spAutoFit/>
          </a:bodyPr>
          <a:lstStyle/>
          <a:p>
            <a:pPr>
              <a:defRPr sz="1500" b="1">
                <a:solidFill>
                  <a:srgbClr val="000000"/>
                </a:solidFill>
                <a:latin typeface="Times New Roman"/>
              </a:defRPr>
            </a:pPr>
            <a:r>
              <a:t>Thrashing Detection &amp; Safe Mode</a:t>
            </a:r>
          </a:p>
        </p:txBody>
      </p:sp>
      <p:sp>
        <p:nvSpPr>
          <p:cNvPr id="18" name="TextBox 17"/>
          <p:cNvSpPr txBox="1"/>
          <p:nvPr/>
        </p:nvSpPr>
        <p:spPr>
          <a:xfrm>
            <a:off x="6537960" y="5120640"/>
            <a:ext cx="4846320" cy="868679"/>
          </a:xfrm>
          <a:prstGeom prst="rect">
            <a:avLst/>
          </a:prstGeom>
          <a:noFill/>
        </p:spPr>
        <p:txBody>
          <a:bodyPr wrap="square">
            <a:spAutoFit/>
          </a:bodyPr>
          <a:lstStyle/>
          <a:p>
            <a:pPr>
              <a:spcAft>
                <a:spcPts val="400"/>
              </a:spcAft>
              <a:defRPr sz="1300">
                <a:solidFill>
                  <a:srgbClr val="222222"/>
                </a:solidFill>
                <a:latin typeface="Times New Roman"/>
              </a:defRPr>
            </a:pPr>
            <a:r>
              <a:t>If the system detects it's making bad decisions (evicting apps and immediately needing them back), it:</a:t>
            </a:r>
          </a:p>
          <a:p>
            <a:pPr>
              <a:spcAft>
                <a:spcPts val="400"/>
              </a:spcAft>
            </a:pPr>
            <a:r>
              <a:rPr sz="1300" b="1">
                <a:solidFill>
                  <a:srgbClr val="222222"/>
                </a:solidFill>
                <a:latin typeface="Times New Roman"/>
              </a:rPr>
              <a:t>• Enters Safe Mode: </a:t>
            </a:r>
            <a:r>
              <a:rPr sz="1300">
                <a:solidFill>
                  <a:srgbClr val="555555"/>
                </a:solidFill>
                <a:latin typeface="Times New Roman"/>
              </a:rPr>
              <a:t>stops preloading, becomes more cautious</a:t>
            </a:r>
          </a:p>
          <a:p>
            <a:pPr>
              <a:spcAft>
                <a:spcPts val="400"/>
              </a:spcAft>
            </a:pPr>
            <a:r>
              <a:rPr sz="1300" b="1">
                <a:solidFill>
                  <a:srgbClr val="222222"/>
                </a:solidFill>
                <a:latin typeface="Times New Roman"/>
              </a:rPr>
              <a:t>• Auto-recovers: </a:t>
            </a:r>
            <a:r>
              <a:rPr sz="1300">
                <a:solidFill>
                  <a:srgbClr val="555555"/>
                </a:solidFill>
                <a:latin typeface="Times New Roman"/>
              </a:rPr>
              <a:t>once stability returns, resumes normal operation</a:t>
            </a:r>
          </a:p>
        </p:txBody>
      </p:sp>
      <p:sp>
        <p:nvSpPr>
          <p:cNvPr id="19" name="TextBox 18"/>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594360"/>
          </a:xfrm>
          <a:prstGeom prst="rect">
            <a:avLst/>
          </a:prstGeom>
          <a:noFill/>
        </p:spPr>
        <p:txBody>
          <a:bodyPr wrap="square">
            <a:spAutoFit/>
          </a:bodyPr>
          <a:lstStyle/>
          <a:p>
            <a:pPr>
              <a:defRPr sz="2800" b="1">
                <a:solidFill>
                  <a:srgbClr val="000000"/>
                </a:solidFill>
                <a:latin typeface="Times New Roman"/>
              </a:defRPr>
            </a:pPr>
            <a:r>
              <a:t>5. ML Model Selection — Why XGBoost</a:t>
            </a:r>
          </a:p>
        </p:txBody>
      </p:sp>
      <p:sp>
        <p:nvSpPr>
          <p:cNvPr id="3" name="Rectangle 2"/>
          <p:cNvSpPr/>
          <p:nvPr/>
        </p:nvSpPr>
        <p:spPr>
          <a:xfrm>
            <a:off x="640080" y="91440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188720"/>
          <a:ext cx="10972800" cy="230428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84048">
                <a:tc>
                  <a:txBody>
                    <a:bodyPr/>
                    <a:lstStyle/>
                    <a:p>
                      <a:pPr>
                        <a:defRPr sz="1200" b="1">
                          <a:solidFill>
                            <a:srgbClr val="000000"/>
                          </a:solidFill>
                          <a:latin typeface="Times New Roman"/>
                        </a:defRPr>
                      </a:pPr>
                      <a:r>
                        <a:t>Criterion</a:t>
                      </a:r>
                    </a:p>
                  </a:txBody>
                  <a:tcPr>
                    <a:solidFill>
                      <a:srgbClr val="DDDDDD"/>
                    </a:solidFill>
                  </a:tcPr>
                </a:tc>
                <a:tc>
                  <a:txBody>
                    <a:bodyPr/>
                    <a:lstStyle/>
                    <a:p>
                      <a:pPr>
                        <a:defRPr sz="1200" b="1">
                          <a:solidFill>
                            <a:srgbClr val="000000"/>
                          </a:solidFill>
                          <a:latin typeface="Times New Roman"/>
                        </a:defRPr>
                      </a:pPr>
                      <a:r>
                        <a:t>Markov Chain (Baseline)</a:t>
                      </a:r>
                    </a:p>
                  </a:txBody>
                  <a:tcPr>
                    <a:solidFill>
                      <a:srgbClr val="DDDDDD"/>
                    </a:solidFill>
                  </a:tcPr>
                </a:tc>
                <a:tc>
                  <a:txBody>
                    <a:bodyPr/>
                    <a:lstStyle/>
                    <a:p>
                      <a:pPr>
                        <a:defRPr sz="1200" b="1">
                          <a:solidFill>
                            <a:srgbClr val="000000"/>
                          </a:solidFill>
                          <a:latin typeface="Times New Roman"/>
                        </a:defRPr>
                      </a:pPr>
                      <a:r>
                        <a:t>XGBoost (Selected)</a:t>
                      </a:r>
                    </a:p>
                  </a:txBody>
                  <a:tcPr>
                    <a:solidFill>
                      <a:srgbClr val="DDDDDD"/>
                    </a:solidFill>
                  </a:tcPr>
                </a:tc>
                <a:tc>
                  <a:txBody>
                    <a:bodyPr/>
                    <a:lstStyle/>
                    <a:p>
                      <a:pPr>
                        <a:defRPr sz="1200" b="1">
                          <a:solidFill>
                            <a:srgbClr val="000000"/>
                          </a:solidFill>
                          <a:latin typeface="Times New Roman"/>
                        </a:defRPr>
                      </a:pPr>
                      <a:r>
                        <a:t>LSTM (Rejected)</a:t>
                      </a:r>
                    </a:p>
                  </a:txBody>
                  <a:tcPr>
                    <a:solidFill>
                      <a:srgbClr val="DDDDDD"/>
                    </a:solidFill>
                  </a:tcPr>
                </a:tc>
                <a:extLst>
                  <a:ext uri="{0D108BD9-81ED-4DB2-BD59-A6C34878D82A}">
                    <a16:rowId xmlns:a16="http://schemas.microsoft.com/office/drawing/2014/main" val="10000"/>
                  </a:ext>
                </a:extLst>
              </a:tr>
              <a:tr h="384048">
                <a:tc>
                  <a:txBody>
                    <a:bodyPr/>
                    <a:lstStyle/>
                    <a:p>
                      <a:pPr>
                        <a:defRPr sz="1200">
                          <a:solidFill>
                            <a:srgbClr val="222222"/>
                          </a:solidFill>
                          <a:latin typeface="Times New Roman"/>
                        </a:defRPr>
                      </a:pPr>
                      <a:r>
                        <a:t>Inference speed</a:t>
                      </a:r>
                    </a:p>
                  </a:txBody>
                  <a:tcPr>
                    <a:solidFill>
                      <a:srgbClr val="FFFFFF"/>
                    </a:solidFill>
                  </a:tcPr>
                </a:tc>
                <a:tc>
                  <a:txBody>
                    <a:bodyPr/>
                    <a:lstStyle/>
                    <a:p>
                      <a:pPr>
                        <a:defRPr sz="1200">
                          <a:solidFill>
                            <a:srgbClr val="222222"/>
                          </a:solidFill>
                          <a:latin typeface="Times New Roman"/>
                        </a:defRPr>
                      </a:pPr>
                      <a:r>
                        <a:t>Instant (&lt;1 ms)</a:t>
                      </a:r>
                    </a:p>
                  </a:txBody>
                  <a:tcPr>
                    <a:solidFill>
                      <a:srgbClr val="FFFFFF"/>
                    </a:solidFill>
                  </a:tcPr>
                </a:tc>
                <a:tc>
                  <a:txBody>
                    <a:bodyPr/>
                    <a:lstStyle/>
                    <a:p>
                      <a:pPr>
                        <a:defRPr sz="1200">
                          <a:solidFill>
                            <a:srgbClr val="222222"/>
                          </a:solidFill>
                          <a:latin typeface="Times New Roman"/>
                        </a:defRPr>
                      </a:pPr>
                      <a:r>
                        <a:t>Very fast (~2 ms)</a:t>
                      </a:r>
                    </a:p>
                  </a:txBody>
                  <a:tcPr>
                    <a:solidFill>
                      <a:srgbClr val="FFFFFF"/>
                    </a:solidFill>
                  </a:tcPr>
                </a:tc>
                <a:tc>
                  <a:txBody>
                    <a:bodyPr/>
                    <a:lstStyle/>
                    <a:p>
                      <a:pPr>
                        <a:defRPr sz="1200">
                          <a:solidFill>
                            <a:srgbClr val="222222"/>
                          </a:solidFill>
                          <a:latin typeface="Times New Roman"/>
                        </a:defRPr>
                      </a:pPr>
                      <a:r>
                        <a:t>Slow (~15 ms)</a:t>
                      </a:r>
                    </a:p>
                  </a:txBody>
                  <a:tcPr>
                    <a:solidFill>
                      <a:srgbClr val="FFFFFF"/>
                    </a:solidFill>
                  </a:tcPr>
                </a:tc>
                <a:extLst>
                  <a:ext uri="{0D108BD9-81ED-4DB2-BD59-A6C34878D82A}">
                    <a16:rowId xmlns:a16="http://schemas.microsoft.com/office/drawing/2014/main" val="10001"/>
                  </a:ext>
                </a:extLst>
              </a:tr>
              <a:tr h="384048">
                <a:tc>
                  <a:txBody>
                    <a:bodyPr/>
                    <a:lstStyle/>
                    <a:p>
                      <a:pPr>
                        <a:defRPr sz="1200">
                          <a:solidFill>
                            <a:srgbClr val="222222"/>
                          </a:solidFill>
                          <a:latin typeface="Times New Roman"/>
                        </a:defRPr>
                      </a:pPr>
                      <a:r>
                        <a:t>Context-awareness</a:t>
                      </a:r>
                    </a:p>
                  </a:txBody>
                  <a:tcPr>
                    <a:solidFill>
                      <a:srgbClr val="FFFFFF"/>
                    </a:solidFill>
                  </a:tcPr>
                </a:tc>
                <a:tc>
                  <a:txBody>
                    <a:bodyPr/>
                    <a:lstStyle/>
                    <a:p>
                      <a:pPr>
                        <a:defRPr sz="1200">
                          <a:solidFill>
                            <a:srgbClr val="222222"/>
                          </a:solidFill>
                          <a:latin typeface="Times New Roman"/>
                        </a:defRPr>
                      </a:pPr>
                      <a:r>
                        <a:t>Knows only current app</a:t>
                      </a:r>
                    </a:p>
                  </a:txBody>
                  <a:tcPr>
                    <a:solidFill>
                      <a:srgbClr val="FFFFFF"/>
                    </a:solidFill>
                  </a:tcPr>
                </a:tc>
                <a:tc>
                  <a:txBody>
                    <a:bodyPr/>
                    <a:lstStyle/>
                    <a:p>
                      <a:pPr>
                        <a:defRPr sz="1200">
                          <a:solidFill>
                            <a:srgbClr val="222222"/>
                          </a:solidFill>
                          <a:latin typeface="Times New Roman"/>
                        </a:defRPr>
                      </a:pPr>
                      <a:r>
                        <a:t>Uses 19 contextual signals</a:t>
                      </a:r>
                    </a:p>
                  </a:txBody>
                  <a:tcPr>
                    <a:solidFill>
                      <a:srgbClr val="FFFFFF"/>
                    </a:solidFill>
                  </a:tcPr>
                </a:tc>
                <a:tc>
                  <a:txBody>
                    <a:bodyPr/>
                    <a:lstStyle/>
                    <a:p>
                      <a:pPr>
                        <a:defRPr sz="1200">
                          <a:solidFill>
                            <a:srgbClr val="222222"/>
                          </a:solidFill>
                          <a:latin typeface="Times New Roman"/>
                        </a:defRPr>
                      </a:pPr>
                      <a:r>
                        <a:t>Uses 19 signals</a:t>
                      </a:r>
                    </a:p>
                  </a:txBody>
                  <a:tcPr>
                    <a:solidFill>
                      <a:srgbClr val="FFFFFF"/>
                    </a:solidFill>
                  </a:tcPr>
                </a:tc>
                <a:extLst>
                  <a:ext uri="{0D108BD9-81ED-4DB2-BD59-A6C34878D82A}">
                    <a16:rowId xmlns:a16="http://schemas.microsoft.com/office/drawing/2014/main" val="10002"/>
                  </a:ext>
                </a:extLst>
              </a:tr>
              <a:tr h="384048">
                <a:tc>
                  <a:txBody>
                    <a:bodyPr/>
                    <a:lstStyle/>
                    <a:p>
                      <a:pPr>
                        <a:defRPr sz="1200">
                          <a:solidFill>
                            <a:srgbClr val="222222"/>
                          </a:solidFill>
                          <a:latin typeface="Times New Roman"/>
                        </a:defRPr>
                      </a:pPr>
                      <a:r>
                        <a:t>Interpretability</a:t>
                      </a:r>
                    </a:p>
                  </a:txBody>
                  <a:tcPr>
                    <a:solidFill>
                      <a:srgbClr val="FFFFFF"/>
                    </a:solidFill>
                  </a:tcPr>
                </a:tc>
                <a:tc>
                  <a:txBody>
                    <a:bodyPr/>
                    <a:lstStyle/>
                    <a:p>
                      <a:pPr>
                        <a:defRPr sz="1200">
                          <a:solidFill>
                            <a:srgbClr val="222222"/>
                          </a:solidFill>
                          <a:latin typeface="Times New Roman"/>
                        </a:defRPr>
                      </a:pPr>
                      <a:r>
                        <a:t>Yes (transition matrix)</a:t>
                      </a:r>
                    </a:p>
                  </a:txBody>
                  <a:tcPr>
                    <a:solidFill>
                      <a:srgbClr val="FFFFFF"/>
                    </a:solidFill>
                  </a:tcPr>
                </a:tc>
                <a:tc>
                  <a:txBody>
                    <a:bodyPr/>
                    <a:lstStyle/>
                    <a:p>
                      <a:pPr>
                        <a:defRPr sz="1200">
                          <a:solidFill>
                            <a:srgbClr val="222222"/>
                          </a:solidFill>
                          <a:latin typeface="Times New Roman"/>
                        </a:defRPr>
                      </a:pPr>
                      <a:r>
                        <a:t>Yes (feature importance)</a:t>
                      </a:r>
                    </a:p>
                  </a:txBody>
                  <a:tcPr>
                    <a:solidFill>
                      <a:srgbClr val="FFFFFF"/>
                    </a:solidFill>
                  </a:tcPr>
                </a:tc>
                <a:tc>
                  <a:txBody>
                    <a:bodyPr/>
                    <a:lstStyle/>
                    <a:p>
                      <a:pPr>
                        <a:defRPr sz="1200">
                          <a:solidFill>
                            <a:srgbClr val="222222"/>
                          </a:solidFill>
                          <a:latin typeface="Times New Roman"/>
                        </a:defRPr>
                      </a:pPr>
                      <a:r>
                        <a:t>No (black box)</a:t>
                      </a:r>
                    </a:p>
                  </a:txBody>
                  <a:tcPr>
                    <a:solidFill>
                      <a:srgbClr val="FFFFFF"/>
                    </a:solidFill>
                  </a:tcPr>
                </a:tc>
                <a:extLst>
                  <a:ext uri="{0D108BD9-81ED-4DB2-BD59-A6C34878D82A}">
                    <a16:rowId xmlns:a16="http://schemas.microsoft.com/office/drawing/2014/main" val="10003"/>
                  </a:ext>
                </a:extLst>
              </a:tr>
              <a:tr h="384048">
                <a:tc>
                  <a:txBody>
                    <a:bodyPr/>
                    <a:lstStyle/>
                    <a:p>
                      <a:pPr>
                        <a:defRPr sz="1200">
                          <a:solidFill>
                            <a:srgbClr val="222222"/>
                          </a:solidFill>
                          <a:latin typeface="Times New Roman"/>
                        </a:defRPr>
                      </a:pPr>
                      <a:r>
                        <a:t>GPU required?</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Yes</a:t>
                      </a:r>
                    </a:p>
                  </a:txBody>
                  <a:tcPr>
                    <a:solidFill>
                      <a:srgbClr val="FFFFFF"/>
                    </a:solidFill>
                  </a:tcPr>
                </a:tc>
                <a:extLst>
                  <a:ext uri="{0D108BD9-81ED-4DB2-BD59-A6C34878D82A}">
                    <a16:rowId xmlns:a16="http://schemas.microsoft.com/office/drawing/2014/main" val="10004"/>
                  </a:ext>
                </a:extLst>
              </a:tr>
              <a:tr h="384048">
                <a:tc>
                  <a:txBody>
                    <a:bodyPr/>
                    <a:lstStyle/>
                    <a:p>
                      <a:pPr>
                        <a:defRPr sz="1200">
                          <a:solidFill>
                            <a:srgbClr val="222222"/>
                          </a:solidFill>
                          <a:latin typeface="Times New Roman"/>
                        </a:defRPr>
                      </a:pPr>
                      <a:r>
                        <a:t>Expected accuracy</a:t>
                      </a:r>
                    </a:p>
                  </a:txBody>
                  <a:tcPr>
                    <a:solidFill>
                      <a:srgbClr val="FFFFFF"/>
                    </a:solidFill>
                  </a:tcPr>
                </a:tc>
                <a:tc>
                  <a:txBody>
                    <a:bodyPr/>
                    <a:lstStyle/>
                    <a:p>
                      <a:pPr>
                        <a:defRPr sz="1200">
                          <a:solidFill>
                            <a:srgbClr val="222222"/>
                          </a:solidFill>
                          <a:latin typeface="Times New Roman"/>
                        </a:defRPr>
                      </a:pPr>
                      <a:r>
                        <a:t>55–65%</a:t>
                      </a:r>
                    </a:p>
                  </a:txBody>
                  <a:tcPr>
                    <a:solidFill>
                      <a:srgbClr val="FFFFFF"/>
                    </a:solidFill>
                  </a:tcPr>
                </a:tc>
                <a:tc>
                  <a:txBody>
                    <a:bodyPr/>
                    <a:lstStyle/>
                    <a:p>
                      <a:pPr>
                        <a:defRPr sz="1200">
                          <a:solidFill>
                            <a:srgbClr val="222222"/>
                          </a:solidFill>
                          <a:latin typeface="Times New Roman"/>
                        </a:defRPr>
                      </a:pPr>
                      <a:r>
                        <a:t>70–80%</a:t>
                      </a:r>
                    </a:p>
                  </a:txBody>
                  <a:tcPr>
                    <a:solidFill>
                      <a:srgbClr val="FFFFFF"/>
                    </a:solidFill>
                  </a:tcPr>
                </a:tc>
                <a:tc>
                  <a:txBody>
                    <a:bodyPr/>
                    <a:lstStyle/>
                    <a:p>
                      <a:pPr>
                        <a:defRPr sz="1200">
                          <a:solidFill>
                            <a:srgbClr val="222222"/>
                          </a:solidFill>
                          <a:latin typeface="Times New Roman"/>
                        </a:defRPr>
                      </a:pPr>
                      <a:r>
                        <a:t>72–82%</a:t>
                      </a:r>
                    </a:p>
                  </a:txBody>
                  <a:tcPr>
                    <a:solidFill>
                      <a:srgbClr val="FFFFFF"/>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640080" y="3931920"/>
            <a:ext cx="5303520" cy="2560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3931920"/>
            <a:ext cx="530352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19" y="3968496"/>
            <a:ext cx="5120640" cy="292608"/>
          </a:xfrm>
          <a:prstGeom prst="rect">
            <a:avLst/>
          </a:prstGeom>
          <a:noFill/>
        </p:spPr>
        <p:txBody>
          <a:bodyPr wrap="none">
            <a:spAutoFit/>
          </a:bodyPr>
          <a:lstStyle/>
          <a:p>
            <a:pPr>
              <a:defRPr sz="1500" b="1">
                <a:solidFill>
                  <a:srgbClr val="000000"/>
                </a:solidFill>
                <a:latin typeface="Times New Roman"/>
              </a:defRPr>
            </a:pPr>
            <a:r>
              <a:t>Why XGBoost?</a:t>
            </a:r>
          </a:p>
        </p:txBody>
      </p:sp>
      <p:sp>
        <p:nvSpPr>
          <p:cNvPr id="8" name="TextBox 7"/>
          <p:cNvSpPr txBox="1"/>
          <p:nvPr/>
        </p:nvSpPr>
        <p:spPr>
          <a:xfrm>
            <a:off x="777240" y="4343400"/>
            <a:ext cx="5029200" cy="2057399"/>
          </a:xfrm>
          <a:prstGeom prst="rect">
            <a:avLst/>
          </a:prstGeom>
          <a:noFill/>
        </p:spPr>
        <p:txBody>
          <a:bodyPr wrap="square">
            <a:spAutoFit/>
          </a:bodyPr>
          <a:lstStyle/>
          <a:p>
            <a:pPr>
              <a:spcAft>
                <a:spcPts val="400"/>
              </a:spcAft>
              <a:defRPr sz="1400">
                <a:solidFill>
                  <a:srgbClr val="222222"/>
                </a:solidFill>
                <a:latin typeface="Times New Roman"/>
              </a:defRPr>
            </a:pPr>
            <a:r>
              <a:t>XGBoost selected because it offers the best balance of:</a:t>
            </a:r>
          </a:p>
          <a:p>
            <a:pPr>
              <a:spcAft>
                <a:spcPts val="400"/>
              </a:spcAft>
              <a:defRPr sz="1400">
                <a:solidFill>
                  <a:srgbClr val="222222"/>
                </a:solidFill>
                <a:latin typeface="Times New Roman"/>
              </a:defRPr>
            </a:pPr>
            <a:endParaRPr/>
          </a:p>
          <a:p>
            <a:pPr>
              <a:spcAft>
                <a:spcPts val="400"/>
              </a:spcAft>
              <a:defRPr sz="1400">
                <a:solidFill>
                  <a:srgbClr val="222222"/>
                </a:solidFill>
                <a:latin typeface="Times New Roman"/>
              </a:defRPr>
            </a:pPr>
            <a:r>
              <a:t>• Speed — fast enough to run on every app switch without the user noticing</a:t>
            </a:r>
          </a:p>
          <a:p>
            <a:pPr>
              <a:spcAft>
                <a:spcPts val="400"/>
              </a:spcAft>
              <a:defRPr sz="1400">
                <a:solidFill>
                  <a:srgbClr val="222222"/>
                </a:solidFill>
                <a:latin typeface="Times New Roman"/>
              </a:defRPr>
            </a:pPr>
            <a:r>
              <a:t>• Accuracy — significantly better than Markov baseline</a:t>
            </a:r>
          </a:p>
          <a:p>
            <a:pPr>
              <a:spcAft>
                <a:spcPts val="400"/>
              </a:spcAft>
              <a:defRPr sz="1400">
                <a:solidFill>
                  <a:srgbClr val="222222"/>
                </a:solidFill>
                <a:latin typeface="Times New Roman"/>
              </a:defRPr>
            </a:pPr>
            <a:r>
              <a:t>• Interpretability — can explain why each prediction was made (important for patent claims)</a:t>
            </a:r>
          </a:p>
          <a:p>
            <a:pPr>
              <a:spcAft>
                <a:spcPts val="400"/>
              </a:spcAft>
              <a:defRPr sz="1400">
                <a:solidFill>
                  <a:srgbClr val="222222"/>
                </a:solidFill>
                <a:latin typeface="Times New Roman"/>
              </a:defRPr>
            </a:pPr>
            <a:r>
              <a:t>• No GPU needed — runs entirely on CPU, doesn't drain battery</a:t>
            </a:r>
          </a:p>
        </p:txBody>
      </p:sp>
      <p:sp>
        <p:nvSpPr>
          <p:cNvPr id="9" name="Rectangle 8"/>
          <p:cNvSpPr/>
          <p:nvPr/>
        </p:nvSpPr>
        <p:spPr>
          <a:xfrm>
            <a:off x="6126480" y="3931920"/>
            <a:ext cx="5394960" cy="25603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0" y="3931920"/>
            <a:ext cx="539496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3968496"/>
            <a:ext cx="5212080" cy="292608"/>
          </a:xfrm>
          <a:prstGeom prst="rect">
            <a:avLst/>
          </a:prstGeom>
          <a:noFill/>
        </p:spPr>
        <p:txBody>
          <a:bodyPr wrap="none">
            <a:spAutoFit/>
          </a:bodyPr>
          <a:lstStyle/>
          <a:p>
            <a:pPr>
              <a:defRPr sz="1500" b="1">
                <a:solidFill>
                  <a:srgbClr val="000000"/>
                </a:solidFill>
                <a:latin typeface="Times New Roman"/>
              </a:defRPr>
            </a:pPr>
            <a:r>
              <a:t>Feature Set (19 Total)</a:t>
            </a:r>
          </a:p>
        </p:txBody>
      </p:sp>
      <p:sp>
        <p:nvSpPr>
          <p:cNvPr id="12" name="TextBox 11"/>
          <p:cNvSpPr txBox="1"/>
          <p:nvPr/>
        </p:nvSpPr>
        <p:spPr>
          <a:xfrm>
            <a:off x="6263640" y="4343400"/>
            <a:ext cx="5120640" cy="2057399"/>
          </a:xfrm>
          <a:prstGeom prst="rect">
            <a:avLst/>
          </a:prstGeom>
          <a:noFill/>
        </p:spPr>
        <p:txBody>
          <a:bodyPr wrap="square">
            <a:spAutoFit/>
          </a:bodyPr>
          <a:lstStyle/>
          <a:p>
            <a:pPr>
              <a:spcAft>
                <a:spcPts val="400"/>
              </a:spcAft>
              <a:defRPr sz="1300">
                <a:solidFill>
                  <a:srgbClr val="222222"/>
                </a:solidFill>
                <a:latin typeface="Times New Roman"/>
              </a:defRPr>
            </a:pPr>
            <a:r>
              <a:t>12 Raw Features:</a:t>
            </a:r>
          </a:p>
          <a:p>
            <a:pPr>
              <a:spcAft>
                <a:spcPts val="400"/>
              </a:spcAft>
              <a:defRPr sz="1300">
                <a:solidFill>
                  <a:srgbClr val="222222"/>
                </a:solidFill>
                <a:latin typeface="Times New Roman"/>
              </a:defRPr>
            </a:pPr>
            <a:r>
              <a:t>current_app, prev_app (×3), hour, day_of_week, battery, is_charging, ram_free, network_type, ai_task_active, app_category</a:t>
            </a:r>
          </a:p>
          <a:p>
            <a:pPr>
              <a:spcAft>
                <a:spcPts val="400"/>
              </a:spcAft>
              <a:defRPr sz="1300">
                <a:solidFill>
                  <a:srgbClr val="222222"/>
                </a:solidFill>
                <a:latin typeface="Times New Roman"/>
              </a:defRPr>
            </a:pPr>
            <a:endParaRPr/>
          </a:p>
          <a:p>
            <a:pPr>
              <a:spcAft>
                <a:spcPts val="400"/>
              </a:spcAft>
              <a:defRPr sz="1300">
                <a:solidFill>
                  <a:srgbClr val="222222"/>
                </a:solidFill>
                <a:latin typeface="Times New Roman"/>
              </a:defRPr>
            </a:pPr>
            <a:r>
              <a:t>7 Derived Features:</a:t>
            </a:r>
          </a:p>
          <a:p>
            <a:pPr>
              <a:spcAft>
                <a:spcPts val="400"/>
              </a:spcAft>
              <a:defRPr sz="1300">
                <a:solidFill>
                  <a:srgbClr val="222222"/>
                </a:solidFill>
                <a:latin typeface="Times New Roman"/>
              </a:defRPr>
            </a:pPr>
            <a:r>
              <a:t>ram_utilization, is_peak_hour, is_weekend, session_depth, time_since_last_switch, battery_bucket, prev_app_category</a:t>
            </a:r>
          </a:p>
          <a:p>
            <a:pPr>
              <a:spcAft>
                <a:spcPts val="400"/>
              </a:spcAft>
              <a:defRPr sz="1300">
                <a:solidFill>
                  <a:srgbClr val="222222"/>
                </a:solidFill>
                <a:latin typeface="Times New Roman"/>
              </a:defRPr>
            </a:pPr>
            <a:endParaRPr/>
          </a:p>
          <a:p>
            <a:pPr>
              <a:spcAft>
                <a:spcPts val="400"/>
              </a:spcAft>
              <a:defRPr sz="1300">
                <a:solidFill>
                  <a:srgbClr val="222222"/>
                </a:solidFill>
                <a:latin typeface="Times New Roman"/>
              </a:defRPr>
            </a:pPr>
            <a:r>
              <a:t>Total: 19 features per prediction event</a:t>
            </a:r>
          </a:p>
        </p:txBody>
      </p:sp>
      <p:sp>
        <p:nvSpPr>
          <p:cNvPr id="13" name="TextBox 12"/>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22860"/>
            <a:ext cx="10972800" cy="594360"/>
          </a:xfrm>
          <a:prstGeom prst="rect">
            <a:avLst/>
          </a:prstGeom>
          <a:noFill/>
        </p:spPr>
        <p:txBody>
          <a:bodyPr wrap="square">
            <a:spAutoFit/>
          </a:bodyPr>
          <a:lstStyle/>
          <a:p>
            <a:pPr>
              <a:defRPr sz="2800" b="1">
                <a:solidFill>
                  <a:srgbClr val="000000"/>
                </a:solidFill>
                <a:latin typeface="Times New Roman"/>
              </a:defRPr>
            </a:pPr>
            <a:r>
              <a:rPr dirty="0"/>
              <a:t>6. System Architecture — High Level Design</a:t>
            </a:r>
          </a:p>
        </p:txBody>
      </p:sp>
      <p:sp>
        <p:nvSpPr>
          <p:cNvPr id="3" name="Rectangle 2"/>
          <p:cNvSpPr/>
          <p:nvPr/>
        </p:nvSpPr>
        <p:spPr>
          <a:xfrm>
            <a:off x="685800" y="470048"/>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hld_architecture.jpg"/>
          <p:cNvPicPr>
            <a:picLocks noChangeAspect="1"/>
          </p:cNvPicPr>
          <p:nvPr/>
        </p:nvPicPr>
        <p:blipFill>
          <a:blip r:embed="rId2"/>
          <a:stretch>
            <a:fillRect/>
          </a:stretch>
        </p:blipFill>
        <p:spPr>
          <a:xfrm>
            <a:off x="1089538" y="1346906"/>
            <a:ext cx="9710214" cy="5419654"/>
          </a:xfrm>
          <a:prstGeom prst="rect">
            <a:avLst/>
          </a:prstGeom>
        </p:spPr>
      </p:pic>
      <p:sp>
        <p:nvSpPr>
          <p:cNvPr id="5" name="TextBox 4"/>
          <p:cNvSpPr txBox="1"/>
          <p:nvPr/>
        </p:nvSpPr>
        <p:spPr>
          <a:xfrm>
            <a:off x="640080" y="536293"/>
            <a:ext cx="10972800" cy="1371600"/>
          </a:xfrm>
          <a:prstGeom prst="rect">
            <a:avLst/>
          </a:prstGeom>
          <a:noFill/>
        </p:spPr>
        <p:txBody>
          <a:bodyPr wrap="square">
            <a:spAutoFit/>
          </a:bodyPr>
          <a:lstStyle/>
          <a:p>
            <a:pPr>
              <a:spcAft>
                <a:spcPts val="500"/>
              </a:spcAft>
            </a:pPr>
            <a:r>
              <a:rPr sz="1400" b="1" dirty="0">
                <a:solidFill>
                  <a:srgbClr val="222222"/>
                </a:solidFill>
                <a:latin typeface="Times New Roman"/>
              </a:rPr>
              <a:t>Modules 1→4: </a:t>
            </a:r>
            <a:r>
              <a:rPr sz="1400" dirty="0">
                <a:solidFill>
                  <a:srgbClr val="555555"/>
                </a:solidFill>
                <a:latin typeface="Times New Roman"/>
              </a:rPr>
              <a:t>real-time pipeline — context collection → prediction → scoring &amp; decision → execution (with feedback loop)</a:t>
            </a:r>
          </a:p>
          <a:p>
            <a:pPr>
              <a:spcAft>
                <a:spcPts val="500"/>
              </a:spcAft>
            </a:pPr>
            <a:r>
              <a:rPr sz="1400" b="1" dirty="0">
                <a:solidFill>
                  <a:srgbClr val="222222"/>
                </a:solidFill>
                <a:latin typeface="Times New Roman"/>
              </a:rPr>
              <a:t>Module 5: </a:t>
            </a:r>
            <a:r>
              <a:rPr sz="1400" dirty="0">
                <a:solidFill>
                  <a:srgbClr val="555555"/>
                </a:solidFill>
                <a:latin typeface="Times New Roman"/>
              </a:rPr>
              <a:t>simulation engine — replays recorded sessions to benchmark against baseline policies</a:t>
            </a:r>
          </a:p>
          <a:p>
            <a:pPr>
              <a:spcAft>
                <a:spcPts val="500"/>
              </a:spcAft>
            </a:pPr>
            <a:r>
              <a:rPr sz="1400" b="1" dirty="0">
                <a:solidFill>
                  <a:srgbClr val="222222"/>
                </a:solidFill>
                <a:latin typeface="Times New Roman"/>
              </a:rPr>
              <a:t>Module 6: </a:t>
            </a:r>
            <a:r>
              <a:rPr sz="1400" dirty="0" err="1">
                <a:solidFill>
                  <a:srgbClr val="555555"/>
                </a:solidFill>
                <a:latin typeface="Times New Roman"/>
              </a:rPr>
              <a:t>Streamlit</a:t>
            </a:r>
            <a:r>
              <a:rPr sz="1400" dirty="0">
                <a:solidFill>
                  <a:srgbClr val="555555"/>
                </a:solidFill>
                <a:latin typeface="Times New Roman"/>
              </a:rPr>
              <a:t> dashboard — real-time visualization of predictions, memory state, and comparisons</a:t>
            </a:r>
          </a:p>
        </p:txBody>
      </p:sp>
      <p:sp>
        <p:nvSpPr>
          <p:cNvPr id="6" name="TextBox 5"/>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109687"/>
            <a:ext cx="10972800" cy="594360"/>
          </a:xfrm>
          <a:prstGeom prst="rect">
            <a:avLst/>
          </a:prstGeom>
          <a:noFill/>
        </p:spPr>
        <p:txBody>
          <a:bodyPr wrap="square">
            <a:spAutoFit/>
          </a:bodyPr>
          <a:lstStyle/>
          <a:p>
            <a:pPr>
              <a:defRPr sz="2800" b="1">
                <a:solidFill>
                  <a:srgbClr val="000000"/>
                </a:solidFill>
                <a:latin typeface="Times New Roman"/>
              </a:defRPr>
            </a:pPr>
            <a:r>
              <a:rPr dirty="0"/>
              <a:t>7. Class Design</a:t>
            </a:r>
          </a:p>
        </p:txBody>
      </p:sp>
      <p:sp>
        <p:nvSpPr>
          <p:cNvPr id="3" name="Rectangle 2"/>
          <p:cNvSpPr/>
          <p:nvPr/>
        </p:nvSpPr>
        <p:spPr>
          <a:xfrm>
            <a:off x="731520" y="36576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lass_diagram.jpg"/>
          <p:cNvPicPr>
            <a:picLocks noChangeAspect="1"/>
          </p:cNvPicPr>
          <p:nvPr/>
        </p:nvPicPr>
        <p:blipFill>
          <a:blip r:embed="rId2"/>
          <a:stretch>
            <a:fillRect/>
          </a:stretch>
        </p:blipFill>
        <p:spPr>
          <a:xfrm>
            <a:off x="731520" y="1248166"/>
            <a:ext cx="10139434" cy="5659219"/>
          </a:xfrm>
          <a:prstGeom prst="rect">
            <a:avLst/>
          </a:prstGeom>
        </p:spPr>
      </p:pic>
      <p:sp>
        <p:nvSpPr>
          <p:cNvPr id="5" name="TextBox 4"/>
          <p:cNvSpPr txBox="1"/>
          <p:nvPr/>
        </p:nvSpPr>
        <p:spPr>
          <a:xfrm>
            <a:off x="731520" y="383151"/>
            <a:ext cx="10972800" cy="1371600"/>
          </a:xfrm>
          <a:prstGeom prst="rect">
            <a:avLst/>
          </a:prstGeom>
          <a:noFill/>
        </p:spPr>
        <p:txBody>
          <a:bodyPr wrap="square">
            <a:spAutoFit/>
          </a:bodyPr>
          <a:lstStyle/>
          <a:p>
            <a:pPr>
              <a:spcAft>
                <a:spcPts val="500"/>
              </a:spcAft>
            </a:pPr>
            <a:r>
              <a:rPr sz="1400" b="1" dirty="0">
                <a:solidFill>
                  <a:srgbClr val="222222"/>
                </a:solidFill>
                <a:latin typeface="Times New Roman"/>
              </a:rPr>
              <a:t>Key classes: </a:t>
            </a:r>
            <a:r>
              <a:rPr sz="1400" dirty="0" err="1">
                <a:solidFill>
                  <a:srgbClr val="555555"/>
                </a:solidFill>
                <a:latin typeface="Times New Roman"/>
              </a:rPr>
              <a:t>ContextSnapshot</a:t>
            </a:r>
            <a:r>
              <a:rPr sz="1400" dirty="0">
                <a:solidFill>
                  <a:srgbClr val="555555"/>
                </a:solidFill>
                <a:latin typeface="Times New Roman"/>
              </a:rPr>
              <a:t> (device state) → </a:t>
            </a:r>
            <a:r>
              <a:rPr sz="1400" dirty="0" err="1">
                <a:solidFill>
                  <a:srgbClr val="555555"/>
                </a:solidFill>
                <a:latin typeface="Times New Roman"/>
              </a:rPr>
              <a:t>FeatureEngine</a:t>
            </a:r>
            <a:r>
              <a:rPr sz="1400" dirty="0">
                <a:solidFill>
                  <a:srgbClr val="555555"/>
                </a:solidFill>
                <a:latin typeface="Times New Roman"/>
              </a:rPr>
              <a:t> (converts to ML input) → Predictor interface (Markov / </a:t>
            </a:r>
            <a:r>
              <a:rPr sz="1400" dirty="0" err="1">
                <a:solidFill>
                  <a:srgbClr val="555555"/>
                </a:solidFill>
                <a:latin typeface="Times New Roman"/>
              </a:rPr>
              <a:t>XGBoost</a:t>
            </a:r>
            <a:r>
              <a:rPr sz="1400" dirty="0">
                <a:solidFill>
                  <a:srgbClr val="555555"/>
                </a:solidFill>
                <a:latin typeface="Times New Roman"/>
              </a:rPr>
              <a:t>)</a:t>
            </a:r>
          </a:p>
          <a:p>
            <a:pPr>
              <a:spcAft>
                <a:spcPts val="500"/>
              </a:spcAft>
            </a:pPr>
            <a:r>
              <a:rPr sz="1400" b="1" dirty="0">
                <a:solidFill>
                  <a:srgbClr val="222222"/>
                </a:solidFill>
                <a:latin typeface="Times New Roman"/>
              </a:rPr>
              <a:t>Decision layer: </a:t>
            </a:r>
            <a:r>
              <a:rPr sz="1400" dirty="0" err="1">
                <a:solidFill>
                  <a:srgbClr val="555555"/>
                </a:solidFill>
                <a:latin typeface="Times New Roman"/>
              </a:rPr>
              <a:t>MemoryDecisionController</a:t>
            </a:r>
            <a:r>
              <a:rPr sz="1400" dirty="0">
                <a:solidFill>
                  <a:srgbClr val="555555"/>
                </a:solidFill>
                <a:latin typeface="Times New Roman"/>
              </a:rPr>
              <a:t> orchestrates </a:t>
            </a:r>
            <a:r>
              <a:rPr sz="1400" dirty="0" err="1">
                <a:solidFill>
                  <a:srgbClr val="555555"/>
                </a:solidFill>
                <a:latin typeface="Times New Roman"/>
              </a:rPr>
              <a:t>CacheScoringEngine</a:t>
            </a:r>
            <a:r>
              <a:rPr sz="1400" dirty="0">
                <a:solidFill>
                  <a:srgbClr val="555555"/>
                </a:solidFill>
                <a:latin typeface="Times New Roman"/>
              </a:rPr>
              <a:t> + </a:t>
            </a:r>
            <a:r>
              <a:rPr sz="1400" dirty="0" err="1">
                <a:solidFill>
                  <a:srgbClr val="555555"/>
                </a:solidFill>
                <a:latin typeface="Times New Roman"/>
              </a:rPr>
              <a:t>PreloadGate</a:t>
            </a:r>
            <a:r>
              <a:rPr sz="1400" dirty="0">
                <a:solidFill>
                  <a:srgbClr val="555555"/>
                </a:solidFill>
                <a:latin typeface="Times New Roman"/>
              </a:rPr>
              <a:t> + </a:t>
            </a:r>
            <a:r>
              <a:rPr sz="1400" dirty="0" err="1">
                <a:solidFill>
                  <a:srgbClr val="555555"/>
                </a:solidFill>
                <a:latin typeface="Times New Roman"/>
              </a:rPr>
              <a:t>ThrashingDetector</a:t>
            </a:r>
            <a:r>
              <a:rPr sz="1400" dirty="0">
                <a:solidFill>
                  <a:srgbClr val="555555"/>
                </a:solidFill>
                <a:latin typeface="Times New Roman"/>
              </a:rPr>
              <a:t> → produces </a:t>
            </a:r>
            <a:r>
              <a:rPr sz="1400" dirty="0" err="1">
                <a:solidFill>
                  <a:srgbClr val="555555"/>
                </a:solidFill>
                <a:latin typeface="Times New Roman"/>
              </a:rPr>
              <a:t>MemoryActionPlan</a:t>
            </a:r>
            <a:endParaRPr sz="1400" dirty="0">
              <a:solidFill>
                <a:srgbClr val="555555"/>
              </a:solidFill>
              <a:latin typeface="Times New Roman"/>
            </a:endParaRPr>
          </a:p>
          <a:p>
            <a:pPr>
              <a:spcAft>
                <a:spcPts val="500"/>
              </a:spcAft>
            </a:pPr>
            <a:r>
              <a:rPr sz="1400" b="1" dirty="0">
                <a:solidFill>
                  <a:srgbClr val="222222"/>
                </a:solidFill>
                <a:latin typeface="Times New Roman"/>
              </a:rPr>
              <a:t>Design pattern: </a:t>
            </a:r>
            <a:r>
              <a:rPr sz="1400" dirty="0">
                <a:solidFill>
                  <a:srgbClr val="555555"/>
                </a:solidFill>
                <a:latin typeface="Times New Roman"/>
              </a:rPr>
              <a:t>Strategy pattern for swappable predictors; Composition for the decision controller</a:t>
            </a:r>
          </a:p>
        </p:txBody>
      </p:sp>
      <p:sp>
        <p:nvSpPr>
          <p:cNvPr id="6" name="TextBox 5"/>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594360"/>
          </a:xfrm>
          <a:prstGeom prst="rect">
            <a:avLst/>
          </a:prstGeom>
          <a:noFill/>
        </p:spPr>
        <p:txBody>
          <a:bodyPr wrap="square">
            <a:spAutoFit/>
          </a:bodyPr>
          <a:lstStyle/>
          <a:p>
            <a:pPr>
              <a:defRPr sz="2800" b="1">
                <a:solidFill>
                  <a:srgbClr val="000000"/>
                </a:solidFill>
                <a:latin typeface="Times New Roman"/>
              </a:defRPr>
            </a:pPr>
            <a:r>
              <a:t>8. Comparison with Existing Approaches</a:t>
            </a:r>
          </a:p>
        </p:txBody>
      </p:sp>
      <p:sp>
        <p:nvSpPr>
          <p:cNvPr id="3" name="Rectangle 2"/>
          <p:cNvSpPr/>
          <p:nvPr/>
        </p:nvSpPr>
        <p:spPr>
          <a:xfrm>
            <a:off x="640080" y="91440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188720"/>
          <a:ext cx="10972800" cy="2304288"/>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384048">
                <a:tc>
                  <a:txBody>
                    <a:bodyPr/>
                    <a:lstStyle/>
                    <a:p>
                      <a:pPr>
                        <a:defRPr sz="1200" b="1">
                          <a:solidFill>
                            <a:srgbClr val="000000"/>
                          </a:solidFill>
                          <a:latin typeface="Times New Roman"/>
                        </a:defRPr>
                      </a:pPr>
                      <a:r>
                        <a:t>Feature</a:t>
                      </a:r>
                    </a:p>
                  </a:txBody>
                  <a:tcPr>
                    <a:solidFill>
                      <a:srgbClr val="DDDDDD"/>
                    </a:solidFill>
                  </a:tcPr>
                </a:tc>
                <a:tc>
                  <a:txBody>
                    <a:bodyPr/>
                    <a:lstStyle/>
                    <a:p>
                      <a:pPr>
                        <a:defRPr sz="1200" b="1">
                          <a:solidFill>
                            <a:srgbClr val="000000"/>
                          </a:solidFill>
                          <a:latin typeface="Times New Roman"/>
                        </a:defRPr>
                      </a:pPr>
                      <a:r>
                        <a:t>No Optimization</a:t>
                      </a:r>
                    </a:p>
                  </a:txBody>
                  <a:tcPr>
                    <a:solidFill>
                      <a:srgbClr val="DDDDDD"/>
                    </a:solidFill>
                  </a:tcPr>
                </a:tc>
                <a:tc>
                  <a:txBody>
                    <a:bodyPr/>
                    <a:lstStyle/>
                    <a:p>
                      <a:pPr>
                        <a:defRPr sz="1200" b="1">
                          <a:solidFill>
                            <a:srgbClr val="000000"/>
                          </a:solidFill>
                          <a:latin typeface="Times New Roman"/>
                        </a:defRPr>
                      </a:pPr>
                      <a:r>
                        <a:t>LRU (Android)</a:t>
                      </a:r>
                    </a:p>
                  </a:txBody>
                  <a:tcPr>
                    <a:solidFill>
                      <a:srgbClr val="DDDDDD"/>
                    </a:solidFill>
                  </a:tcPr>
                </a:tc>
                <a:tc>
                  <a:txBody>
                    <a:bodyPr/>
                    <a:lstStyle/>
                    <a:p>
                      <a:pPr>
                        <a:defRPr sz="1200" b="1">
                          <a:solidFill>
                            <a:srgbClr val="000000"/>
                          </a:solidFill>
                          <a:latin typeface="Times New Roman"/>
                        </a:defRPr>
                      </a:pPr>
                      <a:r>
                        <a:t>Static Preload</a:t>
                      </a:r>
                    </a:p>
                  </a:txBody>
                  <a:tcPr>
                    <a:solidFill>
                      <a:srgbClr val="DDDDDD"/>
                    </a:solidFill>
                  </a:tcPr>
                </a:tc>
                <a:tc>
                  <a:txBody>
                    <a:bodyPr/>
                    <a:lstStyle/>
                    <a:p>
                      <a:pPr>
                        <a:defRPr sz="1200" b="1">
                          <a:solidFill>
                            <a:srgbClr val="000000"/>
                          </a:solidFill>
                          <a:latin typeface="Times New Roman"/>
                        </a:defRPr>
                      </a:pPr>
                      <a:r>
                        <a:t>Our System</a:t>
                      </a:r>
                    </a:p>
                  </a:txBody>
                  <a:tcPr>
                    <a:solidFill>
                      <a:srgbClr val="DDDDDD"/>
                    </a:solidFill>
                  </a:tcPr>
                </a:tc>
                <a:extLst>
                  <a:ext uri="{0D108BD9-81ED-4DB2-BD59-A6C34878D82A}">
                    <a16:rowId xmlns:a16="http://schemas.microsoft.com/office/drawing/2014/main" val="10000"/>
                  </a:ext>
                </a:extLst>
              </a:tr>
              <a:tr h="384048">
                <a:tc>
                  <a:txBody>
                    <a:bodyPr/>
                    <a:lstStyle/>
                    <a:p>
                      <a:pPr>
                        <a:defRPr sz="1200">
                          <a:solidFill>
                            <a:srgbClr val="222222"/>
                          </a:solidFill>
                          <a:latin typeface="Times New Roman"/>
                        </a:defRPr>
                      </a:pPr>
                      <a:r>
                        <a:t>Eviction logic</a:t>
                      </a:r>
                    </a:p>
                  </a:txBody>
                  <a:tcPr>
                    <a:solidFill>
                      <a:srgbClr val="FFFFFF"/>
                    </a:solidFill>
                  </a:tcPr>
                </a:tc>
                <a:tc>
                  <a:txBody>
                    <a:bodyPr/>
                    <a:lstStyle/>
                    <a:p>
                      <a:pPr>
                        <a:defRPr sz="1200">
                          <a:solidFill>
                            <a:srgbClr val="222222"/>
                          </a:solidFill>
                          <a:latin typeface="Times New Roman"/>
                        </a:defRPr>
                      </a:pPr>
                      <a:r>
                        <a:t>Remove oldest</a:t>
                      </a:r>
                    </a:p>
                  </a:txBody>
                  <a:tcPr>
                    <a:solidFill>
                      <a:srgbClr val="FFFFFF"/>
                    </a:solidFill>
                  </a:tcPr>
                </a:tc>
                <a:tc>
                  <a:txBody>
                    <a:bodyPr/>
                    <a:lstStyle/>
                    <a:p>
                      <a:pPr>
                        <a:defRPr sz="1200">
                          <a:solidFill>
                            <a:srgbClr val="222222"/>
                          </a:solidFill>
                          <a:latin typeface="Times New Roman"/>
                        </a:defRPr>
                      </a:pPr>
                      <a:r>
                        <a:t>Remove least recent</a:t>
                      </a:r>
                    </a:p>
                  </a:txBody>
                  <a:tcPr>
                    <a:solidFill>
                      <a:srgbClr val="FFFFFF"/>
                    </a:solidFill>
                  </a:tcPr>
                </a:tc>
                <a:tc>
                  <a:txBody>
                    <a:bodyPr/>
                    <a:lstStyle/>
                    <a:p>
                      <a:pPr>
                        <a:defRPr sz="1200">
                          <a:solidFill>
                            <a:srgbClr val="222222"/>
                          </a:solidFill>
                          <a:latin typeface="Times New Roman"/>
                        </a:defRPr>
                      </a:pPr>
                      <a:r>
                        <a:t>LRU + top-3 apps</a:t>
                      </a:r>
                    </a:p>
                  </a:txBody>
                  <a:tcPr>
                    <a:solidFill>
                      <a:srgbClr val="FFFFFF"/>
                    </a:solidFill>
                  </a:tcPr>
                </a:tc>
                <a:tc>
                  <a:txBody>
                    <a:bodyPr/>
                    <a:lstStyle/>
                    <a:p>
                      <a:pPr>
                        <a:defRPr sz="1200">
                          <a:solidFill>
                            <a:srgbClr val="222222"/>
                          </a:solidFill>
                          <a:latin typeface="Times New Roman"/>
                        </a:defRPr>
                      </a:pPr>
                      <a:r>
                        <a:t>ML-weighted scoring</a:t>
                      </a:r>
                    </a:p>
                  </a:txBody>
                  <a:tcPr>
                    <a:solidFill>
                      <a:srgbClr val="FFFFFF"/>
                    </a:solidFill>
                  </a:tcPr>
                </a:tc>
                <a:extLst>
                  <a:ext uri="{0D108BD9-81ED-4DB2-BD59-A6C34878D82A}">
                    <a16:rowId xmlns:a16="http://schemas.microsoft.com/office/drawing/2014/main" val="10001"/>
                  </a:ext>
                </a:extLst>
              </a:tr>
              <a:tr h="384048">
                <a:tc>
                  <a:txBody>
                    <a:bodyPr/>
                    <a:lstStyle/>
                    <a:p>
                      <a:pPr>
                        <a:defRPr sz="1200">
                          <a:solidFill>
                            <a:srgbClr val="222222"/>
                          </a:solidFill>
                          <a:latin typeface="Times New Roman"/>
                        </a:defRPr>
                      </a:pPr>
                      <a:r>
                        <a:t>Prediction-aware?</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Partially</a:t>
                      </a:r>
                    </a:p>
                  </a:txBody>
                  <a:tcPr>
                    <a:solidFill>
                      <a:srgbClr val="FFFFFF"/>
                    </a:solidFill>
                  </a:tcPr>
                </a:tc>
                <a:tc>
                  <a:txBody>
                    <a:bodyPr/>
                    <a:lstStyle/>
                    <a:p>
                      <a:pPr>
                        <a:defRPr sz="1200">
                          <a:solidFill>
                            <a:srgbClr val="222222"/>
                          </a:solidFill>
                          <a:latin typeface="Times New Roman"/>
                        </a:defRPr>
                      </a:pPr>
                      <a:r>
                        <a:t>Yes (real-time ML)</a:t>
                      </a:r>
                    </a:p>
                  </a:txBody>
                  <a:tcPr>
                    <a:solidFill>
                      <a:srgbClr val="FFFFFF"/>
                    </a:solidFill>
                  </a:tcPr>
                </a:tc>
                <a:extLst>
                  <a:ext uri="{0D108BD9-81ED-4DB2-BD59-A6C34878D82A}">
                    <a16:rowId xmlns:a16="http://schemas.microsoft.com/office/drawing/2014/main" val="10002"/>
                  </a:ext>
                </a:extLst>
              </a:tr>
              <a:tr h="384048">
                <a:tc>
                  <a:txBody>
                    <a:bodyPr/>
                    <a:lstStyle/>
                    <a:p>
                      <a:pPr>
                        <a:defRPr sz="1200">
                          <a:solidFill>
                            <a:srgbClr val="222222"/>
                          </a:solidFill>
                          <a:latin typeface="Times New Roman"/>
                        </a:defRPr>
                      </a:pPr>
                      <a:r>
                        <a:t>Context-aware?</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Yes (19 signals)</a:t>
                      </a:r>
                    </a:p>
                  </a:txBody>
                  <a:tcPr>
                    <a:solidFill>
                      <a:srgbClr val="FFFFFF"/>
                    </a:solidFill>
                  </a:tcPr>
                </a:tc>
                <a:extLst>
                  <a:ext uri="{0D108BD9-81ED-4DB2-BD59-A6C34878D82A}">
                    <a16:rowId xmlns:a16="http://schemas.microsoft.com/office/drawing/2014/main" val="10003"/>
                  </a:ext>
                </a:extLst>
              </a:tr>
              <a:tr h="384048">
                <a:tc>
                  <a:txBody>
                    <a:bodyPr/>
                    <a:lstStyle/>
                    <a:p>
                      <a:pPr>
                        <a:defRPr sz="1200">
                          <a:solidFill>
                            <a:srgbClr val="222222"/>
                          </a:solidFill>
                          <a:latin typeface="Times New Roman"/>
                        </a:defRPr>
                      </a:pPr>
                      <a:r>
                        <a:t>Preload capability</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Fixed list</a:t>
                      </a:r>
                    </a:p>
                  </a:txBody>
                  <a:tcPr>
                    <a:solidFill>
                      <a:srgbClr val="FFFFFF"/>
                    </a:solidFill>
                  </a:tcPr>
                </a:tc>
                <a:tc>
                  <a:txBody>
                    <a:bodyPr/>
                    <a:lstStyle/>
                    <a:p>
                      <a:pPr>
                        <a:defRPr sz="1200">
                          <a:solidFill>
                            <a:srgbClr val="222222"/>
                          </a:solidFill>
                          <a:latin typeface="Times New Roman"/>
                        </a:defRPr>
                      </a:pPr>
                      <a:r>
                        <a:t>Conditional (5 safety gates)</a:t>
                      </a:r>
                    </a:p>
                  </a:txBody>
                  <a:tcPr>
                    <a:solidFill>
                      <a:srgbClr val="FFFFFF"/>
                    </a:solidFill>
                  </a:tcPr>
                </a:tc>
                <a:extLst>
                  <a:ext uri="{0D108BD9-81ED-4DB2-BD59-A6C34878D82A}">
                    <a16:rowId xmlns:a16="http://schemas.microsoft.com/office/drawing/2014/main" val="10004"/>
                  </a:ext>
                </a:extLst>
              </a:tr>
              <a:tr h="384048">
                <a:tc>
                  <a:txBody>
                    <a:bodyPr/>
                    <a:lstStyle/>
                    <a:p>
                      <a:pPr>
                        <a:defRPr sz="1200">
                          <a:solidFill>
                            <a:srgbClr val="222222"/>
                          </a:solidFill>
                          <a:latin typeface="Times New Roman"/>
                        </a:defRPr>
                      </a:pPr>
                      <a:r>
                        <a:t>Thrashing detection</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No</a:t>
                      </a:r>
                    </a:p>
                  </a:txBody>
                  <a:tcPr>
                    <a:solidFill>
                      <a:srgbClr val="FFFFFF"/>
                    </a:solidFill>
                  </a:tcPr>
                </a:tc>
                <a:tc>
                  <a:txBody>
                    <a:bodyPr/>
                    <a:lstStyle/>
                    <a:p>
                      <a:pPr>
                        <a:defRPr sz="1200">
                          <a:solidFill>
                            <a:srgbClr val="222222"/>
                          </a:solidFill>
                          <a:latin typeface="Times New Roman"/>
                        </a:defRPr>
                      </a:pPr>
                      <a:r>
                        <a:t>Yes (auto Safe Mode)</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3840480"/>
            <a:ext cx="10972800" cy="2743200"/>
          </a:xfrm>
          <a:prstGeom prst="rect">
            <a:avLst/>
          </a:prstGeom>
          <a:noFill/>
        </p:spPr>
        <p:txBody>
          <a:bodyPr wrap="square">
            <a:spAutoFit/>
          </a:bodyPr>
          <a:lstStyle/>
          <a:p>
            <a:pPr>
              <a:spcAft>
                <a:spcPts val="500"/>
              </a:spcAft>
              <a:defRPr sz="1700" b="1">
                <a:solidFill>
                  <a:srgbClr val="222222"/>
                </a:solidFill>
                <a:latin typeface="Times New Roman"/>
              </a:defRPr>
            </a:pPr>
            <a:r>
              <a:t>4 Novel Contributions:</a:t>
            </a:r>
          </a:p>
          <a:p>
            <a:pPr>
              <a:spcAft>
                <a:spcPts val="500"/>
              </a:spcAft>
              <a:defRPr sz="1500">
                <a:solidFill>
                  <a:srgbClr val="222222"/>
                </a:solidFill>
                <a:latin typeface="Times New Roman"/>
              </a:defRPr>
            </a:pPr>
            <a:endParaRPr/>
          </a:p>
          <a:p>
            <a:pPr>
              <a:spcAft>
                <a:spcPts val="500"/>
              </a:spcAft>
            </a:pPr>
            <a:r>
              <a:rPr sz="1500" b="1">
                <a:solidFill>
                  <a:srgbClr val="222222"/>
                </a:solidFill>
                <a:latin typeface="Times New Roman"/>
              </a:rPr>
              <a:t>1. Prediction-integrated cache scoring: </a:t>
            </a:r>
            <a:r>
              <a:rPr sz="1500">
                <a:solidFill>
                  <a:srgbClr val="555555"/>
                </a:solidFill>
                <a:latin typeface="Times New Roman"/>
              </a:rPr>
              <a:t>first system to use ML prediction confidence directly in the eviction decision formula</a:t>
            </a:r>
          </a:p>
          <a:p>
            <a:pPr>
              <a:spcAft>
                <a:spcPts val="500"/>
              </a:spcAft>
              <a:defRPr sz="1500">
                <a:solidFill>
                  <a:srgbClr val="222222"/>
                </a:solidFill>
                <a:latin typeface="Times New Roman"/>
              </a:defRPr>
            </a:pPr>
            <a:endParaRPr sz="1500">
              <a:solidFill>
                <a:srgbClr val="555555"/>
              </a:solidFill>
              <a:latin typeface="Times New Roman"/>
            </a:endParaRPr>
          </a:p>
          <a:p>
            <a:pPr>
              <a:spcAft>
                <a:spcPts val="500"/>
              </a:spcAft>
            </a:pPr>
            <a:r>
              <a:rPr sz="1500" b="1">
                <a:solidFill>
                  <a:srgbClr val="222222"/>
                </a:solidFill>
                <a:latin typeface="Times New Roman"/>
              </a:rPr>
              <a:t>2. Multi-condition preload gating: </a:t>
            </a:r>
            <a:r>
              <a:rPr sz="1500">
                <a:solidFill>
                  <a:srgbClr val="555555"/>
                </a:solidFill>
                <a:latin typeface="Times New Roman"/>
              </a:rPr>
              <a:t>5 simultaneous safety checks prevent wasteful or harmful preloading</a:t>
            </a:r>
          </a:p>
          <a:p>
            <a:pPr>
              <a:spcAft>
                <a:spcPts val="500"/>
              </a:spcAft>
              <a:defRPr sz="1500">
                <a:solidFill>
                  <a:srgbClr val="222222"/>
                </a:solidFill>
                <a:latin typeface="Times New Roman"/>
              </a:defRPr>
            </a:pPr>
            <a:endParaRPr sz="1500">
              <a:solidFill>
                <a:srgbClr val="555555"/>
              </a:solidFill>
              <a:latin typeface="Times New Roman"/>
            </a:endParaRPr>
          </a:p>
          <a:p>
            <a:pPr>
              <a:spcAft>
                <a:spcPts val="500"/>
              </a:spcAft>
            </a:pPr>
            <a:r>
              <a:rPr sz="1500" b="1">
                <a:solidFill>
                  <a:srgbClr val="222222"/>
                </a:solidFill>
                <a:latin typeface="Times New Roman"/>
              </a:rPr>
              <a:t>3. Automatic thrashing recovery: </a:t>
            </a:r>
            <a:r>
              <a:rPr sz="1500">
                <a:solidFill>
                  <a:srgbClr val="555555"/>
                </a:solidFill>
                <a:latin typeface="Times New Roman"/>
              </a:rPr>
              <a:t>system detects when predictions are hurting performance and self-corrects via Safe Mode</a:t>
            </a:r>
          </a:p>
          <a:p>
            <a:pPr>
              <a:spcAft>
                <a:spcPts val="500"/>
              </a:spcAft>
              <a:defRPr sz="1500">
                <a:solidFill>
                  <a:srgbClr val="222222"/>
                </a:solidFill>
                <a:latin typeface="Times New Roman"/>
              </a:defRPr>
            </a:pPr>
            <a:endParaRPr sz="1500">
              <a:solidFill>
                <a:srgbClr val="555555"/>
              </a:solidFill>
              <a:latin typeface="Times New Roman"/>
            </a:endParaRPr>
          </a:p>
          <a:p>
            <a:pPr>
              <a:spcAft>
                <a:spcPts val="500"/>
              </a:spcAft>
            </a:pPr>
            <a:r>
              <a:rPr sz="1500" b="1">
                <a:solidFill>
                  <a:srgbClr val="222222"/>
                </a:solidFill>
                <a:latin typeface="Times New Roman"/>
              </a:rPr>
              <a:t>4. AI-workload awareness: </a:t>
            </a:r>
            <a:r>
              <a:rPr sz="1500">
                <a:solidFill>
                  <a:srgbClr val="555555"/>
                </a:solidFill>
                <a:latin typeface="Times New Roman"/>
              </a:rPr>
              <a:t>higher eviction resistance for expensive AI model caches that take 3–6 sec to reload</a:t>
            </a:r>
          </a:p>
        </p:txBody>
      </p:sp>
      <p:sp>
        <p:nvSpPr>
          <p:cNvPr id="6" name="TextBox 5"/>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594360"/>
          </a:xfrm>
          <a:prstGeom prst="rect">
            <a:avLst/>
          </a:prstGeom>
          <a:noFill/>
        </p:spPr>
        <p:txBody>
          <a:bodyPr wrap="square">
            <a:spAutoFit/>
          </a:bodyPr>
          <a:lstStyle/>
          <a:p>
            <a:pPr>
              <a:defRPr sz="2800" b="1">
                <a:solidFill>
                  <a:srgbClr val="000000"/>
                </a:solidFill>
                <a:latin typeface="Times New Roman"/>
              </a:defRPr>
            </a:pPr>
            <a:r>
              <a:t>9. Evaluation Plan</a:t>
            </a:r>
          </a:p>
        </p:txBody>
      </p:sp>
      <p:sp>
        <p:nvSpPr>
          <p:cNvPr id="3" name="Rectangle 2"/>
          <p:cNvSpPr/>
          <p:nvPr/>
        </p:nvSpPr>
        <p:spPr>
          <a:xfrm>
            <a:off x="640080" y="91440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188720"/>
            <a:ext cx="5394960" cy="299827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188720"/>
            <a:ext cx="530352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19" y="1225296"/>
            <a:ext cx="5120640" cy="292608"/>
          </a:xfrm>
          <a:prstGeom prst="rect">
            <a:avLst/>
          </a:prstGeom>
          <a:noFill/>
        </p:spPr>
        <p:txBody>
          <a:bodyPr wrap="none">
            <a:spAutoFit/>
          </a:bodyPr>
          <a:lstStyle/>
          <a:p>
            <a:pPr>
              <a:defRPr sz="1500" b="1">
                <a:solidFill>
                  <a:srgbClr val="000000"/>
                </a:solidFill>
                <a:latin typeface="Times New Roman"/>
              </a:defRPr>
            </a:pPr>
            <a:r>
              <a:rPr dirty="0"/>
              <a:t>Simulation-Based Testing</a:t>
            </a:r>
          </a:p>
        </p:txBody>
      </p:sp>
      <p:sp>
        <p:nvSpPr>
          <p:cNvPr id="7" name="TextBox 6"/>
          <p:cNvSpPr txBox="1"/>
          <p:nvPr/>
        </p:nvSpPr>
        <p:spPr>
          <a:xfrm>
            <a:off x="777239" y="1600200"/>
            <a:ext cx="5074919" cy="2605842"/>
          </a:xfrm>
          <a:prstGeom prst="rect">
            <a:avLst/>
          </a:prstGeom>
          <a:noFill/>
        </p:spPr>
        <p:txBody>
          <a:bodyPr wrap="square">
            <a:spAutoFit/>
          </a:bodyPr>
          <a:lstStyle/>
          <a:p>
            <a:pPr>
              <a:spcAft>
                <a:spcPts val="400"/>
              </a:spcAft>
              <a:defRPr sz="1400">
                <a:solidFill>
                  <a:srgbClr val="222222"/>
                </a:solidFill>
                <a:latin typeface="Times New Roman"/>
              </a:defRPr>
            </a:pPr>
            <a:r>
              <a:rPr dirty="0"/>
              <a:t>Since modifying a real Android kernel is infeasible, we use a discrete-event simulator:</a:t>
            </a:r>
          </a:p>
          <a:p>
            <a:pPr>
              <a:spcAft>
                <a:spcPts val="400"/>
              </a:spcAft>
              <a:defRPr sz="1400">
                <a:solidFill>
                  <a:srgbClr val="222222"/>
                </a:solidFill>
                <a:latin typeface="Times New Roman"/>
              </a:defRPr>
            </a:pPr>
            <a:endParaRPr dirty="0"/>
          </a:p>
          <a:p>
            <a:pPr>
              <a:spcAft>
                <a:spcPts val="400"/>
              </a:spcAft>
              <a:defRPr sz="1400">
                <a:solidFill>
                  <a:srgbClr val="222222"/>
                </a:solidFill>
                <a:latin typeface="Times New Roman"/>
              </a:defRPr>
            </a:pPr>
            <a:r>
              <a:rPr dirty="0"/>
              <a:t>• 50,000 synthetic app-switch events</a:t>
            </a:r>
          </a:p>
          <a:p>
            <a:pPr>
              <a:spcAft>
                <a:spcPts val="400"/>
              </a:spcAft>
              <a:defRPr sz="1400">
                <a:solidFill>
                  <a:srgbClr val="222222"/>
                </a:solidFill>
                <a:latin typeface="Times New Roman"/>
              </a:defRPr>
            </a:pPr>
            <a:r>
              <a:rPr dirty="0"/>
              <a:t>• 5 user personas (student, professional, casual, power user, developer)</a:t>
            </a:r>
          </a:p>
          <a:p>
            <a:pPr>
              <a:spcAft>
                <a:spcPts val="400"/>
              </a:spcAft>
              <a:defRPr sz="1400">
                <a:solidFill>
                  <a:srgbClr val="222222"/>
                </a:solidFill>
                <a:latin typeface="Times New Roman"/>
              </a:defRPr>
            </a:pPr>
            <a:r>
              <a:rPr dirty="0"/>
              <a:t>• 4 policies compared under identical conditions</a:t>
            </a:r>
          </a:p>
          <a:p>
            <a:pPr>
              <a:spcAft>
                <a:spcPts val="400"/>
              </a:spcAft>
              <a:defRPr sz="1400">
                <a:solidFill>
                  <a:srgbClr val="222222"/>
                </a:solidFill>
                <a:latin typeface="Times New Roman"/>
              </a:defRPr>
            </a:pPr>
            <a:r>
              <a:rPr dirty="0"/>
              <a:t>• 3 RAM configurations (4 GB, 6 GB, 8 GB)</a:t>
            </a:r>
          </a:p>
          <a:p>
            <a:pPr>
              <a:spcAft>
                <a:spcPts val="400"/>
              </a:spcAft>
              <a:defRPr sz="1400">
                <a:solidFill>
                  <a:srgbClr val="222222"/>
                </a:solidFill>
                <a:latin typeface="Times New Roman"/>
              </a:defRPr>
            </a:pPr>
            <a:r>
              <a:rPr dirty="0"/>
              <a:t>• 30 repetitions per configuration</a:t>
            </a:r>
          </a:p>
          <a:p>
            <a:pPr>
              <a:spcAft>
                <a:spcPts val="400"/>
              </a:spcAft>
              <a:defRPr sz="1400">
                <a:solidFill>
                  <a:srgbClr val="222222"/>
                </a:solidFill>
                <a:latin typeface="Times New Roman"/>
              </a:defRPr>
            </a:pPr>
            <a:r>
              <a:rPr dirty="0"/>
              <a:t>• Statistical validation: paired t-test, p &lt; 0.05</a:t>
            </a:r>
          </a:p>
        </p:txBody>
      </p:sp>
      <p:sp>
        <p:nvSpPr>
          <p:cNvPr id="8" name="Rectangle 7"/>
          <p:cNvSpPr/>
          <p:nvPr/>
        </p:nvSpPr>
        <p:spPr>
          <a:xfrm>
            <a:off x="6126479" y="1188720"/>
            <a:ext cx="5394961" cy="295351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0" y="1188720"/>
            <a:ext cx="539496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225296"/>
            <a:ext cx="5212080" cy="292608"/>
          </a:xfrm>
          <a:prstGeom prst="rect">
            <a:avLst/>
          </a:prstGeom>
          <a:noFill/>
        </p:spPr>
        <p:txBody>
          <a:bodyPr wrap="none">
            <a:spAutoFit/>
          </a:bodyPr>
          <a:lstStyle/>
          <a:p>
            <a:pPr>
              <a:defRPr sz="1500" b="1">
                <a:solidFill>
                  <a:srgbClr val="000000"/>
                </a:solidFill>
                <a:latin typeface="Times New Roman"/>
              </a:defRPr>
            </a:pPr>
            <a:r>
              <a:t>Key Performance Indicators</a:t>
            </a:r>
          </a:p>
        </p:txBody>
      </p:sp>
      <p:sp>
        <p:nvSpPr>
          <p:cNvPr id="11" name="TextBox 10"/>
          <p:cNvSpPr txBox="1"/>
          <p:nvPr/>
        </p:nvSpPr>
        <p:spPr>
          <a:xfrm>
            <a:off x="6263640" y="1600200"/>
            <a:ext cx="5120640" cy="2240279"/>
          </a:xfrm>
          <a:prstGeom prst="rect">
            <a:avLst/>
          </a:prstGeom>
          <a:noFill/>
        </p:spPr>
        <p:txBody>
          <a:bodyPr wrap="square">
            <a:spAutoFit/>
          </a:bodyPr>
          <a:lstStyle/>
          <a:p>
            <a:pPr>
              <a:spcAft>
                <a:spcPts val="400"/>
              </a:spcAft>
            </a:pPr>
            <a:r>
              <a:rPr sz="1400" b="1" dirty="0">
                <a:solidFill>
                  <a:srgbClr val="222222"/>
                </a:solidFill>
                <a:latin typeface="Times New Roman"/>
              </a:rPr>
              <a:t>Cache Hit Rate: </a:t>
            </a:r>
            <a:r>
              <a:rPr sz="1400" dirty="0">
                <a:solidFill>
                  <a:srgbClr val="555555"/>
                </a:solidFill>
                <a:latin typeface="Times New Roman"/>
              </a:rPr>
              <a:t>% of app launches that are warm starts</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pPr>
            <a:r>
              <a:rPr sz="1400" b="1" dirty="0">
                <a:solidFill>
                  <a:srgbClr val="222222"/>
                </a:solidFill>
                <a:latin typeface="Times New Roman"/>
              </a:rPr>
              <a:t>Avg Launch Latency: </a:t>
            </a:r>
            <a:r>
              <a:rPr sz="1400" dirty="0">
                <a:solidFill>
                  <a:srgbClr val="555555"/>
                </a:solidFill>
                <a:latin typeface="Times New Roman"/>
              </a:rPr>
              <a:t>mean time to open an app</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pPr>
            <a:r>
              <a:rPr sz="1400" b="1" dirty="0">
                <a:solidFill>
                  <a:srgbClr val="222222"/>
                </a:solidFill>
                <a:latin typeface="Times New Roman"/>
              </a:rPr>
              <a:t>Thrashing Events: </a:t>
            </a:r>
            <a:r>
              <a:rPr sz="1400" dirty="0">
                <a:solidFill>
                  <a:srgbClr val="555555"/>
                </a:solidFill>
                <a:latin typeface="Times New Roman"/>
              </a:rPr>
              <a:t>evict-reload cycles per session</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pPr>
            <a:r>
              <a:rPr sz="1400" b="1" dirty="0">
                <a:solidFill>
                  <a:srgbClr val="222222"/>
                </a:solidFill>
                <a:latin typeface="Times New Roman"/>
              </a:rPr>
              <a:t>Preload Success Rate: </a:t>
            </a:r>
            <a:r>
              <a:rPr sz="1400" dirty="0">
                <a:solidFill>
                  <a:srgbClr val="555555"/>
                </a:solidFill>
                <a:latin typeface="Times New Roman"/>
              </a:rPr>
              <a:t>% of preloads that were actually used</a:t>
            </a:r>
          </a:p>
          <a:p>
            <a:pPr>
              <a:spcAft>
                <a:spcPts val="400"/>
              </a:spcAft>
              <a:defRPr sz="1400">
                <a:solidFill>
                  <a:srgbClr val="222222"/>
                </a:solidFill>
                <a:latin typeface="Times New Roman"/>
              </a:defRPr>
            </a:pPr>
            <a:endParaRPr sz="1400" dirty="0">
              <a:solidFill>
                <a:srgbClr val="555555"/>
              </a:solidFill>
              <a:latin typeface="Times New Roman"/>
            </a:endParaRPr>
          </a:p>
          <a:p>
            <a:pPr>
              <a:spcAft>
                <a:spcPts val="400"/>
              </a:spcAft>
            </a:pPr>
            <a:r>
              <a:rPr sz="1400" b="1" dirty="0">
                <a:solidFill>
                  <a:srgbClr val="222222"/>
                </a:solidFill>
                <a:latin typeface="Times New Roman"/>
              </a:rPr>
              <a:t>Prediction Accuracy: </a:t>
            </a:r>
            <a:r>
              <a:rPr sz="1400" dirty="0">
                <a:solidFill>
                  <a:srgbClr val="555555"/>
                </a:solidFill>
                <a:latin typeface="Times New Roman"/>
              </a:rPr>
              <a:t>top-1 and top-3 correct prediction rates</a:t>
            </a:r>
          </a:p>
        </p:txBody>
      </p:sp>
      <p:sp>
        <p:nvSpPr>
          <p:cNvPr id="12" name="Rectangle 11"/>
          <p:cNvSpPr/>
          <p:nvPr/>
        </p:nvSpPr>
        <p:spPr>
          <a:xfrm>
            <a:off x="640080" y="4206240"/>
            <a:ext cx="10972800" cy="2376678"/>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4206240"/>
            <a:ext cx="10972800" cy="347472"/>
          </a:xfrm>
          <a:prstGeom prst="rect">
            <a:avLst/>
          </a:prstGeom>
          <a:solidFill>
            <a:srgbClr val="DDDDDD"/>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19" y="4242816"/>
            <a:ext cx="10789920" cy="292608"/>
          </a:xfrm>
          <a:prstGeom prst="rect">
            <a:avLst/>
          </a:prstGeom>
          <a:noFill/>
        </p:spPr>
        <p:txBody>
          <a:bodyPr wrap="none">
            <a:spAutoFit/>
          </a:bodyPr>
          <a:lstStyle/>
          <a:p>
            <a:pPr>
              <a:defRPr sz="1500" b="1">
                <a:solidFill>
                  <a:srgbClr val="000000"/>
                </a:solidFill>
                <a:latin typeface="Times New Roman"/>
              </a:defRPr>
            </a:pPr>
            <a:r>
              <a:rPr dirty="0"/>
              <a:t>Ablation Study — Validating Feature Importance</a:t>
            </a:r>
          </a:p>
        </p:txBody>
      </p:sp>
      <p:sp>
        <p:nvSpPr>
          <p:cNvPr id="15" name="TextBox 14"/>
          <p:cNvSpPr txBox="1"/>
          <p:nvPr/>
        </p:nvSpPr>
        <p:spPr>
          <a:xfrm>
            <a:off x="777240" y="4617720"/>
            <a:ext cx="10698480" cy="1600199"/>
          </a:xfrm>
          <a:prstGeom prst="rect">
            <a:avLst/>
          </a:prstGeom>
          <a:noFill/>
        </p:spPr>
        <p:txBody>
          <a:bodyPr wrap="square">
            <a:spAutoFit/>
          </a:bodyPr>
          <a:lstStyle/>
          <a:p>
            <a:pPr>
              <a:spcAft>
                <a:spcPts val="400"/>
              </a:spcAft>
              <a:defRPr sz="1400">
                <a:solidFill>
                  <a:srgbClr val="222222"/>
                </a:solidFill>
                <a:latin typeface="Times New Roman"/>
              </a:defRPr>
            </a:pPr>
            <a:r>
              <a:rPr dirty="0"/>
              <a:t>Systematically remove one feature group at a time and measure accuracy drop — proves which contextual signals contribute most to prediction quality.</a:t>
            </a:r>
          </a:p>
          <a:p>
            <a:pPr>
              <a:spcAft>
                <a:spcPts val="400"/>
              </a:spcAft>
              <a:defRPr sz="1400">
                <a:solidFill>
                  <a:srgbClr val="222222"/>
                </a:solidFill>
                <a:latin typeface="Times New Roman"/>
              </a:defRPr>
            </a:pPr>
            <a:endParaRPr dirty="0"/>
          </a:p>
          <a:p>
            <a:pPr>
              <a:spcAft>
                <a:spcPts val="400"/>
              </a:spcAft>
              <a:defRPr sz="1400">
                <a:solidFill>
                  <a:srgbClr val="222222"/>
                </a:solidFill>
                <a:latin typeface="Times New Roman"/>
              </a:defRPr>
            </a:pPr>
            <a:r>
              <a:rPr dirty="0"/>
              <a:t>• Remove app history → expect largest accuracy drop (proves sequential patterns are most important)</a:t>
            </a:r>
          </a:p>
          <a:p>
            <a:pPr>
              <a:spcAft>
                <a:spcPts val="400"/>
              </a:spcAft>
              <a:defRPr sz="1400">
                <a:solidFill>
                  <a:srgbClr val="222222"/>
                </a:solidFill>
                <a:latin typeface="Times New Roman"/>
              </a:defRPr>
            </a:pPr>
            <a:r>
              <a:rPr dirty="0"/>
              <a:t>• Remove temporal features → moderate drop (proves time-of-day matters)</a:t>
            </a:r>
          </a:p>
          <a:p>
            <a:pPr>
              <a:spcAft>
                <a:spcPts val="400"/>
              </a:spcAft>
              <a:defRPr sz="1400">
                <a:solidFill>
                  <a:srgbClr val="222222"/>
                </a:solidFill>
                <a:latin typeface="Times New Roman"/>
              </a:defRPr>
            </a:pPr>
            <a:r>
              <a:rPr dirty="0"/>
              <a:t>• Remove device state → smaller drop (battery/RAM add value but less than history)</a:t>
            </a:r>
          </a:p>
          <a:p>
            <a:pPr>
              <a:spcAft>
                <a:spcPts val="400"/>
              </a:spcAft>
              <a:defRPr sz="1400">
                <a:solidFill>
                  <a:srgbClr val="222222"/>
                </a:solidFill>
                <a:latin typeface="Times New Roman"/>
              </a:defRPr>
            </a:pPr>
            <a:r>
              <a:rPr dirty="0"/>
              <a:t>• Keep only current app → drops to Markov baseline (proves multi-feature approach is essential)</a:t>
            </a:r>
          </a:p>
        </p:txBody>
      </p:sp>
      <p:sp>
        <p:nvSpPr>
          <p:cNvPr id="16" name="TextBox 15"/>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2647"/>
            <a:ext cx="10972800" cy="594360"/>
          </a:xfrm>
          <a:prstGeom prst="rect">
            <a:avLst/>
          </a:prstGeom>
          <a:noFill/>
        </p:spPr>
        <p:txBody>
          <a:bodyPr wrap="square">
            <a:spAutoFit/>
          </a:bodyPr>
          <a:lstStyle/>
          <a:p>
            <a:pPr>
              <a:defRPr sz="2800" b="1">
                <a:solidFill>
                  <a:srgbClr val="000000"/>
                </a:solidFill>
                <a:latin typeface="Times New Roman"/>
              </a:defRPr>
            </a:pPr>
            <a:r>
              <a:rPr dirty="0"/>
              <a:t>10. Implementation Timeline &amp; Technology Stack</a:t>
            </a:r>
          </a:p>
        </p:txBody>
      </p:sp>
      <p:sp>
        <p:nvSpPr>
          <p:cNvPr id="3" name="Rectangle 2"/>
          <p:cNvSpPr/>
          <p:nvPr/>
        </p:nvSpPr>
        <p:spPr>
          <a:xfrm>
            <a:off x="656302" y="542663"/>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3602609951"/>
              </p:ext>
            </p:extLst>
          </p:nvPr>
        </p:nvGraphicFramePr>
        <p:xfrm>
          <a:off x="776749" y="622793"/>
          <a:ext cx="9506319" cy="3297888"/>
        </p:xfrm>
        <a:graphic>
          <a:graphicData uri="http://schemas.openxmlformats.org/drawingml/2006/table">
            <a:tbl>
              <a:tblPr firstRow="1" bandRow="1">
                <a:tableStyleId>{5C22544A-7EE6-4342-B048-85BDC9FD1C3A}</a:tableStyleId>
              </a:tblPr>
              <a:tblGrid>
                <a:gridCol w="3168773">
                  <a:extLst>
                    <a:ext uri="{9D8B030D-6E8A-4147-A177-3AD203B41FA5}">
                      <a16:colId xmlns:a16="http://schemas.microsoft.com/office/drawing/2014/main" val="20000"/>
                    </a:ext>
                  </a:extLst>
                </a:gridCol>
                <a:gridCol w="3168773">
                  <a:extLst>
                    <a:ext uri="{9D8B030D-6E8A-4147-A177-3AD203B41FA5}">
                      <a16:colId xmlns:a16="http://schemas.microsoft.com/office/drawing/2014/main" val="20001"/>
                    </a:ext>
                  </a:extLst>
                </a:gridCol>
                <a:gridCol w="3168773">
                  <a:extLst>
                    <a:ext uri="{9D8B030D-6E8A-4147-A177-3AD203B41FA5}">
                      <a16:colId xmlns:a16="http://schemas.microsoft.com/office/drawing/2014/main" val="20002"/>
                    </a:ext>
                  </a:extLst>
                </a:gridCol>
              </a:tblGrid>
              <a:tr h="366180">
                <a:tc>
                  <a:txBody>
                    <a:bodyPr/>
                    <a:lstStyle/>
                    <a:p>
                      <a:pPr>
                        <a:defRPr sz="1200" b="1">
                          <a:solidFill>
                            <a:srgbClr val="000000"/>
                          </a:solidFill>
                          <a:latin typeface="Times New Roman"/>
                        </a:defRPr>
                      </a:pPr>
                      <a:r>
                        <a:rPr dirty="0"/>
                        <a:t>Week</a:t>
                      </a:r>
                    </a:p>
                  </a:txBody>
                  <a:tcPr>
                    <a:solidFill>
                      <a:srgbClr val="DDDDDD"/>
                    </a:solidFill>
                  </a:tcPr>
                </a:tc>
                <a:tc>
                  <a:txBody>
                    <a:bodyPr/>
                    <a:lstStyle/>
                    <a:p>
                      <a:pPr>
                        <a:defRPr sz="1200" b="1">
                          <a:solidFill>
                            <a:srgbClr val="000000"/>
                          </a:solidFill>
                          <a:latin typeface="Times New Roman"/>
                        </a:defRPr>
                      </a:pPr>
                      <a:r>
                        <a:t>Phase</a:t>
                      </a:r>
                    </a:p>
                  </a:txBody>
                  <a:tcPr>
                    <a:solidFill>
                      <a:srgbClr val="DDDDDD"/>
                    </a:solidFill>
                  </a:tcPr>
                </a:tc>
                <a:tc>
                  <a:txBody>
                    <a:bodyPr/>
                    <a:lstStyle/>
                    <a:p>
                      <a:pPr>
                        <a:defRPr sz="1200" b="1">
                          <a:solidFill>
                            <a:srgbClr val="000000"/>
                          </a:solidFill>
                          <a:latin typeface="Times New Roman"/>
                        </a:defRPr>
                      </a:pPr>
                      <a:r>
                        <a:t>What We Deliver</a:t>
                      </a:r>
                    </a:p>
                  </a:txBody>
                  <a:tcPr>
                    <a:solidFill>
                      <a:srgbClr val="DDDDDD"/>
                    </a:solidFill>
                  </a:tcPr>
                </a:tc>
                <a:extLst>
                  <a:ext uri="{0D108BD9-81ED-4DB2-BD59-A6C34878D82A}">
                    <a16:rowId xmlns:a16="http://schemas.microsoft.com/office/drawing/2014/main" val="10000"/>
                  </a:ext>
                </a:extLst>
              </a:tr>
              <a:tr h="366180">
                <a:tc>
                  <a:txBody>
                    <a:bodyPr/>
                    <a:lstStyle/>
                    <a:p>
                      <a:pPr>
                        <a:defRPr sz="1200">
                          <a:solidFill>
                            <a:srgbClr val="222222"/>
                          </a:solidFill>
                          <a:latin typeface="Times New Roman"/>
                        </a:defRPr>
                      </a:pPr>
                      <a:r>
                        <a:t>1</a:t>
                      </a:r>
                    </a:p>
                  </a:txBody>
                  <a:tcPr>
                    <a:solidFill>
                      <a:srgbClr val="FFFFFF"/>
                    </a:solidFill>
                  </a:tcPr>
                </a:tc>
                <a:tc>
                  <a:txBody>
                    <a:bodyPr/>
                    <a:lstStyle/>
                    <a:p>
                      <a:pPr>
                        <a:defRPr sz="1200">
                          <a:solidFill>
                            <a:srgbClr val="222222"/>
                          </a:solidFill>
                          <a:latin typeface="Times New Roman"/>
                        </a:defRPr>
                      </a:pPr>
                      <a:r>
                        <a:t>Foundation + Data</a:t>
                      </a:r>
                    </a:p>
                  </a:txBody>
                  <a:tcPr>
                    <a:solidFill>
                      <a:srgbClr val="FFFFFF"/>
                    </a:solidFill>
                  </a:tcPr>
                </a:tc>
                <a:tc>
                  <a:txBody>
                    <a:bodyPr/>
                    <a:lstStyle/>
                    <a:p>
                      <a:pPr>
                        <a:defRPr sz="1200">
                          <a:solidFill>
                            <a:srgbClr val="222222"/>
                          </a:solidFill>
                          <a:latin typeface="Times New Roman"/>
                        </a:defRPr>
                      </a:pPr>
                      <a:r>
                        <a:t>Project setup, app profiles, 50K synthetic events</a:t>
                      </a:r>
                    </a:p>
                  </a:txBody>
                  <a:tcPr>
                    <a:solidFill>
                      <a:srgbClr val="FFFFFF"/>
                    </a:solidFill>
                  </a:tcPr>
                </a:tc>
                <a:extLst>
                  <a:ext uri="{0D108BD9-81ED-4DB2-BD59-A6C34878D82A}">
                    <a16:rowId xmlns:a16="http://schemas.microsoft.com/office/drawing/2014/main" val="10001"/>
                  </a:ext>
                </a:extLst>
              </a:tr>
              <a:tr h="458292">
                <a:tc>
                  <a:txBody>
                    <a:bodyPr/>
                    <a:lstStyle/>
                    <a:p>
                      <a:pPr>
                        <a:defRPr sz="1200">
                          <a:solidFill>
                            <a:srgbClr val="222222"/>
                          </a:solidFill>
                          <a:latin typeface="Times New Roman"/>
                        </a:defRPr>
                      </a:pPr>
                      <a:r>
                        <a:rPr dirty="0"/>
                        <a:t>2</a:t>
                      </a:r>
                    </a:p>
                  </a:txBody>
                  <a:tcPr>
                    <a:solidFill>
                      <a:srgbClr val="FFFFFF"/>
                    </a:solidFill>
                  </a:tcPr>
                </a:tc>
                <a:tc>
                  <a:txBody>
                    <a:bodyPr/>
                    <a:lstStyle/>
                    <a:p>
                      <a:pPr>
                        <a:defRPr sz="1200">
                          <a:solidFill>
                            <a:srgbClr val="222222"/>
                          </a:solidFill>
                          <a:latin typeface="Times New Roman"/>
                        </a:defRPr>
                      </a:pPr>
                      <a:r>
                        <a:t>ML Models</a:t>
                      </a:r>
                    </a:p>
                  </a:txBody>
                  <a:tcPr>
                    <a:solidFill>
                      <a:srgbClr val="FFFFFF"/>
                    </a:solidFill>
                  </a:tcPr>
                </a:tc>
                <a:tc>
                  <a:txBody>
                    <a:bodyPr/>
                    <a:lstStyle/>
                    <a:p>
                      <a:pPr>
                        <a:defRPr sz="1200">
                          <a:solidFill>
                            <a:srgbClr val="222222"/>
                          </a:solidFill>
                          <a:latin typeface="Times New Roman"/>
                        </a:defRPr>
                      </a:pPr>
                      <a:r>
                        <a:t>Feature engine, Markov + XGBoost training &amp; evaluation</a:t>
                      </a:r>
                    </a:p>
                  </a:txBody>
                  <a:tcPr>
                    <a:solidFill>
                      <a:srgbClr val="FFFFFF"/>
                    </a:solidFill>
                  </a:tcPr>
                </a:tc>
                <a:extLst>
                  <a:ext uri="{0D108BD9-81ED-4DB2-BD59-A6C34878D82A}">
                    <a16:rowId xmlns:a16="http://schemas.microsoft.com/office/drawing/2014/main" val="10002"/>
                  </a:ext>
                </a:extLst>
              </a:tr>
              <a:tr h="458292">
                <a:tc>
                  <a:txBody>
                    <a:bodyPr/>
                    <a:lstStyle/>
                    <a:p>
                      <a:pPr>
                        <a:defRPr sz="1200">
                          <a:solidFill>
                            <a:srgbClr val="222222"/>
                          </a:solidFill>
                          <a:latin typeface="Times New Roman"/>
                        </a:defRPr>
                      </a:pPr>
                      <a:r>
                        <a:t>3</a:t>
                      </a:r>
                    </a:p>
                  </a:txBody>
                  <a:tcPr>
                    <a:solidFill>
                      <a:srgbClr val="FFFFFF"/>
                    </a:solidFill>
                  </a:tcPr>
                </a:tc>
                <a:tc>
                  <a:txBody>
                    <a:bodyPr/>
                    <a:lstStyle/>
                    <a:p>
                      <a:pPr>
                        <a:defRPr sz="1200">
                          <a:solidFill>
                            <a:srgbClr val="222222"/>
                          </a:solidFill>
                          <a:latin typeface="Times New Roman"/>
                        </a:defRPr>
                      </a:pPr>
                      <a:r>
                        <a:t>Memory Simulator</a:t>
                      </a:r>
                    </a:p>
                  </a:txBody>
                  <a:tcPr>
                    <a:solidFill>
                      <a:srgbClr val="FFFFFF"/>
                    </a:solidFill>
                  </a:tcPr>
                </a:tc>
                <a:tc>
                  <a:txBody>
                    <a:bodyPr/>
                    <a:lstStyle/>
                    <a:p>
                      <a:pPr>
                        <a:defRPr sz="1200">
                          <a:solidFill>
                            <a:srgbClr val="222222"/>
                          </a:solidFill>
                          <a:latin typeface="Times New Roman"/>
                        </a:defRPr>
                      </a:pPr>
                      <a:r>
                        <a:t>Memory state tracker, 3 baselines + proposed system</a:t>
                      </a:r>
                    </a:p>
                  </a:txBody>
                  <a:tcPr>
                    <a:solidFill>
                      <a:srgbClr val="FFFFFF"/>
                    </a:solidFill>
                  </a:tcPr>
                </a:tc>
                <a:extLst>
                  <a:ext uri="{0D108BD9-81ED-4DB2-BD59-A6C34878D82A}">
                    <a16:rowId xmlns:a16="http://schemas.microsoft.com/office/drawing/2014/main" val="10003"/>
                  </a:ext>
                </a:extLst>
              </a:tr>
              <a:tr h="458292">
                <a:tc>
                  <a:txBody>
                    <a:bodyPr/>
                    <a:lstStyle/>
                    <a:p>
                      <a:pPr>
                        <a:defRPr sz="1200">
                          <a:solidFill>
                            <a:srgbClr val="222222"/>
                          </a:solidFill>
                          <a:latin typeface="Times New Roman"/>
                        </a:defRPr>
                      </a:pPr>
                      <a:r>
                        <a:rPr dirty="0"/>
                        <a:t>4</a:t>
                      </a:r>
                    </a:p>
                  </a:txBody>
                  <a:tcPr>
                    <a:solidFill>
                      <a:srgbClr val="FFFFFF"/>
                    </a:solidFill>
                  </a:tcPr>
                </a:tc>
                <a:tc>
                  <a:txBody>
                    <a:bodyPr/>
                    <a:lstStyle/>
                    <a:p>
                      <a:pPr>
                        <a:defRPr sz="1200">
                          <a:solidFill>
                            <a:srgbClr val="222222"/>
                          </a:solidFill>
                          <a:latin typeface="Times New Roman"/>
                        </a:defRPr>
                      </a:pPr>
                      <a:r>
                        <a:t>Benchmarking</a:t>
                      </a:r>
                    </a:p>
                  </a:txBody>
                  <a:tcPr>
                    <a:solidFill>
                      <a:srgbClr val="FFFFFF"/>
                    </a:solidFill>
                  </a:tcPr>
                </a:tc>
                <a:tc>
                  <a:txBody>
                    <a:bodyPr/>
                    <a:lstStyle/>
                    <a:p>
                      <a:pPr>
                        <a:defRPr sz="1200">
                          <a:solidFill>
                            <a:srgbClr val="222222"/>
                          </a:solidFill>
                          <a:latin typeface="Times New Roman"/>
                        </a:defRPr>
                      </a:pPr>
                      <a:r>
                        <a:t>Full benchmark suite + ablation + statistical validation</a:t>
                      </a:r>
                    </a:p>
                  </a:txBody>
                  <a:tcPr>
                    <a:solidFill>
                      <a:srgbClr val="FFFFFF"/>
                    </a:solidFill>
                  </a:tcPr>
                </a:tc>
                <a:extLst>
                  <a:ext uri="{0D108BD9-81ED-4DB2-BD59-A6C34878D82A}">
                    <a16:rowId xmlns:a16="http://schemas.microsoft.com/office/drawing/2014/main" val="10004"/>
                  </a:ext>
                </a:extLst>
              </a:tr>
              <a:tr h="366180">
                <a:tc>
                  <a:txBody>
                    <a:bodyPr/>
                    <a:lstStyle/>
                    <a:p>
                      <a:pPr>
                        <a:defRPr sz="1200">
                          <a:solidFill>
                            <a:srgbClr val="222222"/>
                          </a:solidFill>
                          <a:latin typeface="Times New Roman"/>
                        </a:defRPr>
                      </a:pPr>
                      <a:r>
                        <a:t>5</a:t>
                      </a:r>
                    </a:p>
                  </a:txBody>
                  <a:tcPr>
                    <a:solidFill>
                      <a:srgbClr val="FFFFFF"/>
                    </a:solidFill>
                  </a:tcPr>
                </a:tc>
                <a:tc>
                  <a:txBody>
                    <a:bodyPr/>
                    <a:lstStyle/>
                    <a:p>
                      <a:pPr>
                        <a:defRPr sz="1200">
                          <a:solidFill>
                            <a:srgbClr val="222222"/>
                          </a:solidFill>
                          <a:latin typeface="Times New Roman"/>
                        </a:defRPr>
                      </a:pPr>
                      <a:r>
                        <a:t>Visualization</a:t>
                      </a:r>
                    </a:p>
                  </a:txBody>
                  <a:tcPr>
                    <a:solidFill>
                      <a:srgbClr val="FFFFFF"/>
                    </a:solidFill>
                  </a:tcPr>
                </a:tc>
                <a:tc>
                  <a:txBody>
                    <a:bodyPr/>
                    <a:lstStyle/>
                    <a:p>
                      <a:pPr>
                        <a:defRPr sz="1200">
                          <a:solidFill>
                            <a:srgbClr val="222222"/>
                          </a:solidFill>
                          <a:latin typeface="Times New Roman"/>
                        </a:defRPr>
                      </a:pPr>
                      <a:r>
                        <a:t>Publication charts + Streamlit dashboard</a:t>
                      </a:r>
                    </a:p>
                  </a:txBody>
                  <a:tcPr>
                    <a:solidFill>
                      <a:srgbClr val="FFFFFF"/>
                    </a:solidFill>
                  </a:tcPr>
                </a:tc>
                <a:extLst>
                  <a:ext uri="{0D108BD9-81ED-4DB2-BD59-A6C34878D82A}">
                    <a16:rowId xmlns:a16="http://schemas.microsoft.com/office/drawing/2014/main" val="10005"/>
                  </a:ext>
                </a:extLst>
              </a:tr>
              <a:tr h="366180">
                <a:tc>
                  <a:txBody>
                    <a:bodyPr/>
                    <a:lstStyle/>
                    <a:p>
                      <a:pPr>
                        <a:defRPr sz="1200">
                          <a:solidFill>
                            <a:srgbClr val="222222"/>
                          </a:solidFill>
                          <a:latin typeface="Times New Roman"/>
                        </a:defRPr>
                      </a:pPr>
                      <a:r>
                        <a:t>6–7</a:t>
                      </a:r>
                    </a:p>
                  </a:txBody>
                  <a:tcPr>
                    <a:solidFill>
                      <a:srgbClr val="FFFFFF"/>
                    </a:solidFill>
                  </a:tcPr>
                </a:tc>
                <a:tc>
                  <a:txBody>
                    <a:bodyPr/>
                    <a:lstStyle/>
                    <a:p>
                      <a:pPr>
                        <a:defRPr sz="1200">
                          <a:solidFill>
                            <a:srgbClr val="222222"/>
                          </a:solidFill>
                          <a:latin typeface="Times New Roman"/>
                        </a:defRPr>
                      </a:pPr>
                      <a:r>
                        <a:t>Patent Filing</a:t>
                      </a:r>
                    </a:p>
                  </a:txBody>
                  <a:tcPr>
                    <a:solidFill>
                      <a:srgbClr val="FFFFFF"/>
                    </a:solidFill>
                  </a:tcPr>
                </a:tc>
                <a:tc>
                  <a:txBody>
                    <a:bodyPr/>
                    <a:lstStyle/>
                    <a:p>
                      <a:pPr>
                        <a:defRPr sz="1200">
                          <a:solidFill>
                            <a:srgbClr val="222222"/>
                          </a:solidFill>
                          <a:latin typeface="Times New Roman"/>
                        </a:defRPr>
                      </a:pPr>
                      <a:r>
                        <a:t>Patent specification, prior art search, IPO filing</a:t>
                      </a:r>
                    </a:p>
                  </a:txBody>
                  <a:tcPr>
                    <a:solidFill>
                      <a:srgbClr val="FFFFFF"/>
                    </a:solidFill>
                  </a:tcPr>
                </a:tc>
                <a:extLst>
                  <a:ext uri="{0D108BD9-81ED-4DB2-BD59-A6C34878D82A}">
                    <a16:rowId xmlns:a16="http://schemas.microsoft.com/office/drawing/2014/main" val="10006"/>
                  </a:ext>
                </a:extLst>
              </a:tr>
              <a:tr h="458292">
                <a:tc>
                  <a:txBody>
                    <a:bodyPr/>
                    <a:lstStyle/>
                    <a:p>
                      <a:pPr>
                        <a:defRPr sz="1200">
                          <a:solidFill>
                            <a:srgbClr val="222222"/>
                          </a:solidFill>
                          <a:latin typeface="Times New Roman"/>
                        </a:defRPr>
                      </a:pPr>
                      <a:r>
                        <a:rPr dirty="0"/>
                        <a:t>8–9</a:t>
                      </a:r>
                    </a:p>
                  </a:txBody>
                  <a:tcPr>
                    <a:solidFill>
                      <a:srgbClr val="FFFFFF"/>
                    </a:solidFill>
                  </a:tcPr>
                </a:tc>
                <a:tc>
                  <a:txBody>
                    <a:bodyPr/>
                    <a:lstStyle/>
                    <a:p>
                      <a:pPr>
                        <a:defRPr sz="1200">
                          <a:solidFill>
                            <a:srgbClr val="222222"/>
                          </a:solidFill>
                          <a:latin typeface="Times New Roman"/>
                        </a:defRPr>
                      </a:pPr>
                      <a:r>
                        <a:t>IEEE Paper</a:t>
                      </a:r>
                    </a:p>
                  </a:txBody>
                  <a:tcPr>
                    <a:solidFill>
                      <a:srgbClr val="FFFFFF"/>
                    </a:solidFill>
                  </a:tcPr>
                </a:tc>
                <a:tc>
                  <a:txBody>
                    <a:bodyPr/>
                    <a:lstStyle/>
                    <a:p>
                      <a:pPr>
                        <a:defRPr sz="1200">
                          <a:solidFill>
                            <a:srgbClr val="222222"/>
                          </a:solidFill>
                          <a:latin typeface="Times New Roman"/>
                        </a:defRPr>
                      </a:pPr>
                      <a:r>
                        <a:rPr dirty="0"/>
                        <a:t>6-page LaTeX paper, capstone report, conference submission</a:t>
                      </a:r>
                    </a:p>
                  </a:txBody>
                  <a:tcPr>
                    <a:solidFill>
                      <a:srgbClr val="FFFFFF"/>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586799897"/>
              </p:ext>
            </p:extLst>
          </p:nvPr>
        </p:nvGraphicFramePr>
        <p:xfrm>
          <a:off x="685800" y="3981761"/>
          <a:ext cx="10157706" cy="2779776"/>
        </p:xfrm>
        <a:graphic>
          <a:graphicData uri="http://schemas.openxmlformats.org/drawingml/2006/table">
            <a:tbl>
              <a:tblPr firstRow="1" bandRow="1">
                <a:tableStyleId>{5C22544A-7EE6-4342-B048-85BDC9FD1C3A}</a:tableStyleId>
              </a:tblPr>
              <a:tblGrid>
                <a:gridCol w="3385902">
                  <a:extLst>
                    <a:ext uri="{9D8B030D-6E8A-4147-A177-3AD203B41FA5}">
                      <a16:colId xmlns:a16="http://schemas.microsoft.com/office/drawing/2014/main" val="20000"/>
                    </a:ext>
                  </a:extLst>
                </a:gridCol>
                <a:gridCol w="3385902">
                  <a:extLst>
                    <a:ext uri="{9D8B030D-6E8A-4147-A177-3AD203B41FA5}">
                      <a16:colId xmlns:a16="http://schemas.microsoft.com/office/drawing/2014/main" val="20001"/>
                    </a:ext>
                  </a:extLst>
                </a:gridCol>
                <a:gridCol w="3385902">
                  <a:extLst>
                    <a:ext uri="{9D8B030D-6E8A-4147-A177-3AD203B41FA5}">
                      <a16:colId xmlns:a16="http://schemas.microsoft.com/office/drawing/2014/main" val="20002"/>
                    </a:ext>
                  </a:extLst>
                </a:gridCol>
              </a:tblGrid>
              <a:tr h="347472">
                <a:tc>
                  <a:txBody>
                    <a:bodyPr/>
                    <a:lstStyle/>
                    <a:p>
                      <a:pPr>
                        <a:defRPr sz="1200" b="1">
                          <a:solidFill>
                            <a:srgbClr val="000000"/>
                          </a:solidFill>
                          <a:latin typeface="Times New Roman"/>
                        </a:defRPr>
                      </a:pPr>
                      <a:r>
                        <a:t>Component</a:t>
                      </a:r>
                    </a:p>
                  </a:txBody>
                  <a:tcPr>
                    <a:solidFill>
                      <a:srgbClr val="DDDDDD"/>
                    </a:solidFill>
                  </a:tcPr>
                </a:tc>
                <a:tc>
                  <a:txBody>
                    <a:bodyPr/>
                    <a:lstStyle/>
                    <a:p>
                      <a:pPr>
                        <a:defRPr sz="1200" b="1">
                          <a:solidFill>
                            <a:srgbClr val="000000"/>
                          </a:solidFill>
                          <a:latin typeface="Times New Roman"/>
                        </a:defRPr>
                      </a:pPr>
                      <a:r>
                        <a:t>Technology</a:t>
                      </a:r>
                    </a:p>
                  </a:txBody>
                  <a:tcPr>
                    <a:solidFill>
                      <a:srgbClr val="DDDDDD"/>
                    </a:solidFill>
                  </a:tcPr>
                </a:tc>
                <a:tc>
                  <a:txBody>
                    <a:bodyPr/>
                    <a:lstStyle/>
                    <a:p>
                      <a:pPr>
                        <a:defRPr sz="1200" b="1">
                          <a:solidFill>
                            <a:srgbClr val="000000"/>
                          </a:solidFill>
                          <a:latin typeface="Times New Roman"/>
                        </a:defRPr>
                      </a:pPr>
                      <a:r>
                        <a:t>Why</a:t>
                      </a:r>
                    </a:p>
                  </a:txBody>
                  <a:tcPr>
                    <a:solidFill>
                      <a:srgbClr val="DDDDDD"/>
                    </a:solidFill>
                  </a:tcPr>
                </a:tc>
                <a:extLst>
                  <a:ext uri="{0D108BD9-81ED-4DB2-BD59-A6C34878D82A}">
                    <a16:rowId xmlns:a16="http://schemas.microsoft.com/office/drawing/2014/main" val="10000"/>
                  </a:ext>
                </a:extLst>
              </a:tr>
              <a:tr h="347472">
                <a:tc>
                  <a:txBody>
                    <a:bodyPr/>
                    <a:lstStyle/>
                    <a:p>
                      <a:pPr>
                        <a:defRPr sz="1200">
                          <a:solidFill>
                            <a:srgbClr val="222222"/>
                          </a:solidFill>
                          <a:latin typeface="Times New Roman"/>
                        </a:defRPr>
                      </a:pPr>
                      <a:r>
                        <a:rPr dirty="0"/>
                        <a:t>Language</a:t>
                      </a:r>
                    </a:p>
                  </a:txBody>
                  <a:tcPr>
                    <a:solidFill>
                      <a:srgbClr val="FFFFFF"/>
                    </a:solidFill>
                  </a:tcPr>
                </a:tc>
                <a:tc>
                  <a:txBody>
                    <a:bodyPr/>
                    <a:lstStyle/>
                    <a:p>
                      <a:pPr>
                        <a:defRPr sz="1200">
                          <a:solidFill>
                            <a:srgbClr val="222222"/>
                          </a:solidFill>
                          <a:latin typeface="Times New Roman"/>
                        </a:defRPr>
                      </a:pPr>
                      <a:r>
                        <a:t>Python 3.10+</a:t>
                      </a:r>
                    </a:p>
                  </a:txBody>
                  <a:tcPr>
                    <a:solidFill>
                      <a:srgbClr val="FFFFFF"/>
                    </a:solidFill>
                  </a:tcPr>
                </a:tc>
                <a:tc>
                  <a:txBody>
                    <a:bodyPr/>
                    <a:lstStyle/>
                    <a:p>
                      <a:pPr>
                        <a:defRPr sz="1200">
                          <a:solidFill>
                            <a:srgbClr val="222222"/>
                          </a:solidFill>
                          <a:latin typeface="Times New Roman"/>
                        </a:defRPr>
                      </a:pPr>
                      <a:r>
                        <a:t>Best ecosystem for ML + data science</a:t>
                      </a:r>
                    </a:p>
                  </a:txBody>
                  <a:tcPr>
                    <a:solidFill>
                      <a:srgbClr val="FFFFFF"/>
                    </a:solidFill>
                  </a:tcPr>
                </a:tc>
                <a:extLst>
                  <a:ext uri="{0D108BD9-81ED-4DB2-BD59-A6C34878D82A}">
                    <a16:rowId xmlns:a16="http://schemas.microsoft.com/office/drawing/2014/main" val="10001"/>
                  </a:ext>
                </a:extLst>
              </a:tr>
              <a:tr h="347472">
                <a:tc>
                  <a:txBody>
                    <a:bodyPr/>
                    <a:lstStyle/>
                    <a:p>
                      <a:pPr>
                        <a:defRPr sz="1200">
                          <a:solidFill>
                            <a:srgbClr val="222222"/>
                          </a:solidFill>
                          <a:latin typeface="Times New Roman"/>
                        </a:defRPr>
                      </a:pPr>
                      <a:r>
                        <a:rPr dirty="0"/>
                        <a:t>ML Framework</a:t>
                      </a:r>
                    </a:p>
                  </a:txBody>
                  <a:tcPr>
                    <a:solidFill>
                      <a:srgbClr val="FFFFFF"/>
                    </a:solidFill>
                  </a:tcPr>
                </a:tc>
                <a:tc>
                  <a:txBody>
                    <a:bodyPr/>
                    <a:lstStyle/>
                    <a:p>
                      <a:pPr>
                        <a:defRPr sz="1200">
                          <a:solidFill>
                            <a:srgbClr val="222222"/>
                          </a:solidFill>
                          <a:latin typeface="Times New Roman"/>
                        </a:defRPr>
                      </a:pPr>
                      <a:r>
                        <a:t>XGBoost + scikit-learn</a:t>
                      </a:r>
                    </a:p>
                  </a:txBody>
                  <a:tcPr>
                    <a:solidFill>
                      <a:srgbClr val="FFFFFF"/>
                    </a:solidFill>
                  </a:tcPr>
                </a:tc>
                <a:tc>
                  <a:txBody>
                    <a:bodyPr/>
                    <a:lstStyle/>
                    <a:p>
                      <a:pPr>
                        <a:defRPr sz="1200">
                          <a:solidFill>
                            <a:srgbClr val="222222"/>
                          </a:solidFill>
                          <a:latin typeface="Times New Roman"/>
                        </a:defRPr>
                      </a:pPr>
                      <a:r>
                        <a:t>Fast, no GPU, interpretable</a:t>
                      </a:r>
                    </a:p>
                  </a:txBody>
                  <a:tcPr>
                    <a:solidFill>
                      <a:srgbClr val="FFFFFF"/>
                    </a:solidFill>
                  </a:tcPr>
                </a:tc>
                <a:extLst>
                  <a:ext uri="{0D108BD9-81ED-4DB2-BD59-A6C34878D82A}">
                    <a16:rowId xmlns:a16="http://schemas.microsoft.com/office/drawing/2014/main" val="10002"/>
                  </a:ext>
                </a:extLst>
              </a:tr>
              <a:tr h="347472">
                <a:tc>
                  <a:txBody>
                    <a:bodyPr/>
                    <a:lstStyle/>
                    <a:p>
                      <a:pPr>
                        <a:defRPr sz="1200">
                          <a:solidFill>
                            <a:srgbClr val="222222"/>
                          </a:solidFill>
                          <a:latin typeface="Times New Roman"/>
                        </a:defRPr>
                      </a:pPr>
                      <a:r>
                        <a:t>Data Processing</a:t>
                      </a:r>
                    </a:p>
                  </a:txBody>
                  <a:tcPr>
                    <a:solidFill>
                      <a:srgbClr val="FFFFFF"/>
                    </a:solidFill>
                  </a:tcPr>
                </a:tc>
                <a:tc>
                  <a:txBody>
                    <a:bodyPr/>
                    <a:lstStyle/>
                    <a:p>
                      <a:pPr>
                        <a:defRPr sz="1200">
                          <a:solidFill>
                            <a:srgbClr val="222222"/>
                          </a:solidFill>
                          <a:latin typeface="Times New Roman"/>
                        </a:defRPr>
                      </a:pPr>
                      <a:r>
                        <a:t>pandas + numpy</a:t>
                      </a:r>
                    </a:p>
                  </a:txBody>
                  <a:tcPr>
                    <a:solidFill>
                      <a:srgbClr val="FFFFFF"/>
                    </a:solidFill>
                  </a:tcPr>
                </a:tc>
                <a:tc>
                  <a:txBody>
                    <a:bodyPr/>
                    <a:lstStyle/>
                    <a:p>
                      <a:pPr>
                        <a:defRPr sz="1200">
                          <a:solidFill>
                            <a:srgbClr val="222222"/>
                          </a:solidFill>
                          <a:latin typeface="Times New Roman"/>
                        </a:defRPr>
                      </a:pPr>
                      <a:r>
                        <a:t>Standard for tabular data</a:t>
                      </a:r>
                    </a:p>
                  </a:txBody>
                  <a:tcPr>
                    <a:solidFill>
                      <a:srgbClr val="FFFFFF"/>
                    </a:solidFill>
                  </a:tcPr>
                </a:tc>
                <a:extLst>
                  <a:ext uri="{0D108BD9-81ED-4DB2-BD59-A6C34878D82A}">
                    <a16:rowId xmlns:a16="http://schemas.microsoft.com/office/drawing/2014/main" val="10003"/>
                  </a:ext>
                </a:extLst>
              </a:tr>
              <a:tr h="347472">
                <a:tc>
                  <a:txBody>
                    <a:bodyPr/>
                    <a:lstStyle/>
                    <a:p>
                      <a:pPr>
                        <a:defRPr sz="1200">
                          <a:solidFill>
                            <a:srgbClr val="222222"/>
                          </a:solidFill>
                          <a:latin typeface="Times New Roman"/>
                        </a:defRPr>
                      </a:pPr>
                      <a:r>
                        <a:t>Statistics</a:t>
                      </a:r>
                    </a:p>
                  </a:txBody>
                  <a:tcPr>
                    <a:solidFill>
                      <a:srgbClr val="FFFFFF"/>
                    </a:solidFill>
                  </a:tcPr>
                </a:tc>
                <a:tc>
                  <a:txBody>
                    <a:bodyPr/>
                    <a:lstStyle/>
                    <a:p>
                      <a:pPr>
                        <a:defRPr sz="1200">
                          <a:solidFill>
                            <a:srgbClr val="222222"/>
                          </a:solidFill>
                          <a:latin typeface="Times New Roman"/>
                        </a:defRPr>
                      </a:pPr>
                      <a:r>
                        <a:t>scipy</a:t>
                      </a:r>
                    </a:p>
                  </a:txBody>
                  <a:tcPr>
                    <a:solidFill>
                      <a:srgbClr val="FFFFFF"/>
                    </a:solidFill>
                  </a:tcPr>
                </a:tc>
                <a:tc>
                  <a:txBody>
                    <a:bodyPr/>
                    <a:lstStyle/>
                    <a:p>
                      <a:pPr>
                        <a:defRPr sz="1200">
                          <a:solidFill>
                            <a:srgbClr val="222222"/>
                          </a:solidFill>
                          <a:latin typeface="Times New Roman"/>
                        </a:defRPr>
                      </a:pPr>
                      <a:r>
                        <a:t>t-tests, p-values</a:t>
                      </a:r>
                    </a:p>
                  </a:txBody>
                  <a:tcPr>
                    <a:solidFill>
                      <a:srgbClr val="FFFFFF"/>
                    </a:solidFill>
                  </a:tcPr>
                </a:tc>
                <a:extLst>
                  <a:ext uri="{0D108BD9-81ED-4DB2-BD59-A6C34878D82A}">
                    <a16:rowId xmlns:a16="http://schemas.microsoft.com/office/drawing/2014/main" val="10004"/>
                  </a:ext>
                </a:extLst>
              </a:tr>
              <a:tr h="347472">
                <a:tc>
                  <a:txBody>
                    <a:bodyPr/>
                    <a:lstStyle/>
                    <a:p>
                      <a:pPr>
                        <a:defRPr sz="1200">
                          <a:solidFill>
                            <a:srgbClr val="222222"/>
                          </a:solidFill>
                          <a:latin typeface="Times New Roman"/>
                        </a:defRPr>
                      </a:pPr>
                      <a:r>
                        <a:t>Visualization</a:t>
                      </a:r>
                    </a:p>
                  </a:txBody>
                  <a:tcPr>
                    <a:solidFill>
                      <a:srgbClr val="FFFFFF"/>
                    </a:solidFill>
                  </a:tcPr>
                </a:tc>
                <a:tc>
                  <a:txBody>
                    <a:bodyPr/>
                    <a:lstStyle/>
                    <a:p>
                      <a:pPr>
                        <a:defRPr sz="1200">
                          <a:solidFill>
                            <a:srgbClr val="222222"/>
                          </a:solidFill>
                          <a:latin typeface="Times New Roman"/>
                        </a:defRPr>
                      </a:pPr>
                      <a:r>
                        <a:rPr dirty="0"/>
                        <a:t>matplotlib + seaborn + </a:t>
                      </a:r>
                      <a:r>
                        <a:rPr dirty="0" err="1"/>
                        <a:t>plotly</a:t>
                      </a:r>
                      <a:endParaRPr dirty="0"/>
                    </a:p>
                  </a:txBody>
                  <a:tcPr>
                    <a:solidFill>
                      <a:srgbClr val="FFFFFF"/>
                    </a:solidFill>
                  </a:tcPr>
                </a:tc>
                <a:tc>
                  <a:txBody>
                    <a:bodyPr/>
                    <a:lstStyle/>
                    <a:p>
                      <a:pPr>
                        <a:defRPr sz="1200">
                          <a:solidFill>
                            <a:srgbClr val="222222"/>
                          </a:solidFill>
                          <a:latin typeface="Times New Roman"/>
                        </a:defRPr>
                      </a:pPr>
                      <a:r>
                        <a:t>Publication-quality figures</a:t>
                      </a:r>
                    </a:p>
                  </a:txBody>
                  <a:tcPr>
                    <a:solidFill>
                      <a:srgbClr val="FFFFFF"/>
                    </a:solidFill>
                  </a:tcPr>
                </a:tc>
                <a:extLst>
                  <a:ext uri="{0D108BD9-81ED-4DB2-BD59-A6C34878D82A}">
                    <a16:rowId xmlns:a16="http://schemas.microsoft.com/office/drawing/2014/main" val="10005"/>
                  </a:ext>
                </a:extLst>
              </a:tr>
              <a:tr h="347472">
                <a:tc>
                  <a:txBody>
                    <a:bodyPr/>
                    <a:lstStyle/>
                    <a:p>
                      <a:pPr>
                        <a:defRPr sz="1200">
                          <a:solidFill>
                            <a:srgbClr val="222222"/>
                          </a:solidFill>
                          <a:latin typeface="Times New Roman"/>
                        </a:defRPr>
                      </a:pPr>
                      <a:r>
                        <a:t>Dashboard</a:t>
                      </a:r>
                    </a:p>
                  </a:txBody>
                  <a:tcPr>
                    <a:solidFill>
                      <a:srgbClr val="FFFFFF"/>
                    </a:solidFill>
                  </a:tcPr>
                </a:tc>
                <a:tc>
                  <a:txBody>
                    <a:bodyPr/>
                    <a:lstStyle/>
                    <a:p>
                      <a:pPr>
                        <a:defRPr sz="1200">
                          <a:solidFill>
                            <a:srgbClr val="222222"/>
                          </a:solidFill>
                          <a:latin typeface="Times New Roman"/>
                        </a:defRPr>
                      </a:pPr>
                      <a:r>
                        <a:t>Streamlit</a:t>
                      </a:r>
                    </a:p>
                  </a:txBody>
                  <a:tcPr>
                    <a:solidFill>
                      <a:srgbClr val="FFFFFF"/>
                    </a:solidFill>
                  </a:tcPr>
                </a:tc>
                <a:tc>
                  <a:txBody>
                    <a:bodyPr/>
                    <a:lstStyle/>
                    <a:p>
                      <a:pPr>
                        <a:defRPr sz="1200">
                          <a:solidFill>
                            <a:srgbClr val="222222"/>
                          </a:solidFill>
                          <a:latin typeface="Times New Roman"/>
                        </a:defRPr>
                      </a:pPr>
                      <a:r>
                        <a:t>Rapid interactive web apps</a:t>
                      </a:r>
                    </a:p>
                  </a:txBody>
                  <a:tcPr>
                    <a:solidFill>
                      <a:srgbClr val="FFFFFF"/>
                    </a:solidFill>
                  </a:tcPr>
                </a:tc>
                <a:extLst>
                  <a:ext uri="{0D108BD9-81ED-4DB2-BD59-A6C34878D82A}">
                    <a16:rowId xmlns:a16="http://schemas.microsoft.com/office/drawing/2014/main" val="10006"/>
                  </a:ext>
                </a:extLst>
              </a:tr>
              <a:tr h="347472">
                <a:tc>
                  <a:txBody>
                    <a:bodyPr/>
                    <a:lstStyle/>
                    <a:p>
                      <a:pPr>
                        <a:defRPr sz="1200">
                          <a:solidFill>
                            <a:srgbClr val="222222"/>
                          </a:solidFill>
                          <a:latin typeface="Times New Roman"/>
                        </a:defRPr>
                      </a:pPr>
                      <a:r>
                        <a:t>Database</a:t>
                      </a:r>
                    </a:p>
                  </a:txBody>
                  <a:tcPr>
                    <a:solidFill>
                      <a:srgbClr val="FFFFFF"/>
                    </a:solidFill>
                  </a:tcPr>
                </a:tc>
                <a:tc>
                  <a:txBody>
                    <a:bodyPr/>
                    <a:lstStyle/>
                    <a:p>
                      <a:pPr>
                        <a:defRPr sz="1200">
                          <a:solidFill>
                            <a:srgbClr val="222222"/>
                          </a:solidFill>
                          <a:latin typeface="Times New Roman"/>
                        </a:defRPr>
                      </a:pPr>
                      <a:r>
                        <a:t>SQLite</a:t>
                      </a:r>
                    </a:p>
                  </a:txBody>
                  <a:tcPr>
                    <a:solidFill>
                      <a:srgbClr val="FFFFFF"/>
                    </a:solidFill>
                  </a:tcPr>
                </a:tc>
                <a:tc>
                  <a:txBody>
                    <a:bodyPr/>
                    <a:lstStyle/>
                    <a:p>
                      <a:pPr>
                        <a:defRPr sz="1200">
                          <a:solidFill>
                            <a:srgbClr val="222222"/>
                          </a:solidFill>
                          <a:latin typeface="Times New Roman"/>
                        </a:defRPr>
                      </a:pPr>
                      <a:r>
                        <a:rPr dirty="0"/>
                        <a:t>Lightweight, zero-config</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594360"/>
          </a:xfrm>
          <a:prstGeom prst="rect">
            <a:avLst/>
          </a:prstGeom>
          <a:noFill/>
        </p:spPr>
        <p:txBody>
          <a:bodyPr wrap="square">
            <a:spAutoFit/>
          </a:bodyPr>
          <a:lstStyle/>
          <a:p>
            <a:pPr>
              <a:defRPr sz="2800" b="1">
                <a:solidFill>
                  <a:srgbClr val="000000"/>
                </a:solidFill>
                <a:latin typeface="Times New Roman"/>
              </a:defRPr>
            </a:pPr>
            <a:r>
              <a:t>11. References</a:t>
            </a:r>
          </a:p>
        </p:txBody>
      </p:sp>
      <p:sp>
        <p:nvSpPr>
          <p:cNvPr id="3" name="Rectangle 2"/>
          <p:cNvSpPr/>
          <p:nvPr/>
        </p:nvSpPr>
        <p:spPr>
          <a:xfrm>
            <a:off x="640080" y="914400"/>
            <a:ext cx="10972800" cy="1905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972800" cy="4754880"/>
          </a:xfrm>
          <a:prstGeom prst="rect">
            <a:avLst/>
          </a:prstGeom>
          <a:noFill/>
        </p:spPr>
        <p:txBody>
          <a:bodyPr wrap="square">
            <a:spAutoFit/>
          </a:bodyPr>
          <a:lstStyle/>
          <a:p>
            <a:pPr>
              <a:spcAft>
                <a:spcPts val="200"/>
              </a:spcAft>
            </a:pPr>
            <a:r>
              <a:rPr sz="1000">
                <a:solidFill>
                  <a:srgbClr val="222222"/>
                </a:solidFill>
                <a:latin typeface="Times New Roman"/>
              </a:rPr>
              <a:t>[1] C. Shin et al., "Understanding and Prediction of Mobile Application Usage," ACM UbiComp, 2012.  </a:t>
            </a:r>
            <a:r>
              <a:rPr sz="1000" u="sng">
                <a:solidFill>
                  <a:srgbClr val="0055CC"/>
                </a:solidFill>
                <a:latin typeface="Times New Roman"/>
                <a:hlinkClick r:id="rId2"/>
              </a:rPr>
              <a:t>DOI: 10.1145/2370216.2370241</a:t>
            </a:r>
          </a:p>
          <a:p>
            <a:pPr>
              <a:spcAft>
                <a:spcPts val="200"/>
              </a:spcAft>
            </a:pPr>
            <a:r>
              <a:rPr sz="1000">
                <a:solidFill>
                  <a:srgbClr val="222222"/>
                </a:solidFill>
                <a:latin typeface="Times New Roman"/>
              </a:rPr>
              <a:t>[2] Z. Huang et al., "Predicting Mobile App Usage with Context-Aware Dynamic Hypergraphs," IEEE TMC, 2025.  </a:t>
            </a:r>
            <a:r>
              <a:rPr sz="1000" u="sng">
                <a:solidFill>
                  <a:srgbClr val="0055CC"/>
                </a:solidFill>
                <a:latin typeface="Times New Roman"/>
                <a:hlinkClick r:id="rId3"/>
              </a:rPr>
              <a:t>DOI: 10.1109/TMC.2024.3521876</a:t>
            </a:r>
          </a:p>
          <a:p>
            <a:pPr>
              <a:spcAft>
                <a:spcPts val="200"/>
              </a:spcAft>
            </a:pPr>
            <a:r>
              <a:rPr sz="1000">
                <a:solidFill>
                  <a:srgbClr val="222222"/>
                </a:solidFill>
                <a:latin typeface="Times New Roman"/>
              </a:rPr>
              <a:t>[3] S. Zhao et al., "AppUsage2Vec: Modeling Smartphone App Usage for Prediction," IEEE ICDE, 2019.  </a:t>
            </a:r>
            <a:r>
              <a:rPr sz="1000" u="sng">
                <a:solidFill>
                  <a:srgbClr val="0055CC"/>
                </a:solidFill>
                <a:latin typeface="Times New Roman"/>
                <a:hlinkClick r:id="rId4"/>
              </a:rPr>
              <a:t>DOI: 10.1109/ICDE.2019.00120</a:t>
            </a:r>
          </a:p>
          <a:p>
            <a:pPr>
              <a:spcAft>
                <a:spcPts val="200"/>
              </a:spcAft>
            </a:pPr>
            <a:r>
              <a:rPr sz="1000">
                <a:solidFill>
                  <a:srgbClr val="222222"/>
                </a:solidFill>
                <a:latin typeface="Times New Roman"/>
              </a:rPr>
              <a:t>[4] S. Zhao et al., "Context-Aware Mobile App Prediction via Deep Sequential Learning," ACM UbiComp, 2023.  </a:t>
            </a:r>
            <a:r>
              <a:rPr sz="1000" u="sng">
                <a:solidFill>
                  <a:srgbClr val="0055CC"/>
                </a:solidFill>
                <a:latin typeface="Times New Roman"/>
                <a:hlinkClick r:id="rId5"/>
              </a:rPr>
              <a:t>DOI: 10.1145/3594739.3610680</a:t>
            </a:r>
          </a:p>
          <a:p>
            <a:pPr>
              <a:spcAft>
                <a:spcPts val="200"/>
              </a:spcAft>
            </a:pPr>
            <a:r>
              <a:rPr sz="1000">
                <a:solidFill>
                  <a:srgbClr val="222222"/>
                </a:solidFill>
                <a:latin typeface="Times New Roman"/>
              </a:rPr>
              <a:t>[5] H. Pan et al., "DeepApp: Predicting Personalized Smartphone App Usage," ACM TIST, 2023.  </a:t>
            </a:r>
            <a:r>
              <a:rPr sz="1000" u="sng">
                <a:solidFill>
                  <a:srgbClr val="0055CC"/>
                </a:solidFill>
                <a:latin typeface="Times New Roman"/>
                <a:hlinkClick r:id="rId6"/>
              </a:rPr>
              <a:t>DOI: 10.1145/3568684</a:t>
            </a:r>
          </a:p>
          <a:p>
            <a:pPr>
              <a:spcAft>
                <a:spcPts val="200"/>
              </a:spcAft>
            </a:pPr>
            <a:r>
              <a:rPr sz="1000">
                <a:solidFill>
                  <a:srgbClr val="222222"/>
                </a:solidFill>
                <a:latin typeface="Times New Roman"/>
              </a:rPr>
              <a:t>[6] Google AOSP, "Low Memory Killer Daemon (lmkd)," 2024.  </a:t>
            </a:r>
            <a:r>
              <a:rPr sz="1000" u="sng">
                <a:solidFill>
                  <a:srgbClr val="0055CC"/>
                </a:solidFill>
                <a:latin typeface="Times New Roman"/>
                <a:hlinkClick r:id="rId7"/>
              </a:rPr>
              <a:t>source.android.com/docs/core/perf/lmkd</a:t>
            </a:r>
          </a:p>
          <a:p>
            <a:pPr>
              <a:spcAft>
                <a:spcPts val="200"/>
              </a:spcAft>
            </a:pPr>
            <a:r>
              <a:rPr sz="1000">
                <a:solidFill>
                  <a:srgbClr val="222222"/>
                </a:solidFill>
                <a:latin typeface="Times New Roman"/>
              </a:rPr>
              <a:t>[7] S. Lee et al., "SWAM: Revisiting Swap and OOM for Mobile," Samsung, MobiSys, 2023.  </a:t>
            </a:r>
            <a:r>
              <a:rPr sz="1000" u="sng">
                <a:solidFill>
                  <a:srgbClr val="0055CC"/>
                </a:solidFill>
                <a:latin typeface="Times New Roman"/>
                <a:hlinkClick r:id="rId8"/>
              </a:rPr>
              <a:t>DOI: 10.1145/3591197.3593422</a:t>
            </a:r>
          </a:p>
          <a:p>
            <a:pPr>
              <a:spcAft>
                <a:spcPts val="200"/>
              </a:spcAft>
            </a:pPr>
            <a:r>
              <a:rPr sz="1000">
                <a:solidFill>
                  <a:srgbClr val="222222"/>
                </a:solidFill>
                <a:latin typeface="Times New Roman"/>
              </a:rPr>
              <a:t>[8] Y. Chen et al., "Memory-Efficient Mobile App Mgmt. via Predictive Caching," IEEE Access, 2024.  </a:t>
            </a:r>
            <a:r>
              <a:rPr sz="1000" u="sng">
                <a:solidFill>
                  <a:srgbClr val="0055CC"/>
                </a:solidFill>
                <a:latin typeface="Times New Roman"/>
                <a:hlinkClick r:id="rId9"/>
              </a:rPr>
              <a:t>DOI: 10.1109/ACCESS.2024.3372104</a:t>
            </a:r>
          </a:p>
          <a:p>
            <a:pPr>
              <a:spcAft>
                <a:spcPts val="200"/>
              </a:spcAft>
            </a:pPr>
            <a:r>
              <a:rPr sz="1000">
                <a:solidFill>
                  <a:srgbClr val="222222"/>
                </a:solidFill>
                <a:latin typeface="Times New Roman"/>
              </a:rPr>
              <a:t>[9] Android Developers, "App Standby Buckets," 2024.  </a:t>
            </a:r>
            <a:r>
              <a:rPr sz="1000" u="sng">
                <a:solidFill>
                  <a:srgbClr val="0055CC"/>
                </a:solidFill>
                <a:latin typeface="Times New Roman"/>
                <a:hlinkClick r:id="rId10"/>
              </a:rPr>
              <a:t>developer.android.com/…/appstandby</a:t>
            </a:r>
          </a:p>
          <a:p>
            <a:pPr>
              <a:spcAft>
                <a:spcPts val="200"/>
              </a:spcAft>
            </a:pPr>
            <a:r>
              <a:rPr sz="1000">
                <a:solidFill>
                  <a:srgbClr val="222222"/>
                </a:solidFill>
                <a:latin typeface="Times New Roman"/>
              </a:rPr>
              <a:t>[10] J. Park et al., "Learning-Based Memory Management for Mobile," IEEE/ACM MICRO, 2023.  </a:t>
            </a:r>
            <a:r>
              <a:rPr sz="1000" u="sng">
                <a:solidFill>
                  <a:srgbClr val="0055CC"/>
                </a:solidFill>
                <a:latin typeface="Times New Roman"/>
                <a:hlinkClick r:id="rId11"/>
              </a:rPr>
              <a:t>DOI: 10.1145/3613424.3614274</a:t>
            </a:r>
          </a:p>
          <a:p>
            <a:pPr>
              <a:spcAft>
                <a:spcPts val="200"/>
              </a:spcAft>
            </a:pPr>
            <a:r>
              <a:rPr sz="1000">
                <a:solidFill>
                  <a:srgbClr val="222222"/>
                </a:solidFill>
                <a:latin typeface="Times New Roman"/>
              </a:rPr>
              <a:t>[11] T. Chen, C. Guestrin, "XGBoost: A Scalable Tree Boosting System," ACM SIGKDD, 2016.  </a:t>
            </a:r>
            <a:r>
              <a:rPr sz="1000" u="sng">
                <a:solidFill>
                  <a:srgbClr val="0055CC"/>
                </a:solidFill>
                <a:latin typeface="Times New Roman"/>
                <a:hlinkClick r:id="rId12"/>
              </a:rPr>
              <a:t>DOI: 10.1145/2939672.2939785</a:t>
            </a:r>
          </a:p>
          <a:p>
            <a:pPr>
              <a:spcAft>
                <a:spcPts val="200"/>
              </a:spcAft>
            </a:pPr>
            <a:r>
              <a:rPr sz="1000">
                <a:solidFill>
                  <a:srgbClr val="222222"/>
                </a:solidFill>
                <a:latin typeface="Times New Roman"/>
              </a:rPr>
              <a:t>[12] E. Ipek et al., "Self-Optimizing Memory Controllers: A RL Approach," IEEE/ACM ISCA, 2008.  </a:t>
            </a:r>
            <a:r>
              <a:rPr sz="1000" u="sng">
                <a:solidFill>
                  <a:srgbClr val="0055CC"/>
                </a:solidFill>
                <a:latin typeface="Times New Roman"/>
                <a:hlinkClick r:id="rId13"/>
              </a:rPr>
              <a:t>DOI: 10.1109/ISCA.2008.21</a:t>
            </a:r>
          </a:p>
          <a:p>
            <a:pPr>
              <a:spcAft>
                <a:spcPts val="200"/>
              </a:spcAft>
            </a:pPr>
            <a:r>
              <a:rPr sz="1000">
                <a:solidFill>
                  <a:srgbClr val="222222"/>
                </a:solidFill>
                <a:latin typeface="Times New Roman"/>
              </a:rPr>
              <a:t>[13] Z. Shi et al., "Applying Deep Learning to Data Prefetching," IEEE/ACM MICRO, 2023.  </a:t>
            </a:r>
            <a:r>
              <a:rPr sz="1000" u="sng">
                <a:solidFill>
                  <a:srgbClr val="0055CC"/>
                </a:solidFill>
                <a:latin typeface="Times New Roman"/>
                <a:hlinkClick r:id="rId14"/>
              </a:rPr>
              <a:t>DOI: 10.1145/3613424.3614259</a:t>
            </a:r>
          </a:p>
          <a:p>
            <a:pPr>
              <a:spcAft>
                <a:spcPts val="200"/>
              </a:spcAft>
            </a:pPr>
            <a:r>
              <a:rPr sz="1000">
                <a:solidFill>
                  <a:srgbClr val="222222"/>
                </a:solidFill>
                <a:latin typeface="Times New Roman"/>
              </a:rPr>
              <a:t>[14] M. Hashemi et al., "Learning Memory Access Patterns," ICML, 2018.  </a:t>
            </a:r>
            <a:r>
              <a:rPr sz="1000" u="sng">
                <a:solidFill>
                  <a:srgbClr val="0055CC"/>
                </a:solidFill>
                <a:latin typeface="Times New Roman"/>
                <a:hlinkClick r:id="rId15"/>
              </a:rPr>
              <a:t>arXiv: 1803.02329</a:t>
            </a:r>
          </a:p>
          <a:p>
            <a:pPr>
              <a:spcAft>
                <a:spcPts val="200"/>
              </a:spcAft>
            </a:pPr>
            <a:r>
              <a:rPr sz="1000">
                <a:solidFill>
                  <a:srgbClr val="222222"/>
                </a:solidFill>
                <a:latin typeface="Times New Roman"/>
              </a:rPr>
              <a:t>[15] J. Lin et al., "MCUNet: Tiny Deep Learning on IoT Devices," NeurIPS, 2020.  </a:t>
            </a:r>
            <a:r>
              <a:rPr sz="1000" u="sng">
                <a:solidFill>
                  <a:srgbClr val="0055CC"/>
                </a:solidFill>
                <a:latin typeface="Times New Roman"/>
                <a:hlinkClick r:id="rId16"/>
              </a:rPr>
              <a:t>arXiv: 2007.10319</a:t>
            </a:r>
          </a:p>
          <a:p>
            <a:pPr>
              <a:spcAft>
                <a:spcPts val="200"/>
              </a:spcAft>
            </a:pPr>
            <a:r>
              <a:rPr sz="1000">
                <a:solidFill>
                  <a:srgbClr val="222222"/>
                </a:solidFill>
                <a:latin typeface="Times New Roman"/>
              </a:rPr>
              <a:t>[16] S. Laskaridis et al., "Adaptive Inference through Early-Exit Networks," ACM MobiSys, 2024.  </a:t>
            </a:r>
            <a:r>
              <a:rPr sz="1000" u="sng">
                <a:solidFill>
                  <a:srgbClr val="0055CC"/>
                </a:solidFill>
                <a:latin typeface="Times New Roman"/>
                <a:hlinkClick r:id="rId17"/>
              </a:rPr>
              <a:t>DOI: 10.1145/3643832.3661880</a:t>
            </a:r>
          </a:p>
          <a:p>
            <a:pPr>
              <a:spcAft>
                <a:spcPts val="200"/>
              </a:spcAft>
            </a:pPr>
            <a:r>
              <a:rPr sz="1000">
                <a:solidFill>
                  <a:srgbClr val="222222"/>
                </a:solidFill>
                <a:latin typeface="Times New Roman"/>
              </a:rPr>
              <a:t>[17] Q. He et al., "On-Device LLM Inference: Memory Optimization for Mobile," IEEE Edge, 2025.  </a:t>
            </a:r>
            <a:r>
              <a:rPr sz="1000" u="sng">
                <a:solidFill>
                  <a:srgbClr val="0055CC"/>
                </a:solidFill>
                <a:latin typeface="Times New Roman"/>
                <a:hlinkClick r:id="rId18"/>
              </a:rPr>
              <a:t>DOI: 10.1109/SEC62691.2025.00032</a:t>
            </a:r>
          </a:p>
          <a:p>
            <a:pPr>
              <a:spcAft>
                <a:spcPts val="200"/>
              </a:spcAft>
            </a:pPr>
            <a:r>
              <a:rPr sz="1000">
                <a:solidFill>
                  <a:srgbClr val="222222"/>
                </a:solidFill>
                <a:latin typeface="Times New Roman"/>
              </a:rPr>
              <a:t>[18] A. Dhakal et al., "mLLM: On-Device LLM Serving," USENIX OSDI, 2025.  </a:t>
            </a:r>
            <a:r>
              <a:rPr sz="1000" u="sng">
                <a:solidFill>
                  <a:srgbClr val="0055CC"/>
                </a:solidFill>
                <a:latin typeface="Times New Roman"/>
                <a:hlinkClick r:id="rId19"/>
              </a:rPr>
              <a:t>usenix.org/conference/osdi25</a:t>
            </a:r>
          </a:p>
        </p:txBody>
      </p:sp>
      <p:sp>
        <p:nvSpPr>
          <p:cNvPr id="5" name="TextBox 4"/>
          <p:cNvSpPr txBox="1"/>
          <p:nvPr/>
        </p:nvSpPr>
        <p:spPr>
          <a:xfrm>
            <a:off x="3657600" y="6035040"/>
            <a:ext cx="4846320" cy="548640"/>
          </a:xfrm>
          <a:prstGeom prst="rect">
            <a:avLst/>
          </a:prstGeom>
          <a:noFill/>
        </p:spPr>
        <p:txBody>
          <a:bodyPr wrap="none">
            <a:spAutoFit/>
          </a:bodyPr>
          <a:lstStyle/>
          <a:p>
            <a:pPr algn="ctr">
              <a:defRPr sz="2600" b="1">
                <a:solidFill>
                  <a:srgbClr val="000000"/>
                </a:solidFill>
                <a:latin typeface="Times New Roman"/>
              </a:defRPr>
            </a:pPr>
            <a:r>
              <a:t>Thank You</a:t>
            </a:r>
          </a:p>
        </p:txBody>
      </p:sp>
      <p:sp>
        <p:nvSpPr>
          <p:cNvPr id="6" name="TextBox 5"/>
          <p:cNvSpPr txBox="1"/>
          <p:nvPr/>
        </p:nvSpPr>
        <p:spPr>
          <a:xfrm>
            <a:off x="11338560" y="6400800"/>
            <a:ext cx="640080" cy="365760"/>
          </a:xfrm>
          <a:prstGeom prst="rect">
            <a:avLst/>
          </a:prstGeom>
          <a:noFill/>
        </p:spPr>
        <p:txBody>
          <a:bodyPr wrap="none">
            <a:spAutoFit/>
          </a:bodyPr>
          <a:lstStyle/>
          <a:p>
            <a:pPr algn="r">
              <a:defRPr sz="1000">
                <a:solidFill>
                  <a:srgbClr val="AAAAAA"/>
                </a:solidFill>
                <a:latin typeface="Times New Roman"/>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72</TotalTime>
  <Words>2310</Words>
  <Application>Microsoft Office PowerPoint</Application>
  <PresentationFormat>Widescreen</PresentationFormat>
  <Paragraphs>283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Atharv Sinha</cp:lastModifiedBy>
  <cp:revision>3</cp:revision>
  <dcterms:created xsi:type="dcterms:W3CDTF">2013-01-27T09:14:16Z</dcterms:created>
  <dcterms:modified xsi:type="dcterms:W3CDTF">2026-08-19T07:26:48Z</dcterms:modified>
  <cp:category/>
</cp:coreProperties>
</file>