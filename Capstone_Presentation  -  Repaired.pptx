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78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64592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0000"/>
                </a:solidFill>
                <a:latin typeface="Times New Roman"/>
              </a:defRPr>
            </a:pPr>
            <a:r>
              <a:t>Leveraging User Context Prediction for Adaptive Memory Management in AI-Heavy Mobile Environments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3017520"/>
            <a:ext cx="850392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3291840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33333"/>
                </a:solidFill>
                <a:latin typeface="Times New Roman"/>
              </a:defRPr>
            </a:pPr>
            <a:r>
              <a:t>Capstone Project — Project-I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4023360"/>
            <a:ext cx="6675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33333"/>
                </a:solidFill>
                <a:latin typeface="Times New Roman"/>
              </a:defRPr>
            </a:pPr>
            <a:r>
              <a:rPr dirty="0"/>
              <a:t>Presented By:</a:t>
            </a:r>
          </a:p>
          <a:p>
            <a:pPr algn="ctr">
              <a:defRPr sz="1500" b="0">
                <a:solidFill>
                  <a:srgbClr val="333333"/>
                </a:solidFill>
                <a:latin typeface="Times New Roman"/>
              </a:defRPr>
            </a:pPr>
            <a:r>
              <a:rPr dirty="0"/>
              <a:t>[Student Name 1] — [Roll No.]</a:t>
            </a:r>
          </a:p>
          <a:p>
            <a:pPr algn="ctr">
              <a:defRPr sz="1500" b="0">
                <a:solidFill>
                  <a:srgbClr val="333333"/>
                </a:solidFill>
                <a:latin typeface="Times New Roman"/>
              </a:defRPr>
            </a:pPr>
            <a:r>
              <a:rPr dirty="0"/>
              <a:t>[Student Name 2] — [Roll No.]</a:t>
            </a:r>
          </a:p>
          <a:p>
            <a:pPr algn="ctr">
              <a:defRPr sz="1500" b="0">
                <a:solidFill>
                  <a:srgbClr val="333333"/>
                </a:solidFill>
                <a:latin typeface="Times New Roman"/>
              </a:defRPr>
            </a:pPr>
            <a:r>
              <a:rPr dirty="0"/>
              <a:t>[Student Name 3] — [Roll No.]</a:t>
            </a:r>
          </a:p>
          <a:p>
            <a:pPr algn="ctr">
              <a:defRPr sz="1500" b="0">
                <a:solidFill>
                  <a:srgbClr val="333333"/>
                </a:solidFill>
                <a:latin typeface="Times New Roman"/>
              </a:defRPr>
            </a:pPr>
            <a:endParaRPr dirty="0"/>
          </a:p>
          <a:p>
            <a:pPr algn="ctr">
              <a:defRPr sz="1500" b="1">
                <a:solidFill>
                  <a:srgbClr val="333333"/>
                </a:solidFill>
                <a:latin typeface="Times New Roman"/>
              </a:defRPr>
            </a:pPr>
            <a:r>
              <a:rPr dirty="0"/>
              <a:t>Guide: [Prof. Name], [Department]</a:t>
            </a:r>
          </a:p>
          <a:p>
            <a:pPr algn="ctr">
              <a:defRPr sz="1500" b="0">
                <a:solidFill>
                  <a:srgbClr val="333333"/>
                </a:solidFill>
                <a:latin typeface="Times New Roman"/>
              </a:defRPr>
            </a:pPr>
            <a:r>
              <a:rPr dirty="0"/>
              <a:t>[University Name], [City]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60350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666666"/>
                </a:solidFill>
                <a:latin typeface="Times New Roman"/>
              </a:defRPr>
            </a:pPr>
            <a:r>
              <a:t>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  <a:latin typeface="Times New Roman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1.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333"/>
                </a:solidFill>
                <a:latin typeface="Times New Roman"/>
              </a:defRPr>
            </a:pPr>
            <a:r>
              <a:t>Mobile devices with 4–8 GB RAM run concurrent AI workloads (camera AI, translation, on-device LLMs) alongside user applications. Current memory management is reactive: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333333"/>
                </a:solidFill>
                <a:latin typeface="Times New Roman"/>
              </a:rPr>
              <a:t>LRU-based process cache: </a:t>
            </a:r>
            <a:r>
              <a:rPr sz="1400">
                <a:solidFill>
                  <a:srgbClr val="333333"/>
                </a:solidFill>
                <a:latin typeface="Times New Roman"/>
              </a:rPr>
              <a:t>evicts least recently used app; ignores temporal patterns and variable reload cost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333333"/>
                </a:solidFill>
                <a:latin typeface="Times New Roman"/>
              </a:rPr>
              <a:t>Low Memory Killer (LMKD): </a:t>
            </a:r>
            <a:r>
              <a:rPr sz="1400">
                <a:solidFill>
                  <a:srgbClr val="333333"/>
                </a:solidFill>
                <a:latin typeface="Times New Roman"/>
              </a:rPr>
              <a:t>kills processes only after pressure is critical; no predictive capability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9797167"/>
              </p:ext>
            </p:extLst>
          </p:nvPr>
        </p:nvGraphicFramePr>
        <p:xfrm>
          <a:off x="731520" y="2890684"/>
          <a:ext cx="10698480" cy="21385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9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7703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Problem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70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App cold-start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1–3 sec latency per evicted app; 3–6 sec for AI apps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70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Memory thrashing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Repeated evict → reload → evict cycles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70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AI model cache eviction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Camera AI, LLM weights evicted; expensive to reload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770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Battery drain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dirty="0"/>
                        <a:t>8–15% additional consumption from redundant I/O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2000" y="5121624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Times New Roman"/>
              </a:defRPr>
            </a:pPr>
            <a:endParaRPr dirty="0"/>
          </a:p>
          <a:p>
            <a:pPr>
              <a:spcAft>
                <a:spcPts val="400"/>
              </a:spcAft>
            </a:pPr>
            <a:r>
              <a:rPr sz="1400" dirty="0">
                <a:solidFill>
                  <a:srgbClr val="333333"/>
                </a:solidFill>
                <a:latin typeface="Times New Roman"/>
              </a:rPr>
              <a:t>The proposed approach uses ML-based prediction to anticipate which app will be needed next and retain it in cache proactively.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  <a:latin typeface="Times New Roman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2. Domain Background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33333"/>
                </a:solidFill>
                <a:latin typeface="Times New Roman"/>
              </a:defRPr>
            </a:pPr>
            <a:r>
              <a:t>Mobile Memory Landscape (2024–2026)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Times New Roman"/>
              </a:rPr>
              <a:t>Average user: 40–80 installed apps, 9–10 active daily, ~65 app switches/day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Times New Roman"/>
              </a:rPr>
              <a:t>Median Android device: 6 GB RAM; on-device AI models consume 300 MB – 4 GB each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Times New Roman"/>
              </a:rPr>
              <a:t>Mobile AI market projected at $46.7B by 2027 (MarketsandMarkets)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2588058"/>
              </p:ext>
            </p:extLst>
          </p:nvPr>
        </p:nvGraphicFramePr>
        <p:xfrm>
          <a:off x="731520" y="2523776"/>
          <a:ext cx="10698480" cy="2001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5347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Mechanism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dirty="0"/>
                        <a:t>How It Works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Limitation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557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LMKD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dirty="0"/>
                        <a:t>Priority score + PSI pressure detection; kills lowest priority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Reactive only; no prediction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557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LRU Cache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Background apps in LRU list; evicts least recently used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Ignores context, frequency,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34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App Standby Buckets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Classifies apps into usage tiers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dirty="0"/>
                        <a:t>Hourly updates; coarse-grained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1549635"/>
              </p:ext>
            </p:extLst>
          </p:nvPr>
        </p:nvGraphicFramePr>
        <p:xfrm>
          <a:off x="731520" y="4617066"/>
          <a:ext cx="10698480" cy="1600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21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Launch Type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dirty="0"/>
                        <a:t>CPU Cost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I/O Cost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2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Warm (from cache)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50–200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2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Cold (process reload)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1,000–3,000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dirty="0"/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2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Cold (AI app)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3,000–6,000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Very 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dirty="0"/>
                        <a:t>Very 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  <a:latin typeface="Times New Roman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3. Literature Review (1/2)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33333"/>
                </a:solidFill>
                <a:latin typeface="Times New Roman"/>
              </a:defRPr>
            </a:pPr>
            <a:r>
              <a:t>3.1 App Usage Prediction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3362626"/>
              </p:ext>
            </p:extLst>
          </p:nvPr>
        </p:nvGraphicFramePr>
        <p:xfrm>
          <a:off x="746760" y="1737360"/>
          <a:ext cx="10698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289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Authors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dirty="0"/>
                        <a:t>Year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Gap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[1]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Shin et 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2012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Naive Bayes, Decision Trees; 72% acc.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No memory mgmt.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[2]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Xu et 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Graph Neural Networks; 78% acc.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GPU 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[3]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Huang et 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App embeddings + attention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No resource constraints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[4]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Zhao et 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LSTM + contextual features; 74%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Deep learning overhead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[5]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Pan et 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Multi-task learning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dirty="0"/>
                        <a:t>On-device infeasible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16280" y="4083091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33333"/>
                </a:solidFill>
                <a:latin typeface="Times New Roman"/>
              </a:defRPr>
            </a:pPr>
            <a:r>
              <a:rPr dirty="0"/>
              <a:t>3.2 Mobile Memory Management &amp; OS Optimization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16693"/>
              </p:ext>
            </p:extLst>
          </p:nvPr>
        </p:nvGraphicFramePr>
        <p:xfrm>
          <a:off x="746760" y="4604446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dirty="0"/>
                        <a:t>#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dirty="0"/>
                        <a:t>Authors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dirty="0"/>
                        <a:t>Year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Gap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[6]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AOSP – LMKD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PSI + oom_adj_score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Reactive; no prediction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[7]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Lee et al. (Samsung)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Enhanced OOM + swap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Static cost; no 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[8]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Chen et 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Frequency caching; 22% fewer cold starts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No 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[9]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Android Standby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Usage-tier classification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Hourly; coarse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[10]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Park et 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dirty="0"/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RL on Android traces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dirty="0"/>
                        <a:t>Fragile; online needed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  <a:latin typeface="Times New Roman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3. Literature Review (2/2)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33333"/>
                </a:solidFill>
                <a:latin typeface="Times New Roman"/>
              </a:defRPr>
            </a:pPr>
            <a:r>
              <a:t>3.3 ML for System Resource Management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011680"/>
          <a:ext cx="1069848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Authors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Gap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[11]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Chen &amp; Guestrin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2016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XGBoost – gradient boosted trees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General framework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[12]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Ipek et 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2008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RL for DRAM scheduling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Hardware-level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[13]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Shi et 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Neural network prefetching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L1/L2 cache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[14]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Hashemi et 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LSTM for HW prefetching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No user-level 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39319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33333"/>
                </a:solidFill>
                <a:latin typeface="Times New Roman"/>
              </a:defRPr>
            </a:pPr>
            <a:r>
              <a:t>3.4 On-Device AI &amp; Edge Computing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4480560"/>
          <a:ext cx="106984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Authors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Gap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[15]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Lin et al. – MCUNet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NAS for IoT (256 KB)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Not OS memory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[16]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Laskaridis et 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Adaptive early-exit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Per-inference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[17]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He et 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KV-cache compression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Single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[18]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Dhakal et 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Elastic LLM pipelines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Single workload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Times New Roman"/>
              </a:rPr>
              <a:t>Research Gap: </a:t>
            </a:r>
            <a:r>
              <a:rPr sz="1300" i="1">
                <a:solidFill>
                  <a:srgbClr val="333333"/>
                </a:solidFill>
                <a:latin typeface="Times New Roman"/>
              </a:rPr>
              <a:t>No existing work combines ML-based app prediction with OS-level cache eviction scoring, multi-condition preload gating, and automatic thrashing detection for AI-heavy mobile devices.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  <a:latin typeface="Times New Roman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4. Proposed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33333"/>
                </a:solidFill>
                <a:latin typeface="Times New Roman"/>
              </a:defRPr>
            </a:pPr>
            <a:r>
              <a:t>Approach Overview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Times New Roman"/>
              </a:rPr>
              <a:t>Step 1: On each app-switch, capture a context snapshot (app, time, battery, RAM, AI task state)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Times New Roman"/>
              </a:rPr>
              <a:t>Step 2: XGBoost classifier outputs predicted next app with calibrated confidence score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Times New Roman"/>
              </a:rPr>
              <a:t>Step 3: Multi-factor cache priority score computed for each resident app (including ML prediction probability)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Times New Roman"/>
              </a:rPr>
              <a:t>Step 4: Under memory pressure, lowest-scored apps evicted; if confidence high enough, predicted app pre-loaded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Times New Roman"/>
              </a:rPr>
              <a:t>Step 5: Thrashing detector monitors eviction-reload cycles; triggers Safe Mode if unstable</a:t>
            </a:r>
          </a:p>
        </p:txBody>
      </p:sp>
      <p:pic>
        <p:nvPicPr>
          <p:cNvPr id="5" name="Picture 4" descr="pipeline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1639" y="3028336"/>
            <a:ext cx="6484374" cy="361918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  <a:latin typeface="Times New Roman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5. Mathematical Formulation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33333"/>
                </a:solidFill>
                <a:latin typeface="Times New Roman"/>
              </a:defRPr>
            </a:pPr>
            <a:r>
              <a:t>5.1 Cache Priority Score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10698480" cy="73152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>
                <a:solidFill>
                  <a:srgbClr val="000000"/>
                </a:solidFill>
                <a:latin typeface="Courier New"/>
              </a:defRPr>
            </a:pPr>
            <a:r>
              <a:t>S(a, t) = w₁·R + w₂·F + w₃·P + w₄·I + w₅·C − w₆·M</a:t>
            </a:r>
          </a:p>
          <a:p>
            <a:pPr>
              <a:defRPr sz="1300">
                <a:solidFill>
                  <a:srgbClr val="333333"/>
                </a:solidFill>
                <a:latin typeface="Courier New"/>
              </a:defRPr>
            </a:pPr>
            <a:r>
              <a:t>Weights: w₁=0.25, w₂=0.20, w₃=0.25, w₄=0.15, w₅=0.15, w₆=0.30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Times New Roman"/>
              </a:defRPr>
            </a:pPr>
            <a:endParaRPr/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333333"/>
                </a:solidFill>
                <a:latin typeface="Times New Roman"/>
              </a:rPr>
              <a:t>R (Recency): </a:t>
            </a:r>
            <a:r>
              <a:rPr sz="1300">
                <a:solidFill>
                  <a:srgbClr val="333333"/>
                </a:solidFill>
                <a:latin typeface="Times New Roman"/>
              </a:rPr>
              <a:t>exponential decay based on time since last access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333333"/>
                </a:solidFill>
                <a:latin typeface="Times New Roman"/>
              </a:rPr>
              <a:t>F (Frequency): </a:t>
            </a:r>
            <a:r>
              <a:rPr sz="1300">
                <a:solidFill>
                  <a:srgbClr val="333333"/>
                </a:solidFill>
                <a:latin typeface="Times New Roman"/>
              </a:rPr>
              <a:t>normalized access count relative to most-used app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333333"/>
                </a:solidFill>
                <a:latin typeface="Times New Roman"/>
              </a:rPr>
              <a:t>P (Prediction): </a:t>
            </a:r>
            <a:r>
              <a:rPr sz="1300">
                <a:solidFill>
                  <a:srgbClr val="333333"/>
                </a:solidFill>
                <a:latin typeface="Times New Roman"/>
              </a:rPr>
              <a:t>ML model's predicted reuse probability ← KEY INNOVATION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333333"/>
                </a:solidFill>
                <a:latin typeface="Times New Roman"/>
              </a:rPr>
              <a:t>I (Importance): </a:t>
            </a:r>
            <a:r>
              <a:rPr sz="1300">
                <a:solidFill>
                  <a:srgbClr val="333333"/>
                </a:solidFill>
                <a:latin typeface="Times New Roman"/>
              </a:rPr>
              <a:t>static weight by app category (communication: 0.9, gaming: 0.3)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333333"/>
                </a:solidFill>
                <a:latin typeface="Times New Roman"/>
              </a:rPr>
              <a:t>C (Context): </a:t>
            </a:r>
            <a:r>
              <a:rPr sz="1300">
                <a:solidFill>
                  <a:srgbClr val="333333"/>
                </a:solidFill>
                <a:latin typeface="Times New Roman"/>
              </a:rPr>
              <a:t>relevance to current temporal, network, and AI-task context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333333"/>
                </a:solidFill>
                <a:latin typeface="Times New Roman"/>
              </a:rPr>
              <a:t>M (Memory Pressure): </a:t>
            </a:r>
            <a:r>
              <a:rPr sz="1300">
                <a:solidFill>
                  <a:srgbClr val="333333"/>
                </a:solidFill>
                <a:latin typeface="Times New Roman"/>
              </a:rPr>
              <a:t>penalty when RAM utilization exceeds 70%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33333"/>
                </a:solidFill>
                <a:latin typeface="Times New Roman"/>
              </a:defRPr>
            </a:pPr>
            <a:r>
              <a:t>5.2 Preload Decision Gate (all 5 must pass)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Times New Roman"/>
              </a:rPr>
              <a:t>(1) ML confidence &gt; 60%    (2) Sufficient free RAM with headroom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Times New Roman"/>
              </a:rPr>
              <a:t>(3) Battery &gt; 20%    (4) No active thrashing    (5) App not already cached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33333"/>
                </a:solidFill>
                <a:latin typeface="Times New Roman"/>
              </a:defRPr>
            </a:pPr>
            <a:r>
              <a:t>5.3 Thrashing Detection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Times New Roman"/>
              </a:rPr>
              <a:t>Monitors eviction-reload events in 120s sliding window; score &gt; 0.7 → Safe Mode; &lt; 0.3 for 60s → exit Safe Mode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  <a:latin typeface="Times New Roman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6. ML Model Selection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33333"/>
                </a:solidFill>
                <a:latin typeface="Times New Roman"/>
              </a:defRPr>
            </a:pPr>
            <a:r>
              <a:t>Model Comparison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106984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Criterion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Markov Chain (Baseline)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XGBoost (Selected)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LSTM (Rejected)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Inference latency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&lt;1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~2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~15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Context-awareness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Current app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19 features (full context)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19 features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Interpretability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High (transition matrix)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High (SHAP, feature imp.)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Low (black box)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GPU 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Yes (TFLite)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Expected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55–65%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70–80%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72–82%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2976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33333"/>
                </a:solidFill>
                <a:latin typeface="Times New Roman"/>
              </a:defRPr>
            </a:pPr>
            <a:r>
              <a:t>Feature Set (12 raw + 7 derived = 19 total)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Times New Roman"/>
              </a:rPr>
              <a:t>Raw: current_app, prev_app_1/2/3, hour, day_of_week, battery, is_charging, ram_free, network_type, ai_task_active, app_category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Times New Roman"/>
              </a:rPr>
              <a:t>Derived: ram_utilization, is_peak_hour, is_weekend, session_depth, time_since_last_switch, battery_bucket, prev_app_category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Times New Roman"/>
              </a:rPr>
              <a:t>Training: XGBClassifier, n_estimators=200, max_depth=6, 5-fold stratified CV, RandomizedSearchCV (50 iterations)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  <a:latin typeface="Times New Roman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7. System Architecture (HLD)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hld_architec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89106"/>
            <a:ext cx="10881360" cy="568631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  <a:latin typeface="Times New Roman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8. Module Descriptions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6984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Module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Input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Output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Key Classes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1. Context Collection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Captures device state at each app switch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Raw device signals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ContextSnapshot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ContextCollector, SystemMonitor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2. Prediction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Predicts next app with calibrated confidence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ContextSnapshot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PredictionResult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FeatureEngine, XGBoostPredictor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3. Memory Decision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Scores cached apps; eviction/preload/thrashing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PredResult + MemState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MemoryActionPlan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CacheScorer, PreloadGate, ThrashDet.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4. Action Executor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Applies memory actions to device 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MemoryActionPlan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Updated MemoryState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MemoryActionExecutor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5. Simulation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Replays sessions; benchmarks policies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UserSession + Policy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BenchmarkResult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SimulationEngine, MetricsCollector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6.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Real-time visualization of all layers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All module outputs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Interactive web 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Streamlit, Plotly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4572000"/>
          <a:ext cx="106984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From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To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Data Object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Device Event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Module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App foreground transition trigger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Module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Module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ContextSnapshot (12 signals)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Module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Module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PredictionResult (app, confidence, top-K)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Module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Module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MemoryActionPlan (evictions, preloads, mode)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Module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Module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Updated MemoryState (feedback loop)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  <a:latin typeface="Times New Roman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9. Class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lass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11247120" cy="5394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  <a:latin typeface="Times New Roman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10. Comparison with Existing Approaches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698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NoOpt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LRU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Android LMKD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Static Preload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Proposed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Eviction strategy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FIFO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Least recent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oom_adj + PSI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LRU + top-3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ML-weighted scoring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Prediction-aware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Yes (real-time ML)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Context-aware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Yes (12+ signals)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Preload capability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Yes (fixed)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Yes (5-gate)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Thrashing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PSI (reactive)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Yes (proactive)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Cache hit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~40%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~55%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~58%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~62%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&gt;75%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Avg latency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~1200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~900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~850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~750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&lt;400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2862" y="4163961"/>
            <a:ext cx="10698480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33333"/>
                </a:solidFill>
                <a:latin typeface="Times New Roman"/>
              </a:defRPr>
            </a:pPr>
            <a:r>
              <a:rPr dirty="0"/>
              <a:t>Novelty Contributions</a:t>
            </a: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333333"/>
                </a:solidFill>
                <a:latin typeface="Times New Roman"/>
              </a:rPr>
              <a:t>Prediction-Integrated Cache Scoring: </a:t>
            </a:r>
            <a:r>
              <a:rPr sz="1500" dirty="0">
                <a:solidFill>
                  <a:srgbClr val="333333"/>
                </a:solidFill>
                <a:latin typeface="Times New Roman"/>
              </a:rPr>
              <a:t>ML confidence as weighted factor in eviction formula</a:t>
            </a: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333333"/>
                </a:solidFill>
                <a:latin typeface="Times New Roman"/>
              </a:rPr>
              <a:t>Multi-Condition Preload Gating: </a:t>
            </a:r>
            <a:r>
              <a:rPr sz="1500" dirty="0">
                <a:solidFill>
                  <a:srgbClr val="333333"/>
                </a:solidFill>
                <a:latin typeface="Times New Roman"/>
              </a:rPr>
              <a:t>5 simultaneous conditions prevent wasteful preloading</a:t>
            </a: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333333"/>
                </a:solidFill>
                <a:latin typeface="Times New Roman"/>
              </a:rPr>
              <a:t>Automatic Thrashing Degradation: </a:t>
            </a:r>
            <a:r>
              <a:rPr sz="1500" dirty="0">
                <a:solidFill>
                  <a:srgbClr val="333333"/>
                </a:solidFill>
                <a:latin typeface="Times New Roman"/>
              </a:rPr>
              <a:t>self-monitoring with Safe Mode to prevent feedback loops</a:t>
            </a: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333333"/>
                </a:solidFill>
                <a:latin typeface="Times New Roman"/>
              </a:rPr>
              <a:t>AI-Workload Awareness: </a:t>
            </a:r>
            <a:r>
              <a:rPr sz="1500" dirty="0">
                <a:solidFill>
                  <a:srgbClr val="333333"/>
                </a:solidFill>
                <a:latin typeface="Times New Roman"/>
              </a:rPr>
              <a:t>higher eviction resistance for expensive AI model caches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  <a:latin typeface="Times New Roman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11. Evaluation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4347016"/>
              </p:ext>
            </p:extLst>
          </p:nvPr>
        </p:nvGraphicFramePr>
        <p:xfrm>
          <a:off x="731520" y="1371600"/>
          <a:ext cx="10698480" cy="22102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9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575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Configuration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75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dirty="0"/>
                        <a:t>Synthetic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50,000 app-switch events across 5 user personas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75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Policies compared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NoOpt, LRU, StaticPreload, Proposed (4 policies)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75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RAM configurations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4 GB, 6 GB, 8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75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Benchmark runs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4 × 5 × 3 × 30 = 1,800 simulations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75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Ablation experiments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6 × 5 × 3 × 30 = 2,700 simulations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575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Statistical 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dirty="0"/>
                        <a:t>Paired t-test, p &lt; 0.05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3352891"/>
              </p:ext>
            </p:extLst>
          </p:nvPr>
        </p:nvGraphicFramePr>
        <p:xfrm>
          <a:off x="731520" y="3824748"/>
          <a:ext cx="10698480" cy="22102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838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KPI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38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Cache Hit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% app launches from cache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&gt;75%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38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Avg Launch Latency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Mean start time (ms)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&lt;400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38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dirty="0"/>
                        <a:t>Thrashing Events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Evict-reload cycles / session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&lt;3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38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Preload Success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% preloads actually used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&gt;60%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38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Prediction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Top-1 correct prediction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dirty="0"/>
                        <a:t>&gt;70%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  <a:latin typeface="Times New Roman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12. Implementation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6984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Week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Deliverables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Foundation +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Project setup, app profiles, 50K synthetic events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ML Models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FeatureEngine, Markov + XGBoost training &amp; evaluation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Memory Simulator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MemoryState, 3 baselines + proposed policy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Benchmarking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1,800 benchmarks + 2,700 ablation runs + statistics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Visualization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Publication figures, Streamlit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6–7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Patent Filing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Patent specification, prior art search, IPO filing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8–9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IEEE Paper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6-page LaTeX paper, capstone report, submission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5171762"/>
              </p:ext>
            </p:extLst>
          </p:nvPr>
        </p:nvGraphicFramePr>
        <p:xfrm>
          <a:off x="731520" y="4109064"/>
          <a:ext cx="10698480" cy="24028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3263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Why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26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Language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Python 3.10+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Best for ML/data science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26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ML Framework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XGBoost, scikit-learn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Fast, no GPU, interpretable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26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pandas, numpy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Standard data processing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26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Visualization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matplotlib, seaborn, plotly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Publication-quality figures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326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Streamlit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Rapid interactive web apps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326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SQLite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dirty="0"/>
                        <a:t>Lightweight, no setup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  <a:latin typeface="Times New Roman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13. 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406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[1] C. Shin et al., "Prediction of Mobile Application Usage Using Contextual Information," ACM </a:t>
            </a:r>
            <a:r>
              <a:rPr sz="1400" dirty="0" err="1"/>
              <a:t>UbiComp</a:t>
            </a:r>
            <a:r>
              <a:rPr sz="1400" dirty="0"/>
              <a:t>, 2012.</a:t>
            </a:r>
          </a:p>
          <a:p>
            <a:pPr>
              <a:spcAft>
                <a:spcPts val="200"/>
              </a:spcAft>
              <a:defRPr sz="10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[2] T. Xu et al., "Predicting Mobile App Usage with Heterogeneous Graph Attention Networks," IEEE TMC, 2024.</a:t>
            </a:r>
          </a:p>
          <a:p>
            <a:pPr>
              <a:spcAft>
                <a:spcPts val="200"/>
              </a:spcAft>
              <a:defRPr sz="10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[3] Z. Huang et al., "AppUsage2Vec: Modeling Smartphone App Usage for Prediction," IEEE ICDE, 2019.</a:t>
            </a:r>
          </a:p>
          <a:p>
            <a:pPr>
              <a:spcAft>
                <a:spcPts val="200"/>
              </a:spcAft>
              <a:defRPr sz="10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[4] S. Zhao et al., "</a:t>
            </a:r>
            <a:r>
              <a:rPr sz="1400" dirty="0" err="1"/>
              <a:t>ContextSense</a:t>
            </a:r>
            <a:r>
              <a:rPr sz="1400" dirty="0"/>
              <a:t>: Context-Aware Mobile App Prediction via Deep Sequential Learning," ACM </a:t>
            </a:r>
            <a:r>
              <a:rPr sz="1400" dirty="0" err="1"/>
              <a:t>UbiComp</a:t>
            </a:r>
            <a:r>
              <a:rPr sz="1400" dirty="0"/>
              <a:t>, 2023.</a:t>
            </a:r>
          </a:p>
          <a:p>
            <a:pPr>
              <a:spcAft>
                <a:spcPts val="200"/>
              </a:spcAft>
              <a:defRPr sz="10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[5] H. Pan et al., "</a:t>
            </a:r>
            <a:r>
              <a:rPr sz="1400" dirty="0" err="1"/>
              <a:t>DeepApp</a:t>
            </a:r>
            <a:r>
              <a:rPr sz="1400" dirty="0"/>
              <a:t>: Predicting Personalized Smartphone App Usage," ACM TIST, 2023.</a:t>
            </a:r>
          </a:p>
          <a:p>
            <a:pPr>
              <a:spcAft>
                <a:spcPts val="200"/>
              </a:spcAft>
              <a:defRPr sz="10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[6] Google AOSP, "Low Memory Killer Daemon (LMKD)," AOSP Documentation, 2024.</a:t>
            </a:r>
          </a:p>
          <a:p>
            <a:pPr>
              <a:spcAft>
                <a:spcPts val="200"/>
              </a:spcAft>
              <a:defRPr sz="10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[7] S. Lee et al., "SWAM: Revisiting Swap and OOM Killer for Mobile Devices," Samsung Research, </a:t>
            </a:r>
            <a:r>
              <a:rPr sz="1400" dirty="0" err="1"/>
              <a:t>MobiSys</a:t>
            </a:r>
            <a:r>
              <a:rPr sz="1400" dirty="0"/>
              <a:t>, 2023.</a:t>
            </a:r>
          </a:p>
          <a:p>
            <a:pPr>
              <a:spcAft>
                <a:spcPts val="200"/>
              </a:spcAft>
              <a:defRPr sz="10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[8] Y. Chen et al., "Memory-Efficient Mobile Application Management via Predictive Caching," IEEE Access, 2024.</a:t>
            </a:r>
          </a:p>
          <a:p>
            <a:pPr>
              <a:spcAft>
                <a:spcPts val="200"/>
              </a:spcAft>
              <a:defRPr sz="10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[9] Android Developers, "App Hibernation and Standby Buckets," Android Documentation, 2024.</a:t>
            </a:r>
          </a:p>
          <a:p>
            <a:pPr>
              <a:spcAft>
                <a:spcPts val="200"/>
              </a:spcAft>
              <a:defRPr sz="10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[10] J. Park et al., "Learning-Based Memory Management for Mobile Devices," IEEE/ACM MICRO, 2023.</a:t>
            </a:r>
          </a:p>
          <a:p>
            <a:pPr>
              <a:spcAft>
                <a:spcPts val="200"/>
              </a:spcAft>
              <a:defRPr sz="10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[11] T. Chen and C. </a:t>
            </a:r>
            <a:r>
              <a:rPr sz="1400" dirty="0" err="1"/>
              <a:t>Guestrin</a:t>
            </a:r>
            <a:r>
              <a:rPr sz="1400" dirty="0"/>
              <a:t>, "</a:t>
            </a:r>
            <a:r>
              <a:rPr sz="1400" dirty="0" err="1"/>
              <a:t>XGBoost</a:t>
            </a:r>
            <a:r>
              <a:rPr sz="1400" dirty="0"/>
              <a:t>: A Scalable Tree Boosting System," ACM SIGKDD, 2016.</a:t>
            </a:r>
          </a:p>
          <a:p>
            <a:pPr>
              <a:spcAft>
                <a:spcPts val="200"/>
              </a:spcAft>
              <a:defRPr sz="10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[12] E. Ipek et al., "Self-Optimizing Memory Controllers: A RL Approach," IEEE/ACM ISCA, 2008.</a:t>
            </a:r>
          </a:p>
          <a:p>
            <a:pPr>
              <a:spcAft>
                <a:spcPts val="200"/>
              </a:spcAft>
              <a:defRPr sz="10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[13] Z. Shi et al., "Applying Deep Learning to Data Prefetching," IEEE/ACM MICRO, 2023.</a:t>
            </a:r>
          </a:p>
          <a:p>
            <a:pPr>
              <a:spcAft>
                <a:spcPts val="200"/>
              </a:spcAft>
              <a:defRPr sz="10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[14] M. Hashemi et al., "Learning Memory Access Patterns," ICML, 2018.</a:t>
            </a:r>
          </a:p>
          <a:p>
            <a:pPr>
              <a:spcAft>
                <a:spcPts val="200"/>
              </a:spcAft>
              <a:defRPr sz="10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[15] J. Lin et al., "</a:t>
            </a:r>
            <a:r>
              <a:rPr sz="1400" dirty="0" err="1"/>
              <a:t>MCUNet</a:t>
            </a:r>
            <a:r>
              <a:rPr sz="1400" dirty="0"/>
              <a:t>: Tiny Deep Learning on IoT Devices," </a:t>
            </a:r>
            <a:r>
              <a:rPr sz="1400" dirty="0" err="1"/>
              <a:t>NeurIPS</a:t>
            </a:r>
            <a:r>
              <a:rPr sz="1400" dirty="0"/>
              <a:t>, 2020.</a:t>
            </a:r>
          </a:p>
          <a:p>
            <a:pPr>
              <a:spcAft>
                <a:spcPts val="200"/>
              </a:spcAft>
              <a:defRPr sz="10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[16] S. </a:t>
            </a:r>
            <a:r>
              <a:rPr sz="1400" dirty="0" err="1"/>
              <a:t>Laskaridis</a:t>
            </a:r>
            <a:r>
              <a:rPr sz="1400" dirty="0"/>
              <a:t> et al., "Adaptive Inference through Early-Exit Networks," ACM </a:t>
            </a:r>
            <a:r>
              <a:rPr sz="1400" dirty="0" err="1"/>
              <a:t>MobiSys</a:t>
            </a:r>
            <a:r>
              <a:rPr sz="1400" dirty="0"/>
              <a:t>, 2024.</a:t>
            </a:r>
          </a:p>
          <a:p>
            <a:pPr>
              <a:spcAft>
                <a:spcPts val="200"/>
              </a:spcAft>
              <a:defRPr sz="10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[17] Q. He et al., "On-Device LLM Inference: Memory Optimization Strategies," IEEE Edge Computing, 2025.</a:t>
            </a:r>
          </a:p>
          <a:p>
            <a:pPr>
              <a:spcAft>
                <a:spcPts val="200"/>
              </a:spcAft>
              <a:defRPr sz="10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[18] A. Dhakal et al., "</a:t>
            </a:r>
            <a:r>
              <a:rPr sz="1400" dirty="0" err="1"/>
              <a:t>mLLM</a:t>
            </a:r>
            <a:r>
              <a:rPr sz="1400" dirty="0"/>
              <a:t>: Multi-dimensional Optimization for On-Device LLM Serving," USENIX OSDI, 2025.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62179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  <a:latin typeface="Times New Roman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2270</Words>
  <Application>Microsoft Office PowerPoint</Application>
  <PresentationFormat>Widescreen</PresentationFormat>
  <Paragraphs>459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Atharv Sinha</cp:lastModifiedBy>
  <cp:revision>3</cp:revision>
  <dcterms:created xsi:type="dcterms:W3CDTF">2013-01-27T09:14:16Z</dcterms:created>
  <dcterms:modified xsi:type="dcterms:W3CDTF">2026-08-18T17:51:44Z</dcterms:modified>
  <cp:category/>
</cp:coreProperties>
</file>